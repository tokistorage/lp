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71900"/>
            <a:ext cx="9144000" cy="13716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okistorage-icon-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365760"/>
            <a:ext cx="914400" cy="91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64008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9A962"/>
                </a:solidFill>
                <a:latin typeface="IPAPGothic"/>
              </a:rPr>
              <a:t>Timeless Consulting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IPAPGothic"/>
              </a:rPr>
              <a:t>100年後に、
何を残しますか。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6400800" cy="8229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BBBBCC"/>
                </a:solidFill>
                <a:latin typeface="IPAPGothic"/>
              </a:rPr>
              <a:t>AIがあらゆる問いに答える時代。
しかしこの問いだけは、あなた自身にしか答えられない。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549140"/>
            <a:ext cx="9144000" cy="27432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640580"/>
            <a:ext cx="2743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TokiStorage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TokiStorage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4640580"/>
            <a:ext cx="1371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AIは「最適解」を出す。しかし「何を残すか」は決められない。意味の選択は、あなたにしかできない。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WHY THIS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IPAP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AIは答えを出す。しかし「問い」は立てられない。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PAPGothic"/>
              </a:rPr>
              <a:t>生成AIは調査・分析・戦略を瞬時に出力します。しかし「100年後に何を残すか」——この問いへの答えは、あなたの人生の文脈からしか生まれません。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3552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IPAP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富の継承は解決済み。意味の継承は手つかず。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0712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PAPGothic"/>
              </a:rPr>
              <a:t>相続設計、事業承継、資産運用——「何を渡すか」の仕組みは整っています。しかし「なぜそれを残すのか」という物語は、制度では設計できません。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9904" y="1051560"/>
            <a:ext cx="260604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143000"/>
            <a:ext cx="54864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563EB"/>
                </a:solidFill>
                <a:latin typeface="IPAP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7064" y="1463040"/>
            <a:ext cx="2331720" cy="685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存在証明は、未来への贈り物である。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27064" y="2240280"/>
            <a:ext cx="2331720" cy="21031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475569"/>
                </a:solidFill>
                <a:latin typeface="IPAPGothic"/>
              </a:rPr>
              <a:t>あなたが残すものは、未来の誰かへの贈り物になります。家族に、地域に、まだ生まれていない世代に。「自分が確かに存在した」という証が、未来の誰かの支えになる。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あなたが買うのは「プロダクト」ではない。千年の視座を持つ人間との対話である。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OUR 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7863840" cy="6858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4864" cy="685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051560"/>
            <a:ext cx="75438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千年の視座を持つ人間との対話から、
あなたの存在証明を設計します。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83080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856232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30552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千年の問いとの対話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96312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「100年後に何を残すか」——心理学・宗教・経済・AI・宇宙まで9領域の思想フレームワークで向き合います。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7991" y="1783080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1856232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1" y="2130552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存在証明のデザイン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1" y="2496312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あなたの物語・価値観・メッセージを構造化し、千年先まで届く「存在証明」として設計します。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72968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246120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520440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石英ガラスへの刻印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886200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サーバー・電源・制度に依存しない、1000年耐久（理論値）の記録媒体。スマホカメラだけで読み取り可能。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07991" y="3172968"/>
            <a:ext cx="3822191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45151" y="3246120"/>
            <a:ext cx="5486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IPAPGothic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5151" y="3520440"/>
            <a:ext cx="3547871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継続的なキュレーション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45151" y="3886200"/>
            <a:ext cx="3547871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人生は一度で語りきれません。節目ごとに存在証明をアップデートし、千年アーカイブを育てます。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対話から始まり、千年に届く。4つのステップであなたの存在証明が形になる。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21792" y="12344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124712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初回対話（90分）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38074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「100年後に何を残したいか」を軸に、あなたの人生の物語を聴かせていただきます。この対話自体が、深い内省の機会になります。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84248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1792" y="216712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167128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057400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存在証明の設計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313432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対話をもとに、何を・誰に・どんな形で残すかを設計します。テキスト、写真、音声、映像——最適なメディアを提案。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16936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1792" y="30998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099816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2990088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コンテンツの制作・キュレーション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246120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設計に基づいて存在証明を制作。必要に応じてプロフェッショナルな撮影・収録・編集をコーディネート。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9624"/>
            <a:ext cx="7863840" cy="8778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21792" y="403250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032504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3922776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E293B"/>
                </a:solidFill>
                <a:latin typeface="IPAPGothic"/>
              </a:rPr>
              <a:t>石英ガラスへの刻印・納品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4178808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完成した存在証明を石英ガラスに刻印し、QRコードとともにお届け。1000年先の誰かがあなたの物語に出会えます。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「残す」ことに意味を感じるすべての方へ——6つの領域で特に高い親和性がある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WHO THIS IS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68196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68196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経営者・創業者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会社を超えて残る、あなた自身の理念と物語を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3552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84548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4548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6704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家族の記録を残す方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6704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家族の歴史、想い出、伝えたい言葉を千年先へ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9904" y="114300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00900" y="125272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0900" y="125272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63056" y="169164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宗教者・文化人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201168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教え、作品、精神的遺産を制度に依存せず永続化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568196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68196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アーティスト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作品と創作の意図を、プラットフォームを超えて残す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3552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384548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4548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46704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地域・コミュニティ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46704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まちの記憶、お祭り、方言、災害の教訓を未来に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9904" y="2697480"/>
            <a:ext cx="26060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200900" y="2807208"/>
            <a:ext cx="384048" cy="384048"/>
          </a:xfrm>
          <a:prstGeom prst="ellipse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00900" y="280720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563EB"/>
                </a:solidFill>
                <a:latin typeface="IPAPGothic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63056" y="3246120"/>
            <a:ext cx="245973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教育者・研究者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63056" y="3566160"/>
            <a:ext cx="2459736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知の系譜、発見の文脈、師弟の物語を永続的に記録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対話から生まれる、3つの具体的な成果物。千年先まで届く「かたち」をお届けします。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DELIVERABLES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207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三層分散保管による存在証明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17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物理層（石英ガラス/ラミネート）・国家層（国立国会図書館 法定納本）・民間層（GitHub）。3-2-1ルールに完全準拠。単一障害点ゼロ。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377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350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デジタルコンパニオン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660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QRコードを読み取ると表示されるデジタルページ。テキスト、写真、音声、映像を含む、存在証明のリッチな体験版。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83280"/>
            <a:ext cx="78638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520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493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思想フレームワークレポート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803904"/>
            <a:ext cx="6949440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あなたの存在証明を、70以上の思想エッセイの文脈に位置づけたレポート。「なぜ残すのか」の知的な裏付け。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体験プラン5,000円から——あなたに合ったかたちで始められます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INVESTMENT GUIDE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78638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207008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体験プラン — ¥5,000（税込）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17904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三層保管をA4ラミネートで体験。声のQRコード→ラミネート＋NDL納本＋GitHub格納。まずはここから。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93392"/>
            <a:ext cx="78638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2130552"/>
            <a:ext cx="457200" cy="457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130552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Q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103120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個人プラン — ¥50,000（税込）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414016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石英ガラスに刻印。年あたり50円の存在証明。1000年耐久（理論値）。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89504"/>
            <a:ext cx="78638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94360" y="3026664"/>
            <a:ext cx="457200" cy="457200"/>
          </a:xfrm>
          <a:prstGeom prst="rect">
            <a:avLst/>
          </a:prstGeom>
          <a:solidFill>
            <a:srgbClr val="FDF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026664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999232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三世代プラン — ¥550,000（税込・推奨）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310128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家族3名分＋佐渡島での現地刻印体験。お墓・仏壇の代替として。最も選ばれるプラン。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85616"/>
            <a:ext cx="7863840" cy="80467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4360" y="3922776"/>
            <a:ext cx="457200" cy="457200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922776"/>
            <a:ext cx="4572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563EB"/>
                </a:solidFill>
                <a:latin typeface="IPAPGothic"/>
              </a:rPr>
              <a:t>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3895344"/>
            <a:ext cx="694944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E293B"/>
                </a:solidFill>
                <a:latin typeface="IPAPGothic"/>
              </a:rPr>
              <a:t>ボイスメモリアル — ¥5,550,000（税込）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206240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完全オーダーメイド。音声復元・専用デザイン・プレミアム体験のすべてを含む。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8229600" cy="594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千年の視座であなたの物語に向き合う——対話のパートナーについて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2743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563EB"/>
                </a:solidFill>
                <a:latin typeface="IPAPGothic"/>
              </a:rPr>
              <a:t>YOUR PARTNER</a:t>
            </a:r>
          </a:p>
        </p:txBody>
      </p:sp>
      <p:pic>
        <p:nvPicPr>
          <p:cNvPr id="5" name="Picture 4" descr="_client_deck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24128"/>
            <a:ext cx="914400" cy="914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08760" y="1078992"/>
            <a:ext cx="667512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293B"/>
                </a:solidFill>
                <a:latin typeface="IPAPGothic"/>
              </a:rPr>
              <a:t>佐藤卓也 — TokiStorage 代表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444752"/>
            <a:ext cx="6675120" cy="10972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75569"/>
                </a:solidFill>
                <a:latin typeface="IPAPGothic"/>
              </a:rPr>
              <a:t>大手コンサルティングファームでの経験を経て、半導体製造装置のエンジニアリング20年超。タイムレスタウン新浦安（250世帯）の自治会長として「ゆりかごから墓場まで」のコミュニティ運営を経験。SoulCarrier活動で「記憶が消える恐怖」を目の当たりにし、TokiStorageを着想。マウイ・山中湖でのオフグリッド実証を経て、制度に依存しない千年設計の技術を完成。70以上の思想エッセイを執筆し、9つの知的領域から存在証明の意味を探究し続けてい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587752"/>
            <a:ext cx="102870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587752"/>
            <a:ext cx="84582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元Big4ファーム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95628" y="2587752"/>
            <a:ext cx="150876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87068" y="2587752"/>
            <a:ext cx="132588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半導体エンジニアリング 20年+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4116" y="2587752"/>
            <a:ext cx="116586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05556" y="2587752"/>
            <a:ext cx="98298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自治会長（250世帯）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9704" y="2587752"/>
            <a:ext cx="130302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2587752"/>
            <a:ext cx="112014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SoulCarrier主宰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02452" y="2587752"/>
            <a:ext cx="116586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93892" y="2587752"/>
            <a:ext cx="98298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70+思想エッセイ執筆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78040" y="2587752"/>
            <a:ext cx="109728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2587752"/>
            <a:ext cx="91440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オフグリッド実証済み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063240"/>
            <a:ext cx="137160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063240"/>
            <a:ext cx="118872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佐渡島移住予定（2026春）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38528" y="3063240"/>
            <a:ext cx="1577339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29968" y="3063240"/>
            <a:ext cx="1394459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伊勢神宮 式年遷宮奉納（2026）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25595" y="3063240"/>
            <a:ext cx="1783080" cy="402336"/>
          </a:xfrm>
          <a:prstGeom prst="rect">
            <a:avLst/>
          </a:prstGeom>
          <a:solidFill>
            <a:srgbClr val="F1F5F9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7035" y="3063240"/>
            <a:ext cx="1600200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75569"/>
                </a:solidFill>
                <a:latin typeface="IPAPGothic"/>
              </a:rPr>
              <a:t>比叡山延暦寺 不滅の法灯奉納（2026）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75304"/>
            <a:ext cx="7863840" cy="77724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575304"/>
            <a:ext cx="54864" cy="777240"/>
          </a:xfrm>
          <a:prstGeom prst="rect">
            <a:avLst/>
          </a:prstGeom>
          <a:solidFill>
            <a:srgbClr val="C9A9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648456"/>
            <a:ext cx="7543800" cy="63093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E293B"/>
                </a:solidFill>
                <a:latin typeface="IPAPGothic"/>
              </a:rPr>
              <a:t>愛犬パールのお墓とともに、家族でパールハーバーを訪れました。平和を願う声を音声QRとして刻んだプレートを持って。そこで気がつきました——時を超えた願いは、愛や平和への想いに変容する。一人でも多くの方と分かち合いたい。TokiStorageをきっかけに、時を超えた変容をご一緒できれば幸いです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Timeless Consulting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36576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IPAPGothic"/>
              </a:rPr>
              <a:t>Next Step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7315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PAPGothic"/>
              </a:rPr>
              <a:t>まずは、お話しましょう。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572768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72768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517904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初回対話（90分・無料）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810512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「100年後に何を残したいか」を一緒に考える、最初の90分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228600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23113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存在証明の設計ご提案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523744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対話をもとに、あなただけのプランをお作りします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999232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999232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94436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制作・刻印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236976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存在証明を制作し、石英ガラスに永久に刻みます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3712464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12464"/>
            <a:ext cx="384048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PAP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657600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PAPGothic"/>
              </a:rPr>
              <a:t>納品・キュレーション開始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950208"/>
            <a:ext cx="6400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BBBCC"/>
                </a:solidFill>
                <a:latin typeface="IPAPGothic"/>
              </a:rPr>
              <a:t>お届けし、継続的なアップデートをサポートします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2910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IPAPGothic"/>
              </a:rPr>
              <a:t>TokiStorage　佐藤卓也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4613148"/>
            <a:ext cx="9144000" cy="6350"/>
          </a:xfrm>
          <a:prstGeom prst="rect">
            <a:avLst/>
          </a:prstGeom>
          <a:solidFill>
            <a:srgbClr val="334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40580"/>
            <a:ext cx="36576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TokiStorage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640580"/>
            <a:ext cx="1828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640580"/>
            <a:ext cx="4572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7315200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94A3B8"/>
                </a:solidFill>
                <a:latin typeface="IPAPGothic"/>
              </a:rPr>
              <a:t>Confidential / Disclaimer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371600"/>
            <a:ext cx="73152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7315200" cy="2560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75569"/>
                </a:solidFill>
                <a:latin typeface="IPAPGothic"/>
              </a:rPr>
              <a:t>本資料は、TokiStorage（佐藤卓也）がサービスご検討のために作成した資料です。
本資料に含まれる情報は、現時点における見解および計画に基づくものであり、その正確性、完全性、または将来の結果を保証するものではありません。
本資料は情報提供を目的としており、法的助言、投資助言、その他いかなる専門的助言を構成するものでもありません。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46220"/>
            <a:ext cx="7315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4A3B8"/>
                </a:solidFill>
                <a:latin typeface="IPAPGothic"/>
              </a:rPr>
              <a:t>© 2026 TokiStorage / 佐藤卓也. All rights reserved.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4796028"/>
            <a:ext cx="914400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4821428"/>
            <a:ext cx="36576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TokiStorage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821428"/>
            <a:ext cx="18288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4A3B8"/>
                </a:solidFill>
                <a:latin typeface="IPAPGothic"/>
              </a:rPr>
              <a:t>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21428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4A3B8"/>
                </a:solidFill>
                <a:latin typeface="IPAPGothic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