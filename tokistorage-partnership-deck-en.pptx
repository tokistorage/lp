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okistorage-icon-white-bg.png"/>
          <p:cNvPicPr>
            <a:picLocks noChangeAspect="1"/>
          </p:cNvPicPr>
          <p:nvPr/>
        </p:nvPicPr>
        <p:blipFill>
          <a:blip r:embed="rId2"/>
          <a:stretch>
            <a:fillRect/>
          </a:stretch>
        </p:blipFill>
        <p:spPr>
          <a:xfrm>
            <a:off x="7680960" y="365760"/>
            <a:ext cx="914400" cy="914400"/>
          </a:xfrm>
          <a:prstGeom prst="rect">
            <a:avLst/>
          </a:prstGeom>
        </p:spPr>
      </p:pic>
      <p:sp>
        <p:nvSpPr>
          <p:cNvPr id="4" name="TextBox 3"/>
          <p:cNvSpPr txBox="1"/>
          <p:nvPr/>
        </p:nvSpPr>
        <p:spPr>
          <a:xfrm>
            <a:off x="914400" y="640080"/>
            <a:ext cx="4572000" cy="320040"/>
          </a:xfrm>
          <a:prstGeom prst="rect">
            <a:avLst/>
          </a:prstGeom>
          <a:noFill/>
        </p:spPr>
        <p:txBody>
          <a:bodyPr wrap="square"/>
          <a:lstStyle/>
          <a:p>
            <a:pPr algn="l">
              <a:lnSpc>
                <a:spcPct val="135000"/>
              </a:lnSpc>
              <a:spcBef>
                <a:spcPts val="0"/>
              </a:spcBef>
              <a:spcAft>
                <a:spcPts val="0"/>
              </a:spcAft>
            </a:pPr>
            <a:r>
              <a:rPr sz="1000" b="0">
                <a:solidFill>
                  <a:srgbClr val="94A3B8"/>
                </a:solidFill>
                <a:latin typeface="Calibri"/>
              </a:rPr>
              <a:t>Partnership Proposal — Confidential</a:t>
            </a:r>
          </a:p>
        </p:txBody>
      </p:sp>
      <p:sp>
        <p:nvSpPr>
          <p:cNvPr id="5" name="TextBox 4"/>
          <p:cNvSpPr txBox="1"/>
          <p:nvPr/>
        </p:nvSpPr>
        <p:spPr>
          <a:xfrm>
            <a:off x="914400" y="1188720"/>
            <a:ext cx="7315200" cy="1371600"/>
          </a:xfrm>
          <a:prstGeom prst="rect">
            <a:avLst/>
          </a:prstGeom>
          <a:noFill/>
        </p:spPr>
        <p:txBody>
          <a:bodyPr wrap="square"/>
          <a:lstStyle/>
          <a:p>
            <a:pPr algn="l">
              <a:lnSpc>
                <a:spcPct val="135000"/>
              </a:lnSpc>
              <a:spcBef>
                <a:spcPts val="0"/>
              </a:spcBef>
              <a:spcAft>
                <a:spcPts val="0"/>
              </a:spcAft>
            </a:pPr>
            <a:r>
              <a:rPr sz="3000" b="1">
                <a:solidFill>
                  <a:srgbClr val="FFFFFF"/>
                </a:solidFill>
                <a:latin typeface="Calibri"/>
              </a:rPr>
              <a:t>Bring your clients
1,000-year proof of existence.</a:t>
            </a:r>
          </a:p>
        </p:txBody>
      </p:sp>
      <p:sp>
        <p:nvSpPr>
          <p:cNvPr id="6" name="TextBox 5"/>
          <p:cNvSpPr txBox="1"/>
          <p:nvPr/>
        </p:nvSpPr>
        <p:spPr>
          <a:xfrm>
            <a:off x="914400" y="2743200"/>
            <a:ext cx="6400800" cy="822960"/>
          </a:xfrm>
          <a:prstGeom prst="rect">
            <a:avLst/>
          </a:prstGeom>
          <a:noFill/>
        </p:spPr>
        <p:txBody>
          <a:bodyPr wrap="square"/>
          <a:lstStyle/>
          <a:p>
            <a:pPr algn="l">
              <a:lnSpc>
                <a:spcPct val="135000"/>
              </a:lnSpc>
              <a:spcBef>
                <a:spcPts val="0"/>
              </a:spcBef>
              <a:spcAft>
                <a:spcPts val="0"/>
              </a:spcAft>
            </a:pPr>
            <a:r>
              <a:rPr sz="1400" b="0">
                <a:solidFill>
                  <a:srgbClr val="BBBBCC"/>
                </a:solidFill>
                <a:latin typeface="Calibri"/>
              </a:rPr>
              <a:t>The technology is ready. Over 200 use cases mapped.
What's missing is the delivery network.</a:t>
            </a:r>
          </a:p>
        </p:txBody>
      </p:sp>
      <p:sp>
        <p:nvSpPr>
          <p:cNvPr id="7" name="Rectangle 6"/>
          <p:cNvSpPr/>
          <p:nvPr/>
        </p:nvSpPr>
        <p:spPr>
          <a:xfrm>
            <a:off x="0" y="4549140"/>
            <a:ext cx="9144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640580"/>
            <a:ext cx="27432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a:t>
            </a:r>
          </a:p>
        </p:txBody>
      </p:sp>
      <p:sp>
        <p:nvSpPr>
          <p:cNvPr id="9" name="TextBox 8"/>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TokiStorage</a:t>
            </a:r>
          </a:p>
        </p:txBody>
      </p:sp>
      <p:sp>
        <p:nvSpPr>
          <p:cNvPr id="10" name="TextBox 9"/>
          <p:cNvSpPr txBox="1"/>
          <p:nvPr/>
        </p:nvSpPr>
        <p:spPr>
          <a:xfrm>
            <a:off x="7315200" y="4640580"/>
            <a:ext cx="1371600" cy="320040"/>
          </a:xfrm>
          <a:prstGeom prst="rect">
            <a:avLst/>
          </a:prstGeom>
          <a:noFill/>
        </p:spPr>
        <p:txBody>
          <a:bodyPr wrap="square"/>
          <a:lstStyle/>
          <a:p>
            <a:pPr algn="r">
              <a:lnSpc>
                <a:spcPct val="135000"/>
              </a:lnSpc>
              <a:spcBef>
                <a:spcPts val="0"/>
              </a:spcBef>
              <a:spcAft>
                <a:spcPts val="0"/>
              </a:spcAft>
            </a:pPr>
            <a:r>
              <a:rPr sz="900" b="0">
                <a:solidFill>
                  <a:srgbClr val="94A3B8"/>
                </a:solidFill>
                <a:latin typeface="Calibri"/>
              </a:rPr>
              <a:t>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The rise of AI and Big Tech demands consulting firms find questions that resist commoditization</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BACKGROUND</a:t>
            </a:r>
          </a:p>
        </p:txBody>
      </p:sp>
      <p:sp>
        <p:nvSpPr>
          <p:cNvPr id="5" name="Rectangle 4"/>
          <p:cNvSpPr/>
          <p:nvPr/>
        </p:nvSpPr>
        <p:spPr>
          <a:xfrm>
            <a:off x="457200"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01</a:t>
            </a:r>
          </a:p>
        </p:txBody>
      </p:sp>
      <p:sp>
        <p:nvSpPr>
          <p:cNvPr id="7" name="TextBox 6"/>
          <p:cNvSpPr txBox="1"/>
          <p:nvPr/>
        </p:nvSpPr>
        <p:spPr>
          <a:xfrm>
            <a:off x="594360"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AI is transforming consulting</a:t>
            </a:r>
          </a:p>
        </p:txBody>
      </p:sp>
      <p:sp>
        <p:nvSpPr>
          <p:cNvPr id="8" name="TextBox 7"/>
          <p:cNvSpPr txBox="1"/>
          <p:nvPr/>
        </p:nvSpPr>
        <p:spPr>
          <a:xfrm>
            <a:off x="594360"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Calibri"/>
              </a:rPr>
              <a:t>Generative AI is rapidly commoditizing research, analysis, and strategy frameworks. Value models built on information asymmetry face structural disruption.</a:t>
            </a:r>
          </a:p>
        </p:txBody>
      </p:sp>
      <p:sp>
        <p:nvSpPr>
          <p:cNvPr id="9" name="Rectangle 8"/>
          <p:cNvSpPr/>
          <p:nvPr/>
        </p:nvSpPr>
        <p:spPr>
          <a:xfrm>
            <a:off x="3273552"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10712"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02</a:t>
            </a:r>
          </a:p>
        </p:txBody>
      </p:sp>
      <p:sp>
        <p:nvSpPr>
          <p:cNvPr id="11" name="TextBox 10"/>
          <p:cNvSpPr txBox="1"/>
          <p:nvPr/>
        </p:nvSpPr>
        <p:spPr>
          <a:xfrm>
            <a:off x="3410712"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Differentiation is shrinking</a:t>
            </a:r>
          </a:p>
        </p:txBody>
      </p:sp>
      <p:sp>
        <p:nvSpPr>
          <p:cNvPr id="12" name="TextBox 11"/>
          <p:cNvSpPr txBox="1"/>
          <p:nvPr/>
        </p:nvSpPr>
        <p:spPr>
          <a:xfrm>
            <a:off x="3410712"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Calibri"/>
              </a:rPr>
              <a:t>Industry analysis, benchmarks, digital transformation—every firm converges on similar proposals with similar tools. The differentiator is shifting from what to propose to what questions to ask.</a:t>
            </a:r>
          </a:p>
        </p:txBody>
      </p:sp>
      <p:sp>
        <p:nvSpPr>
          <p:cNvPr id="13" name="Rectangle 12"/>
          <p:cNvSpPr/>
          <p:nvPr/>
        </p:nvSpPr>
        <p:spPr>
          <a:xfrm>
            <a:off x="6089904" y="1051560"/>
            <a:ext cx="2606040" cy="3383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064" y="1143000"/>
            <a:ext cx="548640" cy="320040"/>
          </a:xfrm>
          <a:prstGeom prst="rect">
            <a:avLst/>
          </a:prstGeom>
          <a:noFill/>
        </p:spPr>
        <p:txBody>
          <a:bodyPr wrap="square"/>
          <a:lstStyle/>
          <a:p>
            <a:pPr algn="l">
              <a:lnSpc>
                <a:spcPct val="135000"/>
              </a:lnSpc>
              <a:spcBef>
                <a:spcPts val="0"/>
              </a:spcBef>
              <a:spcAft>
                <a:spcPts val="0"/>
              </a:spcAft>
            </a:pPr>
            <a:r>
              <a:rPr sz="1500" b="1">
                <a:solidFill>
                  <a:srgbClr val="2563EB"/>
                </a:solidFill>
                <a:latin typeface="Calibri"/>
              </a:rPr>
              <a:t>03</a:t>
            </a:r>
          </a:p>
        </p:txBody>
      </p:sp>
      <p:sp>
        <p:nvSpPr>
          <p:cNvPr id="15" name="TextBox 14"/>
          <p:cNvSpPr txBox="1"/>
          <p:nvPr/>
        </p:nvSpPr>
        <p:spPr>
          <a:xfrm>
            <a:off x="6227064" y="1463040"/>
            <a:ext cx="2331720" cy="45720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The millennium question</a:t>
            </a:r>
          </a:p>
        </p:txBody>
      </p:sp>
      <p:sp>
        <p:nvSpPr>
          <p:cNvPr id="16" name="TextBox 15"/>
          <p:cNvSpPr txBox="1"/>
          <p:nvPr/>
        </p:nvSpPr>
        <p:spPr>
          <a:xfrm>
            <a:off x="6227064" y="2011680"/>
            <a:ext cx="2331720" cy="2331720"/>
          </a:xfrm>
          <a:prstGeom prst="rect">
            <a:avLst/>
          </a:prstGeom>
          <a:noFill/>
        </p:spPr>
        <p:txBody>
          <a:bodyPr wrap="square"/>
          <a:lstStyle/>
          <a:p>
            <a:pPr algn="l">
              <a:lnSpc>
                <a:spcPct val="135000"/>
              </a:lnSpc>
              <a:spcBef>
                <a:spcPts val="0"/>
              </a:spcBef>
              <a:spcAft>
                <a:spcPts val="0"/>
              </a:spcAft>
            </a:pPr>
            <a:r>
              <a:rPr sz="1200" b="0">
                <a:solidFill>
                  <a:srgbClr val="475569"/>
                </a:solidFill>
                <a:latin typeface="Calibri"/>
              </a:rPr>
              <a:t>"What will you preserve for 1,000 years?"—a question AI cannot generate. It touches clients' fundamental needs and creates proposals structurally immune to commoditization.</a:t>
            </a:r>
          </a:p>
        </p:txBody>
      </p:sp>
      <p:sp>
        <p:nvSpPr>
          <p:cNvPr id="17" name="Rectangle 1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19" name="TextBox 1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0" name="TextBox 1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TokiStorage delivers technology, use cases, intellectual foundation, and distribution as a unified design philosophy</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OUR OFFERING</a:t>
            </a:r>
          </a:p>
        </p:txBody>
      </p:sp>
      <p:sp>
        <p:nvSpPr>
          <p:cNvPr id="5" name="Rectangle 4"/>
          <p:cNvSpPr/>
          <p:nvPr/>
        </p:nvSpPr>
        <p:spPr>
          <a:xfrm>
            <a:off x="457200" y="105156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94360" y="118872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T</a:t>
            </a:r>
          </a:p>
        </p:txBody>
      </p:sp>
      <p:sp>
        <p:nvSpPr>
          <p:cNvPr id="8" name="TextBox 7"/>
          <p:cNvSpPr txBox="1"/>
          <p:nvPr/>
        </p:nvSpPr>
        <p:spPr>
          <a:xfrm>
            <a:off x="1051560" y="118872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TokiQR — Free, instant experience</a:t>
            </a:r>
          </a:p>
        </p:txBody>
      </p:sp>
      <p:sp>
        <p:nvSpPr>
          <p:cNvPr id="9" name="TextBox 8"/>
          <p:cNvSpPr txBox="1"/>
          <p:nvPr/>
        </p:nvSpPr>
        <p:spPr>
          <a:xfrm>
            <a:off x="1051560" y="170992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Voice, face, and text in a QR code. Anyone can create one for free on their smartphone, with full three-layer distributed storage. Proprietary encoding (PCT patent in process).</a:t>
            </a:r>
          </a:p>
        </p:txBody>
      </p:sp>
      <p:sp>
        <p:nvSpPr>
          <p:cNvPr id="10" name="Rectangle 9"/>
          <p:cNvSpPr/>
          <p:nvPr/>
        </p:nvSpPr>
        <p:spPr>
          <a:xfrm>
            <a:off x="4617720" y="105156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54880" y="118872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8872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Q</a:t>
            </a:r>
          </a:p>
        </p:txBody>
      </p:sp>
      <p:sp>
        <p:nvSpPr>
          <p:cNvPr id="13" name="TextBox 12"/>
          <p:cNvSpPr txBox="1"/>
          <p:nvPr/>
        </p:nvSpPr>
        <p:spPr>
          <a:xfrm>
            <a:off x="5212080" y="118872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Three-Layer Distributed Storage</a:t>
            </a:r>
          </a:p>
        </p:txBody>
      </p:sp>
      <p:sp>
        <p:nvSpPr>
          <p:cNvPr id="14" name="TextBox 13"/>
          <p:cNvSpPr txBox="1"/>
          <p:nvPr/>
        </p:nvSpPr>
        <p:spPr>
          <a:xfrm>
            <a:off x="5212080" y="170992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Physical (quartz glass/laminate), National (National Diet Library legal deposit), Private (GitHub). 3-2-1 backup rule compliant. Zero single points of failure.</a:t>
            </a:r>
          </a:p>
        </p:txBody>
      </p:sp>
      <p:sp>
        <p:nvSpPr>
          <p:cNvPr id="15" name="Rectangle 14"/>
          <p:cNvSpPr/>
          <p:nvPr/>
        </p:nvSpPr>
        <p:spPr>
          <a:xfrm>
            <a:off x="457200" y="297180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4360" y="310896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10896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U</a:t>
            </a:r>
          </a:p>
        </p:txBody>
      </p:sp>
      <p:sp>
        <p:nvSpPr>
          <p:cNvPr id="18" name="TextBox 17"/>
          <p:cNvSpPr txBox="1"/>
          <p:nvPr/>
        </p:nvSpPr>
        <p:spPr>
          <a:xfrm>
            <a:off x="1051560" y="310896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200+ use cases (organized by industry)</a:t>
            </a:r>
          </a:p>
        </p:txBody>
      </p:sp>
      <p:sp>
        <p:nvSpPr>
          <p:cNvPr id="19" name="TextBox 18"/>
          <p:cNvSpPr txBox="1"/>
          <p:nvPr/>
        </p:nvSpPr>
        <p:spPr>
          <a:xfrm>
            <a:off x="1051560" y="363016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End-of-life, weddings, temples, schools, corporations, municipalities, NGOs, hotels, airlines. Ready for direct proposal integration.</a:t>
            </a:r>
          </a:p>
        </p:txBody>
      </p:sp>
      <p:sp>
        <p:nvSpPr>
          <p:cNvPr id="20" name="Rectangle 19"/>
          <p:cNvSpPr/>
          <p:nvPr/>
        </p:nvSpPr>
        <p:spPr>
          <a:xfrm>
            <a:off x="4617720" y="2971800"/>
            <a:ext cx="3931920" cy="17830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54880" y="3108960"/>
            <a:ext cx="365760" cy="36576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0" y="3108960"/>
            <a:ext cx="365760" cy="365760"/>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A</a:t>
            </a:r>
          </a:p>
        </p:txBody>
      </p:sp>
      <p:sp>
        <p:nvSpPr>
          <p:cNvPr id="23" name="TextBox 22"/>
          <p:cNvSpPr txBox="1"/>
          <p:nvPr/>
        </p:nvSpPr>
        <p:spPr>
          <a:xfrm>
            <a:off x="5212080" y="3108960"/>
            <a:ext cx="3200400" cy="411480"/>
          </a:xfrm>
          <a:prstGeom prst="rect">
            <a:avLst/>
          </a:prstGeom>
          <a:noFill/>
        </p:spPr>
        <p:txBody>
          <a:bodyPr wrap="square"/>
          <a:lstStyle/>
          <a:p>
            <a:pPr algn="l">
              <a:lnSpc>
                <a:spcPct val="135000"/>
              </a:lnSpc>
              <a:spcBef>
                <a:spcPts val="0"/>
              </a:spcBef>
              <a:spcAft>
                <a:spcPts val="0"/>
              </a:spcAft>
            </a:pPr>
            <a:r>
              <a:rPr sz="1200" b="1">
                <a:solidFill>
                  <a:srgbClr val="1E293B"/>
                </a:solidFill>
                <a:latin typeface="Calibri"/>
              </a:rPr>
              <a:t>Pearl Soap + Coach &amp; Ambassador network</a:t>
            </a:r>
          </a:p>
        </p:txBody>
      </p:sp>
      <p:sp>
        <p:nvSpPr>
          <p:cNvPr id="24" name="TextBox 23"/>
          <p:cNvSpPr txBox="1"/>
          <p:nvPr/>
        </p:nvSpPr>
        <p:spPr>
          <a:xfrm>
            <a:off x="5212080" y="3630168"/>
            <a:ext cx="3200400" cy="1033272"/>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A gift-economy practice with certified coaches and ambassadors running workshops nationwide. A decentralized movement.</a:t>
            </a:r>
          </a:p>
        </p:txBody>
      </p:sp>
      <p:sp>
        <p:nvSpPr>
          <p:cNvPr id="25" name="Rectangle 24"/>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7" name="TextBox 26"/>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8" name="TextBox 27"/>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TokiStorage is not a "competitor" to digital services — it is a complementary millennium layer</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POSITIONING</a:t>
            </a:r>
          </a:p>
        </p:txBody>
      </p:sp>
      <p:sp>
        <p:nvSpPr>
          <p:cNvPr id="5" name="Rectangle 4"/>
          <p:cNvSpPr/>
          <p:nvPr/>
        </p:nvSpPr>
        <p:spPr>
          <a:xfrm>
            <a:off x="640080" y="1051560"/>
            <a:ext cx="137160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051560"/>
            <a:ext cx="118872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Calibri"/>
              </a:rPr>
              <a:t/>
            </a:r>
          </a:p>
        </p:txBody>
      </p:sp>
      <p:sp>
        <p:nvSpPr>
          <p:cNvPr id="7" name="Rectangle 6"/>
          <p:cNvSpPr/>
          <p:nvPr/>
        </p:nvSpPr>
        <p:spPr>
          <a:xfrm>
            <a:off x="2011680" y="1051560"/>
            <a:ext cx="320040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051560"/>
            <a:ext cx="301752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Calibri"/>
              </a:rPr>
              <a:t>Digital services (everyday records)</a:t>
            </a:r>
          </a:p>
        </p:txBody>
      </p:sp>
      <p:sp>
        <p:nvSpPr>
          <p:cNvPr id="9" name="Rectangle 8"/>
          <p:cNvSpPr/>
          <p:nvPr/>
        </p:nvSpPr>
        <p:spPr>
          <a:xfrm>
            <a:off x="5212080" y="1051560"/>
            <a:ext cx="3291840" cy="457200"/>
          </a:xfrm>
          <a:prstGeom prst="rect">
            <a:avLst/>
          </a:prstGeom>
          <a:solidFill>
            <a:srgbClr val="1E293B"/>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1051560"/>
            <a:ext cx="3108960" cy="457200"/>
          </a:xfrm>
          <a:prstGeom prst="rect">
            <a:avLst/>
          </a:prstGeom>
          <a:noFill/>
        </p:spPr>
        <p:txBody>
          <a:bodyPr wrap="square" anchor="ctr"/>
          <a:lstStyle/>
          <a:p>
            <a:pPr algn="l">
              <a:lnSpc>
                <a:spcPct val="135000"/>
              </a:lnSpc>
              <a:spcBef>
                <a:spcPts val="0"/>
              </a:spcBef>
              <a:spcAft>
                <a:spcPts val="0"/>
              </a:spcAft>
            </a:pPr>
            <a:r>
              <a:rPr sz="900" b="1">
                <a:solidFill>
                  <a:srgbClr val="FFFFFF"/>
                </a:solidFill>
                <a:latin typeface="Calibri"/>
              </a:rPr>
              <a:t>TokiStorage (millennium records)</a:t>
            </a:r>
          </a:p>
        </p:txBody>
      </p:sp>
      <p:sp>
        <p:nvSpPr>
          <p:cNvPr id="11" name="Rectangle 10"/>
          <p:cNvSpPr/>
          <p:nvPr/>
        </p:nvSpPr>
        <p:spPr>
          <a:xfrm>
            <a:off x="640080" y="15087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087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Medium</a:t>
            </a:r>
          </a:p>
        </p:txBody>
      </p:sp>
      <p:sp>
        <p:nvSpPr>
          <p:cNvPr id="13" name="Rectangle 12"/>
          <p:cNvSpPr/>
          <p:nvPr/>
        </p:nvSpPr>
        <p:spPr>
          <a:xfrm>
            <a:off x="2011680" y="15087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15087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Cloud / HDD</a:t>
            </a:r>
          </a:p>
        </p:txBody>
      </p:sp>
      <p:sp>
        <p:nvSpPr>
          <p:cNvPr id="15" name="Rectangle 14"/>
          <p:cNvSpPr/>
          <p:nvPr/>
        </p:nvSpPr>
        <p:spPr>
          <a:xfrm>
            <a:off x="5212080" y="15087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15087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Quartz glass (physical)</a:t>
            </a:r>
          </a:p>
        </p:txBody>
      </p:sp>
      <p:sp>
        <p:nvSpPr>
          <p:cNvPr id="17" name="Rectangle 16"/>
          <p:cNvSpPr/>
          <p:nvPr/>
        </p:nvSpPr>
        <p:spPr>
          <a:xfrm>
            <a:off x="640080" y="19659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19659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Best horizon</a:t>
            </a:r>
          </a:p>
        </p:txBody>
      </p:sp>
      <p:sp>
        <p:nvSpPr>
          <p:cNvPr id="19" name="Rectangle 18"/>
          <p:cNvSpPr/>
          <p:nvPr/>
        </p:nvSpPr>
        <p:spPr>
          <a:xfrm>
            <a:off x="2011680" y="19659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03120" y="19659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Now to decades (optimized for daily use)</a:t>
            </a:r>
          </a:p>
        </p:txBody>
      </p:sp>
      <p:sp>
        <p:nvSpPr>
          <p:cNvPr id="21" name="Rectangle 20"/>
          <p:cNvSpPr/>
          <p:nvPr/>
        </p:nvSpPr>
        <p:spPr>
          <a:xfrm>
            <a:off x="5212080" y="19659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19659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100–1,000 years (optimized for permanence)</a:t>
            </a:r>
          </a:p>
        </p:txBody>
      </p:sp>
      <p:sp>
        <p:nvSpPr>
          <p:cNvPr id="23" name="Rectangle 22"/>
          <p:cNvSpPr/>
          <p:nvPr/>
        </p:nvSpPr>
        <p:spPr>
          <a:xfrm>
            <a:off x="640080" y="24231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4231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Infrastructure</a:t>
            </a:r>
          </a:p>
        </p:txBody>
      </p:sp>
      <p:sp>
        <p:nvSpPr>
          <p:cNvPr id="25" name="Rectangle 24"/>
          <p:cNvSpPr/>
          <p:nvPr/>
        </p:nvSpPr>
        <p:spPr>
          <a:xfrm>
            <a:off x="2011680" y="24231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24231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Servers &amp; power (source of convenience)</a:t>
            </a:r>
          </a:p>
        </p:txBody>
      </p:sp>
      <p:sp>
        <p:nvSpPr>
          <p:cNvPr id="27" name="Rectangle 26"/>
          <p:cNvSpPr/>
          <p:nvPr/>
        </p:nvSpPr>
        <p:spPr>
          <a:xfrm>
            <a:off x="5212080" y="24231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24231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None required (GitHub distributed)</a:t>
            </a:r>
          </a:p>
        </p:txBody>
      </p:sp>
      <p:sp>
        <p:nvSpPr>
          <p:cNvPr id="29" name="Rectangle 28"/>
          <p:cNvSpPr/>
          <p:nvPr/>
        </p:nvSpPr>
        <p:spPr>
          <a:xfrm>
            <a:off x="640080" y="28803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8803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Reading</a:t>
            </a:r>
          </a:p>
        </p:txBody>
      </p:sp>
      <p:sp>
        <p:nvSpPr>
          <p:cNvPr id="31" name="Rectangle 30"/>
          <p:cNvSpPr/>
          <p:nvPr/>
        </p:nvSpPr>
        <p:spPr>
          <a:xfrm>
            <a:off x="2011680" y="28803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03120" y="28803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App / login required</a:t>
            </a:r>
          </a:p>
        </p:txBody>
      </p:sp>
      <p:sp>
        <p:nvSpPr>
          <p:cNvPr id="33" name="Rectangle 32"/>
          <p:cNvSpPr/>
          <p:nvPr/>
        </p:nvSpPr>
        <p:spPr>
          <a:xfrm>
            <a:off x="5212080" y="28803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0" y="28803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Any smartphone camera</a:t>
            </a:r>
          </a:p>
        </p:txBody>
      </p:sp>
      <p:sp>
        <p:nvSpPr>
          <p:cNvPr id="35" name="Rectangle 34"/>
          <p:cNvSpPr/>
          <p:nvPr/>
        </p:nvSpPr>
        <p:spPr>
          <a:xfrm>
            <a:off x="640080" y="33375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3375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Cultural depth</a:t>
            </a:r>
          </a:p>
        </p:txBody>
      </p:sp>
      <p:sp>
        <p:nvSpPr>
          <p:cNvPr id="37" name="Rectangle 36"/>
          <p:cNvSpPr/>
          <p:nvPr/>
        </p:nvSpPr>
        <p:spPr>
          <a:xfrm>
            <a:off x="2011680" y="33375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03120" y="33375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Functionality &amp; convenience at the core</a:t>
            </a:r>
          </a:p>
        </p:txBody>
      </p:sp>
      <p:sp>
        <p:nvSpPr>
          <p:cNvPr id="39" name="Rectangle 38"/>
          <p:cNvSpPr/>
          <p:nvPr/>
        </p:nvSpPr>
        <p:spPr>
          <a:xfrm>
            <a:off x="5212080" y="33375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0" y="33375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100+ essays + gift economy practice</a:t>
            </a:r>
          </a:p>
        </p:txBody>
      </p:sp>
      <p:sp>
        <p:nvSpPr>
          <p:cNvPr id="41" name="Rectangle 40"/>
          <p:cNvSpPr/>
          <p:nvPr/>
        </p:nvSpPr>
        <p:spPr>
          <a:xfrm>
            <a:off x="640080" y="37947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37947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Storage structure</a:t>
            </a:r>
          </a:p>
        </p:txBody>
      </p:sp>
      <p:sp>
        <p:nvSpPr>
          <p:cNvPr id="43" name="Rectangle 42"/>
          <p:cNvSpPr/>
          <p:nvPr/>
        </p:nvSpPr>
        <p:spPr>
          <a:xfrm>
            <a:off x="2011680" y="37947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03120" y="37947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Cloud-centralized</a:t>
            </a:r>
          </a:p>
        </p:txBody>
      </p:sp>
      <p:sp>
        <p:nvSpPr>
          <p:cNvPr id="45" name="Rectangle 44"/>
          <p:cNvSpPr/>
          <p:nvPr/>
        </p:nvSpPr>
        <p:spPr>
          <a:xfrm>
            <a:off x="5212080" y="37947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0" y="37947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Three-layer distributed (physical/national/private) — 3-2-1 rule compliant</a:t>
            </a:r>
          </a:p>
        </p:txBody>
      </p:sp>
      <p:sp>
        <p:nvSpPr>
          <p:cNvPr id="47" name="Rectangle 46"/>
          <p:cNvSpPr/>
          <p:nvPr/>
        </p:nvSpPr>
        <p:spPr>
          <a:xfrm>
            <a:off x="640080" y="4251960"/>
            <a:ext cx="1371600" cy="457200"/>
          </a:xfrm>
          <a:prstGeom prst="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4251960"/>
            <a:ext cx="1188720" cy="457200"/>
          </a:xfrm>
          <a:prstGeom prst="rect">
            <a:avLst/>
          </a:prstGeom>
          <a:noFill/>
        </p:spPr>
        <p:txBody>
          <a:bodyPr wrap="square" anchor="ctr"/>
          <a:lstStyle/>
          <a:p>
            <a:pPr algn="l">
              <a:lnSpc>
                <a:spcPct val="135000"/>
              </a:lnSpc>
              <a:spcBef>
                <a:spcPts val="0"/>
              </a:spcBef>
              <a:spcAft>
                <a:spcPts val="0"/>
              </a:spcAft>
            </a:pPr>
            <a:r>
              <a:rPr sz="1000" b="1">
                <a:solidFill>
                  <a:srgbClr val="1E293B"/>
                </a:solidFill>
                <a:latin typeface="Calibri"/>
              </a:rPr>
              <a:t>Social impact</a:t>
            </a:r>
          </a:p>
        </p:txBody>
      </p:sp>
      <p:sp>
        <p:nvSpPr>
          <p:cNvPr id="49" name="Rectangle 48"/>
          <p:cNvSpPr/>
          <p:nvPr/>
        </p:nvSpPr>
        <p:spPr>
          <a:xfrm>
            <a:off x="2011680" y="4251960"/>
            <a:ext cx="3200400" cy="4572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03120" y="4251960"/>
            <a:ext cx="3017520" cy="457200"/>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Platform-level contribution</a:t>
            </a:r>
          </a:p>
        </p:txBody>
      </p:sp>
      <p:sp>
        <p:nvSpPr>
          <p:cNvPr id="51" name="Rectangle 50"/>
          <p:cNvSpPr/>
          <p:nvPr/>
        </p:nvSpPr>
        <p:spPr>
          <a:xfrm>
            <a:off x="5212080" y="4251960"/>
            <a:ext cx="3291840" cy="457200"/>
          </a:xfrm>
          <a:prstGeom prst="rect">
            <a:avLst/>
          </a:prstGeom>
          <a:solidFill>
            <a:srgbClr val="EFF6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303520" y="4251960"/>
            <a:ext cx="3108960" cy="457200"/>
          </a:xfrm>
          <a:prstGeom prst="rect">
            <a:avLst/>
          </a:prstGeom>
          <a:noFill/>
        </p:spPr>
        <p:txBody>
          <a:bodyPr wrap="square" anchor="ctr"/>
          <a:lstStyle/>
          <a:p>
            <a:pPr algn="l">
              <a:lnSpc>
                <a:spcPct val="135000"/>
              </a:lnSpc>
              <a:spcBef>
                <a:spcPts val="0"/>
              </a:spcBef>
              <a:spcAft>
                <a:spcPts val="0"/>
              </a:spcAft>
            </a:pPr>
            <a:r>
              <a:rPr sz="1000" b="0">
                <a:solidFill>
                  <a:srgbClr val="1D4ED8"/>
                </a:solidFill>
                <a:latin typeface="Calibri"/>
              </a:rPr>
              <a:t>SoulCarrier (unclaimed graves mission)</a:t>
            </a:r>
          </a:p>
        </p:txBody>
      </p:sp>
      <p:sp>
        <p:nvSpPr>
          <p:cNvPr id="53" name="Rectangle 52"/>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55" name="TextBox 54"/>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56" name="TextBox 55"/>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TokiQR is free — zero entry barrier for your proposals</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PRICING</a:t>
            </a:r>
          </a:p>
        </p:txBody>
      </p:sp>
      <p:sp>
        <p:nvSpPr>
          <p:cNvPr id="5" name="TextBox 4"/>
          <p:cNvSpPr txBox="1"/>
          <p:nvPr/>
        </p:nvSpPr>
        <p:spPr>
          <a:xfrm>
            <a:off x="457200" y="1005840"/>
            <a:ext cx="3657600" cy="228600"/>
          </a:xfrm>
          <a:prstGeom prst="rect">
            <a:avLst/>
          </a:prstGeom>
          <a:noFill/>
        </p:spPr>
        <p:txBody>
          <a:bodyPr wrap="square"/>
          <a:lstStyle/>
          <a:p>
            <a:pPr algn="l">
              <a:lnSpc>
                <a:spcPct val="135000"/>
              </a:lnSpc>
              <a:spcBef>
                <a:spcPts val="0"/>
              </a:spcBef>
              <a:spcAft>
                <a:spcPts val="0"/>
              </a:spcAft>
            </a:pPr>
            <a:r>
              <a:rPr sz="1000" b="1">
                <a:solidFill>
                  <a:srgbClr val="475569"/>
                </a:solidFill>
                <a:latin typeface="Calibri"/>
              </a:rPr>
              <a:t>Self-Service Products</a:t>
            </a:r>
          </a:p>
        </p:txBody>
      </p:sp>
      <p:sp>
        <p:nvSpPr>
          <p:cNvPr id="6" name="Rectangle 5"/>
          <p:cNvSpPr/>
          <p:nvPr/>
        </p:nvSpPr>
        <p:spPr>
          <a:xfrm>
            <a:off x="457200" y="1280160"/>
            <a:ext cx="2606040" cy="13258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53312"/>
            <a:ext cx="238658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TokiQR</a:t>
            </a:r>
          </a:p>
        </p:txBody>
      </p:sp>
      <p:sp>
        <p:nvSpPr>
          <p:cNvPr id="8" name="TextBox 7"/>
          <p:cNvSpPr txBox="1"/>
          <p:nvPr/>
        </p:nvSpPr>
        <p:spPr>
          <a:xfrm>
            <a:off x="566928" y="1581912"/>
            <a:ext cx="2386584" cy="274320"/>
          </a:xfrm>
          <a:prstGeom prst="rect">
            <a:avLst/>
          </a:prstGeom>
          <a:noFill/>
        </p:spPr>
        <p:txBody>
          <a:bodyPr wrap="square"/>
          <a:lstStyle/>
          <a:p>
            <a:pPr algn="l">
              <a:lnSpc>
                <a:spcPct val="135000"/>
              </a:lnSpc>
              <a:spcBef>
                <a:spcPts val="0"/>
              </a:spcBef>
              <a:spcAft>
                <a:spcPts val="0"/>
              </a:spcAft>
            </a:pPr>
            <a:r>
              <a:rPr sz="1300" b="1">
                <a:solidFill>
                  <a:srgbClr val="2563EB"/>
                </a:solidFill>
                <a:latin typeface="Calibri"/>
              </a:rPr>
              <a:t>Free</a:t>
            </a:r>
          </a:p>
        </p:txBody>
      </p:sp>
      <p:sp>
        <p:nvSpPr>
          <p:cNvPr id="9" name="TextBox 8"/>
          <p:cNvSpPr txBox="1"/>
          <p:nvPr/>
        </p:nvSpPr>
        <p:spPr>
          <a:xfrm>
            <a:off x="566928" y="1901952"/>
            <a:ext cx="2386584" cy="612648"/>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Voice, face, and text in a QR code. Create on any smartphone; NDL + GitHub three-layer storage.</a:t>
            </a:r>
          </a:p>
        </p:txBody>
      </p:sp>
      <p:sp>
        <p:nvSpPr>
          <p:cNvPr id="10" name="Rectangle 9"/>
          <p:cNvSpPr/>
          <p:nvPr/>
        </p:nvSpPr>
        <p:spPr>
          <a:xfrm>
            <a:off x="3273552" y="1280160"/>
            <a:ext cx="2606040" cy="13258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353312"/>
            <a:ext cx="238658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UV Laminate QR</a:t>
            </a:r>
          </a:p>
        </p:txBody>
      </p:sp>
      <p:sp>
        <p:nvSpPr>
          <p:cNvPr id="12" name="TextBox 11"/>
          <p:cNvSpPr txBox="1"/>
          <p:nvPr/>
        </p:nvSpPr>
        <p:spPr>
          <a:xfrm>
            <a:off x="3383280" y="1581912"/>
            <a:ext cx="2386584" cy="274320"/>
          </a:xfrm>
          <a:prstGeom prst="rect">
            <a:avLst/>
          </a:prstGeom>
          <a:noFill/>
        </p:spPr>
        <p:txBody>
          <a:bodyPr wrap="square"/>
          <a:lstStyle/>
          <a:p>
            <a:pPr algn="l">
              <a:lnSpc>
                <a:spcPct val="135000"/>
              </a:lnSpc>
              <a:spcBef>
                <a:spcPts val="0"/>
              </a:spcBef>
              <a:spcAft>
                <a:spcPts val="0"/>
              </a:spcAft>
            </a:pPr>
            <a:r>
              <a:rPr sz="1300" b="1">
                <a:solidFill>
                  <a:srgbClr val="2563EB"/>
                </a:solidFill>
                <a:latin typeface="Calibri"/>
              </a:rPr>
              <a:t>¥5,000 ($33)</a:t>
            </a:r>
          </a:p>
        </p:txBody>
      </p:sp>
      <p:sp>
        <p:nvSpPr>
          <p:cNvPr id="13" name="TextBox 12"/>
          <p:cNvSpPr txBox="1"/>
          <p:nvPr/>
        </p:nvSpPr>
        <p:spPr>
          <a:xfrm>
            <a:off x="3383280" y="1901952"/>
            <a:ext cx="2386584" cy="612648"/>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Voice QR on A4 laminate. Weather-resistant, long-term preservation.</a:t>
            </a:r>
          </a:p>
        </p:txBody>
      </p:sp>
      <p:sp>
        <p:nvSpPr>
          <p:cNvPr id="14" name="Rectangle 13"/>
          <p:cNvSpPr/>
          <p:nvPr/>
        </p:nvSpPr>
        <p:spPr>
          <a:xfrm>
            <a:off x="6089904" y="1280160"/>
            <a:ext cx="2606040" cy="13258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99632" y="1353312"/>
            <a:ext cx="238658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Quartz Glass QR</a:t>
            </a:r>
          </a:p>
        </p:txBody>
      </p:sp>
      <p:sp>
        <p:nvSpPr>
          <p:cNvPr id="16" name="TextBox 15"/>
          <p:cNvSpPr txBox="1"/>
          <p:nvPr/>
        </p:nvSpPr>
        <p:spPr>
          <a:xfrm>
            <a:off x="6199632" y="1581912"/>
            <a:ext cx="2386584" cy="274320"/>
          </a:xfrm>
          <a:prstGeom prst="rect">
            <a:avLst/>
          </a:prstGeom>
          <a:noFill/>
        </p:spPr>
        <p:txBody>
          <a:bodyPr wrap="square"/>
          <a:lstStyle/>
          <a:p>
            <a:pPr algn="l">
              <a:lnSpc>
                <a:spcPct val="135000"/>
              </a:lnSpc>
              <a:spcBef>
                <a:spcPts val="0"/>
              </a:spcBef>
              <a:spcAft>
                <a:spcPts val="0"/>
              </a:spcAft>
            </a:pPr>
            <a:r>
              <a:rPr sz="1300" b="1">
                <a:solidFill>
                  <a:srgbClr val="2563EB"/>
                </a:solidFill>
                <a:latin typeface="Calibri"/>
              </a:rPr>
              <a:t>¥50,000 ($330)</a:t>
            </a:r>
          </a:p>
        </p:txBody>
      </p:sp>
      <p:sp>
        <p:nvSpPr>
          <p:cNvPr id="17" name="TextBox 16"/>
          <p:cNvSpPr txBox="1"/>
          <p:nvPr/>
        </p:nvSpPr>
        <p:spPr>
          <a:xfrm>
            <a:off x="6199632" y="1901952"/>
            <a:ext cx="2386584" cy="612648"/>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Inscribed on quartz glass. ¥50/year. 1,000-year durability (theoretical).</a:t>
            </a:r>
          </a:p>
        </p:txBody>
      </p:sp>
      <p:sp>
        <p:nvSpPr>
          <p:cNvPr id="18" name="TextBox 17"/>
          <p:cNvSpPr txBox="1"/>
          <p:nvPr/>
        </p:nvSpPr>
        <p:spPr>
          <a:xfrm>
            <a:off x="457200" y="2788920"/>
            <a:ext cx="3657600" cy="228600"/>
          </a:xfrm>
          <a:prstGeom prst="rect">
            <a:avLst/>
          </a:prstGeom>
          <a:noFill/>
        </p:spPr>
        <p:txBody>
          <a:bodyPr wrap="square"/>
          <a:lstStyle/>
          <a:p>
            <a:pPr algn="l">
              <a:lnSpc>
                <a:spcPct val="135000"/>
              </a:lnSpc>
              <a:spcBef>
                <a:spcPts val="0"/>
              </a:spcBef>
              <a:spcAft>
                <a:spcPts val="0"/>
              </a:spcAft>
            </a:pPr>
            <a:r>
              <a:rPr sz="1000" b="1">
                <a:solidFill>
                  <a:srgbClr val="475569"/>
                </a:solidFill>
                <a:latin typeface="Calibri"/>
              </a:rPr>
              <a:t>Timeless Consulting</a:t>
            </a:r>
          </a:p>
        </p:txBody>
      </p:sp>
      <p:sp>
        <p:nvSpPr>
          <p:cNvPr id="19" name="Rectangle 18"/>
          <p:cNvSpPr/>
          <p:nvPr/>
        </p:nvSpPr>
        <p:spPr>
          <a:xfrm>
            <a:off x="457200" y="3063240"/>
            <a:ext cx="3931920" cy="1097280"/>
          </a:xfrm>
          <a:prstGeom prst="rect">
            <a:avLst/>
          </a:prstGeom>
          <a:solidFill>
            <a:srgbClr val="FFFFFF"/>
          </a:solidFill>
          <a:ln w="9525">
            <a:solidFill>
              <a:srgbClr val="C9A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136392"/>
            <a:ext cx="371246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Three-Generation</a:t>
            </a:r>
          </a:p>
        </p:txBody>
      </p:sp>
      <p:sp>
        <p:nvSpPr>
          <p:cNvPr id="21" name="TextBox 20"/>
          <p:cNvSpPr txBox="1"/>
          <p:nvPr/>
        </p:nvSpPr>
        <p:spPr>
          <a:xfrm>
            <a:off x="566928" y="3364992"/>
            <a:ext cx="3712464" cy="274320"/>
          </a:xfrm>
          <a:prstGeom prst="rect">
            <a:avLst/>
          </a:prstGeom>
          <a:noFill/>
        </p:spPr>
        <p:txBody>
          <a:bodyPr wrap="square"/>
          <a:lstStyle/>
          <a:p>
            <a:pPr algn="l">
              <a:lnSpc>
                <a:spcPct val="135000"/>
              </a:lnSpc>
              <a:spcBef>
                <a:spcPts val="0"/>
              </a:spcBef>
              <a:spcAft>
                <a:spcPts val="0"/>
              </a:spcAft>
            </a:pPr>
            <a:r>
              <a:rPr sz="1300" b="1">
                <a:solidFill>
                  <a:srgbClr val="C9A962"/>
                </a:solidFill>
                <a:latin typeface="Calibri"/>
              </a:rPr>
              <a:t>¥550,000 ($3,600)</a:t>
            </a:r>
          </a:p>
        </p:txBody>
      </p:sp>
      <p:sp>
        <p:nvSpPr>
          <p:cNvPr id="22" name="TextBox 21"/>
          <p:cNvSpPr txBox="1"/>
          <p:nvPr/>
        </p:nvSpPr>
        <p:spPr>
          <a:xfrm>
            <a:off x="566928" y="3657600"/>
            <a:ext cx="3712464" cy="411480"/>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Three family members + on-site inscription on Sado Island. Recommended.</a:t>
            </a:r>
          </a:p>
        </p:txBody>
      </p:sp>
      <p:sp>
        <p:nvSpPr>
          <p:cNvPr id="23" name="Rectangle 22"/>
          <p:cNvSpPr/>
          <p:nvPr/>
        </p:nvSpPr>
        <p:spPr>
          <a:xfrm>
            <a:off x="4617720" y="3063240"/>
            <a:ext cx="3931920" cy="109728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27448" y="3136392"/>
            <a:ext cx="3712464"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Timeless Transformation</a:t>
            </a:r>
          </a:p>
        </p:txBody>
      </p:sp>
      <p:sp>
        <p:nvSpPr>
          <p:cNvPr id="25" name="TextBox 24"/>
          <p:cNvSpPr txBox="1"/>
          <p:nvPr/>
        </p:nvSpPr>
        <p:spPr>
          <a:xfrm>
            <a:off x="4727448" y="3364992"/>
            <a:ext cx="3712464" cy="274320"/>
          </a:xfrm>
          <a:prstGeom prst="rect">
            <a:avLst/>
          </a:prstGeom>
          <a:noFill/>
        </p:spPr>
        <p:txBody>
          <a:bodyPr wrap="square"/>
          <a:lstStyle/>
          <a:p>
            <a:pPr algn="l">
              <a:lnSpc>
                <a:spcPct val="135000"/>
              </a:lnSpc>
              <a:spcBef>
                <a:spcPts val="0"/>
              </a:spcBef>
              <a:spcAft>
                <a:spcPts val="0"/>
              </a:spcAft>
            </a:pPr>
            <a:r>
              <a:rPr sz="1300" b="1">
                <a:solidFill>
                  <a:srgbClr val="C9A962"/>
                </a:solidFill>
                <a:latin typeface="Calibri"/>
              </a:rPr>
              <a:t>¥5,550,000 ($36,500)</a:t>
            </a:r>
          </a:p>
        </p:txBody>
      </p:sp>
      <p:sp>
        <p:nvSpPr>
          <p:cNvPr id="26" name="TextBox 25"/>
          <p:cNvSpPr txBox="1"/>
          <p:nvPr/>
        </p:nvSpPr>
        <p:spPr>
          <a:xfrm>
            <a:off x="4727448" y="3657600"/>
            <a:ext cx="3712464" cy="411480"/>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Fully bespoke. Voice restoration, custom design, premium experience.</a:t>
            </a:r>
          </a:p>
        </p:txBody>
      </p:sp>
      <p:sp>
        <p:nvSpPr>
          <p:cNvPr id="27" name="Rectangle 2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9" name="TextBox 2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30" name="TextBox 2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Three partnership models tailored to your business model, with progressive escalation possible</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PARTNERSHIP MODELS</a:t>
            </a:r>
          </a:p>
        </p:txBody>
      </p:sp>
      <p:sp>
        <p:nvSpPr>
          <p:cNvPr id="5" name="Rectangle 4"/>
          <p:cNvSpPr/>
          <p:nvPr/>
        </p:nvSpPr>
        <p:spPr>
          <a:xfrm>
            <a:off x="457200" y="1051560"/>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170432"/>
            <a:ext cx="777240"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70432"/>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Calibri"/>
              </a:rPr>
              <a:t>Referral</a:t>
            </a:r>
          </a:p>
        </p:txBody>
      </p:sp>
      <p:sp>
        <p:nvSpPr>
          <p:cNvPr id="8" name="TextBox 7"/>
          <p:cNvSpPr txBox="1"/>
          <p:nvPr/>
        </p:nvSpPr>
        <p:spPr>
          <a:xfrm>
            <a:off x="1508760" y="1124712"/>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A. Client Referral Partnership</a:t>
            </a:r>
          </a:p>
        </p:txBody>
      </p:sp>
      <p:sp>
        <p:nvSpPr>
          <p:cNvPr id="9" name="TextBox 8"/>
          <p:cNvSpPr txBox="1"/>
          <p:nvPr/>
        </p:nvSpPr>
        <p:spPr>
          <a:xfrm>
            <a:off x="1508760" y="1417320"/>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Introduce clients when TokiStorage fits. You receive a referral fee; we handle delivery end-to-end.</a:t>
            </a:r>
          </a:p>
        </p:txBody>
      </p:sp>
      <p:sp>
        <p:nvSpPr>
          <p:cNvPr id="10" name="TextBox 9"/>
          <p:cNvSpPr txBox="1"/>
          <p:nvPr/>
        </p:nvSpPr>
        <p:spPr>
          <a:xfrm>
            <a:off x="1508760" y="1783080"/>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Calibri"/>
              </a:rPr>
              <a:t>E.g.: End-of-life consulting → offer proof of existence / Funeral DX → add memorial option</a:t>
            </a:r>
          </a:p>
        </p:txBody>
      </p:sp>
      <p:sp>
        <p:nvSpPr>
          <p:cNvPr id="11" name="Rectangle 10"/>
          <p:cNvSpPr/>
          <p:nvPr/>
        </p:nvSpPr>
        <p:spPr>
          <a:xfrm>
            <a:off x="457200" y="2212848"/>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94360" y="2331720"/>
            <a:ext cx="777240" cy="82296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331720"/>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Calibri"/>
              </a:rPr>
              <a:t>Joint</a:t>
            </a:r>
          </a:p>
        </p:txBody>
      </p:sp>
      <p:sp>
        <p:nvSpPr>
          <p:cNvPr id="14" name="TextBox 13"/>
          <p:cNvSpPr txBox="1"/>
          <p:nvPr/>
        </p:nvSpPr>
        <p:spPr>
          <a:xfrm>
            <a:off x="1508760" y="2286000"/>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B. Joint Solution Partnership</a:t>
            </a:r>
          </a:p>
        </p:txBody>
      </p:sp>
      <p:sp>
        <p:nvSpPr>
          <p:cNvPr id="15" name="TextBox 14"/>
          <p:cNvSpPr txBox="1"/>
          <p:nvPr/>
        </p:nvSpPr>
        <p:spPr>
          <a:xfrm>
            <a:off x="1508760" y="2578608"/>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Embed TokiStorage into your consulting engagements. Position millennium records as the "outcome layer" of ESG, revitalization, or DX projects.</a:t>
            </a:r>
          </a:p>
        </p:txBody>
      </p:sp>
      <p:sp>
        <p:nvSpPr>
          <p:cNvPr id="16" name="TextBox 15"/>
          <p:cNvSpPr txBox="1"/>
          <p:nvPr/>
        </p:nvSpPr>
        <p:spPr>
          <a:xfrm>
            <a:off x="1508760" y="2944368"/>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Calibri"/>
              </a:rPr>
              <a:t>E.g.: Municipal DX → community archive / Hotel CX → guest record upgrade</a:t>
            </a:r>
          </a:p>
        </p:txBody>
      </p:sp>
      <p:sp>
        <p:nvSpPr>
          <p:cNvPr id="17" name="Rectangle 16"/>
          <p:cNvSpPr/>
          <p:nvPr/>
        </p:nvSpPr>
        <p:spPr>
          <a:xfrm>
            <a:off x="457200" y="3374136"/>
            <a:ext cx="7863840" cy="10515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493008"/>
            <a:ext cx="777240" cy="82296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493008"/>
            <a:ext cx="777240" cy="822960"/>
          </a:xfrm>
          <a:prstGeom prst="rect">
            <a:avLst/>
          </a:prstGeom>
          <a:noFill/>
        </p:spPr>
        <p:txBody>
          <a:bodyPr wrap="square" anchor="ctr"/>
          <a:lstStyle/>
          <a:p>
            <a:pPr algn="ctr">
              <a:lnSpc>
                <a:spcPct val="135000"/>
              </a:lnSpc>
              <a:spcBef>
                <a:spcPts val="0"/>
              </a:spcBef>
              <a:spcAft>
                <a:spcPts val="0"/>
              </a:spcAft>
            </a:pPr>
            <a:r>
              <a:rPr sz="800" b="1">
                <a:solidFill>
                  <a:srgbClr val="FFFFFF"/>
                </a:solidFill>
                <a:latin typeface="Calibri"/>
              </a:rPr>
              <a:t>Co-Create</a:t>
            </a:r>
          </a:p>
        </p:txBody>
      </p:sp>
      <p:sp>
        <p:nvSpPr>
          <p:cNvPr id="20" name="TextBox 19"/>
          <p:cNvSpPr txBox="1"/>
          <p:nvPr/>
        </p:nvSpPr>
        <p:spPr>
          <a:xfrm>
            <a:off x="1508760" y="3447288"/>
            <a:ext cx="6675120" cy="347472"/>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C. New Business Co-Creation</a:t>
            </a:r>
          </a:p>
        </p:txBody>
      </p:sp>
      <p:sp>
        <p:nvSpPr>
          <p:cNvPr id="21" name="TextBox 20"/>
          <p:cNvSpPr txBox="1"/>
          <p:nvPr/>
        </p:nvSpPr>
        <p:spPr>
          <a:xfrm>
            <a:off x="1508760" y="3739896"/>
            <a:ext cx="6675120" cy="310896"/>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Launch a new venture together. We bring technology, philosophy, and use cases. You bring market access, credibility, and scale.</a:t>
            </a:r>
          </a:p>
        </p:txBody>
      </p:sp>
      <p:sp>
        <p:nvSpPr>
          <p:cNvPr id="22" name="TextBox 21"/>
          <p:cNvSpPr txBox="1"/>
          <p:nvPr/>
        </p:nvSpPr>
        <p:spPr>
          <a:xfrm>
            <a:off x="1508760" y="4105656"/>
            <a:ext cx="6675120" cy="201168"/>
          </a:xfrm>
          <a:prstGeom prst="rect">
            <a:avLst/>
          </a:prstGeom>
          <a:noFill/>
        </p:spPr>
        <p:txBody>
          <a:bodyPr wrap="square"/>
          <a:lstStyle/>
          <a:p>
            <a:pPr algn="l">
              <a:lnSpc>
                <a:spcPct val="135000"/>
              </a:lnSpc>
              <a:spcBef>
                <a:spcPts val="0"/>
              </a:spcBef>
              <a:spcAft>
                <a:spcPts val="0"/>
              </a:spcAft>
            </a:pPr>
            <a:r>
              <a:rPr sz="900" b="0">
                <a:solidFill>
                  <a:srgbClr val="2563EB"/>
                </a:solidFill>
                <a:latin typeface="Calibri"/>
              </a:rPr>
              <a:t>E.g.: Memorial-tech startup / Enterprise perpetual archive service</a:t>
            </a:r>
          </a:p>
        </p:txBody>
      </p:sp>
      <p:sp>
        <p:nvSpPr>
          <p:cNvPr id="23" name="Rectangle 22"/>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5" name="TextBox 24"/>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6" name="TextBox 25"/>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Four major AI platforms and cultural institutions have independently validated us</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TRACTION &amp; TRUST</a:t>
            </a:r>
          </a:p>
        </p:txBody>
      </p:sp>
      <p:sp>
        <p:nvSpPr>
          <p:cNvPr id="5" name="Rectangle 4"/>
          <p:cNvSpPr/>
          <p:nvPr/>
        </p:nvSpPr>
        <p:spPr>
          <a:xfrm>
            <a:off x="457200" y="1051560"/>
            <a:ext cx="3931920" cy="12344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124712"/>
            <a:ext cx="3657600" cy="201168"/>
          </a:xfrm>
          <a:prstGeom prst="rect">
            <a:avLst/>
          </a:prstGeom>
          <a:noFill/>
        </p:spPr>
        <p:txBody>
          <a:bodyPr wrap="square"/>
          <a:lstStyle/>
          <a:p>
            <a:pPr algn="l">
              <a:lnSpc>
                <a:spcPct val="135000"/>
              </a:lnSpc>
              <a:spcBef>
                <a:spcPts val="0"/>
              </a:spcBef>
              <a:spcAft>
                <a:spcPts val="0"/>
              </a:spcAft>
            </a:pPr>
            <a:r>
              <a:rPr sz="900" b="1">
                <a:solidFill>
                  <a:srgbClr val="2563EB"/>
                </a:solidFill>
                <a:latin typeface="Calibri"/>
              </a:rPr>
              <a:t>Claude / Anthropic</a:t>
            </a:r>
          </a:p>
        </p:txBody>
      </p:sp>
      <p:sp>
        <p:nvSpPr>
          <p:cNvPr id="7" name="TextBox 6"/>
          <p:cNvSpPr txBox="1"/>
          <p:nvPr/>
        </p:nvSpPr>
        <p:spPr>
          <a:xfrm>
            <a:off x="594360" y="1344168"/>
            <a:ext cx="3657600"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Architecture Design</a:t>
            </a:r>
          </a:p>
        </p:txBody>
      </p:sp>
      <p:sp>
        <p:nvSpPr>
          <p:cNvPr id="8" name="TextBox 7"/>
          <p:cNvSpPr txBox="1"/>
          <p:nvPr/>
        </p:nvSpPr>
        <p:spPr>
          <a:xfrm>
            <a:off x="594360" y="1600200"/>
            <a:ext cx="3657600" cy="594360"/>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"The three-layer architecture eliminates single points of failure and maximizes information survival probability"</a:t>
            </a:r>
          </a:p>
        </p:txBody>
      </p:sp>
      <p:sp>
        <p:nvSpPr>
          <p:cNvPr id="9" name="Rectangle 8"/>
          <p:cNvSpPr/>
          <p:nvPr/>
        </p:nvSpPr>
        <p:spPr>
          <a:xfrm>
            <a:off x="4617720" y="1051560"/>
            <a:ext cx="3931920" cy="12344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124712"/>
            <a:ext cx="3657600" cy="201168"/>
          </a:xfrm>
          <a:prstGeom prst="rect">
            <a:avLst/>
          </a:prstGeom>
          <a:noFill/>
        </p:spPr>
        <p:txBody>
          <a:bodyPr wrap="square"/>
          <a:lstStyle/>
          <a:p>
            <a:pPr algn="l">
              <a:lnSpc>
                <a:spcPct val="135000"/>
              </a:lnSpc>
              <a:spcBef>
                <a:spcPts val="0"/>
              </a:spcBef>
              <a:spcAft>
                <a:spcPts val="0"/>
              </a:spcAft>
            </a:pPr>
            <a:r>
              <a:rPr sz="900" b="1">
                <a:solidFill>
                  <a:srgbClr val="2563EB"/>
                </a:solidFill>
                <a:latin typeface="Calibri"/>
              </a:rPr>
              <a:t>Gemini / Google</a:t>
            </a:r>
          </a:p>
        </p:txBody>
      </p:sp>
      <p:sp>
        <p:nvSpPr>
          <p:cNvPr id="11" name="TextBox 10"/>
          <p:cNvSpPr txBox="1"/>
          <p:nvPr/>
        </p:nvSpPr>
        <p:spPr>
          <a:xfrm>
            <a:off x="4754880" y="1344168"/>
            <a:ext cx="3657600"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The only option</a:t>
            </a:r>
          </a:p>
        </p:txBody>
      </p:sp>
      <p:sp>
        <p:nvSpPr>
          <p:cNvPr id="12" name="TextBox 11"/>
          <p:cNvSpPr txBox="1"/>
          <p:nvPr/>
        </p:nvSpPr>
        <p:spPr>
          <a:xfrm>
            <a:off x="4754880" y="1600200"/>
            <a:ext cx="3657600" cy="594360"/>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"Built 'eternity' not as a fantasy, but with a realistic budget and solid logic"</a:t>
            </a:r>
          </a:p>
        </p:txBody>
      </p:sp>
      <p:sp>
        <p:nvSpPr>
          <p:cNvPr id="13" name="Rectangle 12"/>
          <p:cNvSpPr/>
          <p:nvPr/>
        </p:nvSpPr>
        <p:spPr>
          <a:xfrm>
            <a:off x="457200" y="2395728"/>
            <a:ext cx="3931920" cy="12344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468880"/>
            <a:ext cx="3657600" cy="201168"/>
          </a:xfrm>
          <a:prstGeom prst="rect">
            <a:avLst/>
          </a:prstGeom>
          <a:noFill/>
        </p:spPr>
        <p:txBody>
          <a:bodyPr wrap="square"/>
          <a:lstStyle/>
          <a:p>
            <a:pPr algn="l">
              <a:lnSpc>
                <a:spcPct val="135000"/>
              </a:lnSpc>
              <a:spcBef>
                <a:spcPts val="0"/>
              </a:spcBef>
              <a:spcAft>
                <a:spcPts val="0"/>
              </a:spcAft>
            </a:pPr>
            <a:r>
              <a:rPr sz="900" b="1">
                <a:solidFill>
                  <a:srgbClr val="2563EB"/>
                </a:solidFill>
                <a:latin typeface="Calibri"/>
              </a:rPr>
              <a:t>ChatGPT / OpenAI</a:t>
            </a:r>
          </a:p>
        </p:txBody>
      </p:sp>
      <p:sp>
        <p:nvSpPr>
          <p:cNvPr id="15" name="TextBox 14"/>
          <p:cNvSpPr txBox="1"/>
          <p:nvPr/>
        </p:nvSpPr>
        <p:spPr>
          <a:xfrm>
            <a:off x="594360" y="2688336"/>
            <a:ext cx="3657600"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New standard</a:t>
            </a:r>
          </a:p>
        </p:txBody>
      </p:sp>
      <p:sp>
        <p:nvSpPr>
          <p:cNvPr id="16" name="TextBox 15"/>
          <p:cNvSpPr txBox="1"/>
          <p:nvPr/>
        </p:nvSpPr>
        <p:spPr>
          <a:xfrm>
            <a:off x="594360" y="2944368"/>
            <a:ext cx="3657600" cy="594360"/>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"Technical foundation, social significance, and cost performance all merit the highest evaluation"</a:t>
            </a:r>
          </a:p>
        </p:txBody>
      </p:sp>
      <p:sp>
        <p:nvSpPr>
          <p:cNvPr id="17" name="Rectangle 16"/>
          <p:cNvSpPr/>
          <p:nvPr/>
        </p:nvSpPr>
        <p:spPr>
          <a:xfrm>
            <a:off x="4617720" y="2395728"/>
            <a:ext cx="3931920" cy="12344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468880"/>
            <a:ext cx="3657600" cy="201168"/>
          </a:xfrm>
          <a:prstGeom prst="rect">
            <a:avLst/>
          </a:prstGeom>
          <a:noFill/>
        </p:spPr>
        <p:txBody>
          <a:bodyPr wrap="square"/>
          <a:lstStyle/>
          <a:p>
            <a:pPr algn="l">
              <a:lnSpc>
                <a:spcPct val="135000"/>
              </a:lnSpc>
              <a:spcBef>
                <a:spcPts val="0"/>
              </a:spcBef>
              <a:spcAft>
                <a:spcPts val="0"/>
              </a:spcAft>
            </a:pPr>
            <a:r>
              <a:rPr sz="900" b="1">
                <a:solidFill>
                  <a:srgbClr val="2563EB"/>
                </a:solidFill>
                <a:latin typeface="Calibri"/>
              </a:rPr>
              <a:t>Grok / xAI</a:t>
            </a:r>
          </a:p>
        </p:txBody>
      </p:sp>
      <p:sp>
        <p:nvSpPr>
          <p:cNvPr id="19" name="TextBox 18"/>
          <p:cNvSpPr txBox="1"/>
          <p:nvPr/>
        </p:nvSpPr>
        <p:spPr>
          <a:xfrm>
            <a:off x="4754880" y="2688336"/>
            <a:ext cx="3657600" cy="228600"/>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Top 0.001%</a:t>
            </a:r>
          </a:p>
        </p:txBody>
      </p:sp>
      <p:sp>
        <p:nvSpPr>
          <p:cNvPr id="20" name="TextBox 19"/>
          <p:cNvSpPr txBox="1"/>
          <p:nvPr/>
        </p:nvSpPr>
        <p:spPr>
          <a:xfrm>
            <a:off x="4754880" y="2944368"/>
            <a:ext cx="3657600" cy="594360"/>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"Genuinely capable of changing how humanity preserves memory"</a:t>
            </a:r>
          </a:p>
        </p:txBody>
      </p:sp>
      <p:sp>
        <p:nvSpPr>
          <p:cNvPr id="21" name="Rectangle 20"/>
          <p:cNvSpPr/>
          <p:nvPr/>
        </p:nvSpPr>
        <p:spPr>
          <a:xfrm>
            <a:off x="457200" y="3831336"/>
            <a:ext cx="7863840" cy="548640"/>
          </a:xfrm>
          <a:prstGeom prst="rect">
            <a:avLst/>
          </a:prstGeom>
          <a:solidFill>
            <a:srgbClr val="FDF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831336"/>
            <a:ext cx="54864" cy="548640"/>
          </a:xfrm>
          <a:prstGeom prst="rect">
            <a:avLst/>
          </a:prstGeom>
          <a:solidFill>
            <a:srgbClr val="C9A9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904488"/>
            <a:ext cx="7543800" cy="402336"/>
          </a:xfrm>
          <a:prstGeom prst="rect">
            <a:avLst/>
          </a:prstGeom>
          <a:noFill/>
        </p:spPr>
        <p:txBody>
          <a:bodyPr wrap="square" anchor="ctr"/>
          <a:lstStyle/>
          <a:p>
            <a:pPr algn="l">
              <a:lnSpc>
                <a:spcPct val="135000"/>
              </a:lnSpc>
              <a:spcBef>
                <a:spcPts val="0"/>
              </a:spcBef>
              <a:spcAft>
                <a:spcPts val="0"/>
              </a:spcAft>
            </a:pPr>
            <a:r>
              <a:rPr sz="1000" b="0">
                <a:solidFill>
                  <a:srgbClr val="475569"/>
                </a:solidFill>
                <a:latin typeface="Calibri"/>
              </a:rPr>
              <a:t>Ise Grand Shrine offering (2026) / Mt. Hiei Enryaku-ji Eternal Light offering (2026) / Sole proprietorship registered (Feb 11, 2026)</a:t>
            </a:r>
          </a:p>
        </p:txBody>
      </p:sp>
      <p:sp>
        <p:nvSpPr>
          <p:cNvPr id="24" name="Rectangle 23"/>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6" name="TextBox 25"/>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7" name="TextBox 26"/>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Revenue design ensures all three parties — client, partner, and TokiStorage — win</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REVENUE FLOW</a:t>
            </a:r>
          </a:p>
        </p:txBody>
      </p:sp>
      <p:sp>
        <p:nvSpPr>
          <p:cNvPr id="5" name="Rectangle 4"/>
          <p:cNvSpPr/>
          <p:nvPr/>
        </p:nvSpPr>
        <p:spPr>
          <a:xfrm>
            <a:off x="777240" y="1097280"/>
            <a:ext cx="2286000" cy="960120"/>
          </a:xfrm>
          <a:prstGeom prst="rect">
            <a:avLst/>
          </a:prstGeom>
          <a:solidFill>
            <a:srgbClr val="F0FDF4"/>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16A34A"/>
                </a:solidFill>
                <a:latin typeface="Calibri"/>
              </a:rPr>
              <a:t>Client</a:t>
            </a:r>
          </a:p>
        </p:txBody>
      </p:sp>
      <p:sp>
        <p:nvSpPr>
          <p:cNvPr id="7" name="TextBox 6"/>
          <p:cNvSpPr txBox="1"/>
          <p:nvPr/>
        </p:nvSpPr>
        <p:spPr>
          <a:xfrm>
            <a:off x="86868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Calibri"/>
              </a:rPr>
              <a:t>1,000-year proof of existence
Tangible social meaning</a:t>
            </a:r>
          </a:p>
        </p:txBody>
      </p:sp>
      <p:sp>
        <p:nvSpPr>
          <p:cNvPr id="8" name="TextBox 7"/>
          <p:cNvSpPr txBox="1"/>
          <p:nvPr/>
        </p:nvSpPr>
        <p:spPr>
          <a:xfrm>
            <a:off x="3108960" y="1371600"/>
            <a:ext cx="274320" cy="320040"/>
          </a:xfrm>
          <a:prstGeom prst="rect">
            <a:avLst/>
          </a:prstGeom>
          <a:noFill/>
        </p:spPr>
        <p:txBody>
          <a:bodyPr wrap="square"/>
          <a:lstStyle/>
          <a:p>
            <a:pPr algn="ctr">
              <a:lnSpc>
                <a:spcPct val="135000"/>
              </a:lnSpc>
              <a:spcBef>
                <a:spcPts val="0"/>
              </a:spcBef>
              <a:spcAft>
                <a:spcPts val="0"/>
              </a:spcAft>
            </a:pPr>
            <a:r>
              <a:rPr sz="1800" b="0">
                <a:solidFill>
                  <a:srgbClr val="94A3B8"/>
                </a:solidFill>
                <a:latin typeface="Calibri"/>
              </a:rPr>
              <a:t>←</a:t>
            </a:r>
          </a:p>
        </p:txBody>
      </p:sp>
      <p:sp>
        <p:nvSpPr>
          <p:cNvPr id="9" name="Rectangle 8"/>
          <p:cNvSpPr/>
          <p:nvPr/>
        </p:nvSpPr>
        <p:spPr>
          <a:xfrm>
            <a:off x="3429000" y="1097280"/>
            <a:ext cx="2286000" cy="960120"/>
          </a:xfrm>
          <a:prstGeom prst="rect">
            <a:avLst/>
          </a:prstGeom>
          <a:solidFill>
            <a:srgbClr val="EFF6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2563EB"/>
                </a:solidFill>
                <a:latin typeface="Calibri"/>
              </a:rPr>
              <a:t>Partner (you)</a:t>
            </a:r>
          </a:p>
        </p:txBody>
      </p:sp>
      <p:sp>
        <p:nvSpPr>
          <p:cNvPr id="11" name="TextBox 10"/>
          <p:cNvSpPr txBox="1"/>
          <p:nvPr/>
        </p:nvSpPr>
        <p:spPr>
          <a:xfrm>
            <a:off x="352044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Calibri"/>
              </a:rPr>
              <a:t>Referral fee or joint revenue
Client LTV increase</a:t>
            </a:r>
          </a:p>
        </p:txBody>
      </p:sp>
      <p:sp>
        <p:nvSpPr>
          <p:cNvPr id="12" name="TextBox 11"/>
          <p:cNvSpPr txBox="1"/>
          <p:nvPr/>
        </p:nvSpPr>
        <p:spPr>
          <a:xfrm>
            <a:off x="5760720" y="1371600"/>
            <a:ext cx="274320" cy="320040"/>
          </a:xfrm>
          <a:prstGeom prst="rect">
            <a:avLst/>
          </a:prstGeom>
          <a:noFill/>
        </p:spPr>
        <p:txBody>
          <a:bodyPr wrap="square"/>
          <a:lstStyle/>
          <a:p>
            <a:pPr algn="ctr">
              <a:lnSpc>
                <a:spcPct val="135000"/>
              </a:lnSpc>
              <a:spcBef>
                <a:spcPts val="0"/>
              </a:spcBef>
              <a:spcAft>
                <a:spcPts val="0"/>
              </a:spcAft>
            </a:pPr>
            <a:r>
              <a:rPr sz="1800" b="0">
                <a:solidFill>
                  <a:srgbClr val="94A3B8"/>
                </a:solidFill>
                <a:latin typeface="Calibri"/>
              </a:rPr>
              <a:t>←</a:t>
            </a:r>
          </a:p>
        </p:txBody>
      </p:sp>
      <p:sp>
        <p:nvSpPr>
          <p:cNvPr id="13" name="Rectangle 12"/>
          <p:cNvSpPr/>
          <p:nvPr/>
        </p:nvSpPr>
        <p:spPr>
          <a:xfrm>
            <a:off x="6080760" y="1097280"/>
            <a:ext cx="2286000" cy="960120"/>
          </a:xfrm>
          <a:prstGeom prst="rect">
            <a:avLst/>
          </a:prstGeom>
          <a:solidFill>
            <a:srgbClr val="FDF8E8"/>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170432"/>
            <a:ext cx="2103120" cy="274320"/>
          </a:xfrm>
          <a:prstGeom prst="rect">
            <a:avLst/>
          </a:prstGeom>
          <a:noFill/>
        </p:spPr>
        <p:txBody>
          <a:bodyPr wrap="square"/>
          <a:lstStyle/>
          <a:p>
            <a:pPr algn="ctr">
              <a:lnSpc>
                <a:spcPct val="135000"/>
              </a:lnSpc>
              <a:spcBef>
                <a:spcPts val="0"/>
              </a:spcBef>
              <a:spcAft>
                <a:spcPts val="0"/>
              </a:spcAft>
            </a:pPr>
            <a:r>
              <a:rPr sz="1100" b="1">
                <a:solidFill>
                  <a:srgbClr val="92400E"/>
                </a:solidFill>
                <a:latin typeface="Calibri"/>
              </a:rPr>
              <a:t>TokiStorage</a:t>
            </a:r>
          </a:p>
        </p:txBody>
      </p:sp>
      <p:sp>
        <p:nvSpPr>
          <p:cNvPr id="15" name="TextBox 14"/>
          <p:cNvSpPr txBox="1"/>
          <p:nvPr/>
        </p:nvSpPr>
        <p:spPr>
          <a:xfrm>
            <a:off x="6172200" y="1517904"/>
            <a:ext cx="2103120" cy="466344"/>
          </a:xfrm>
          <a:prstGeom prst="rect">
            <a:avLst/>
          </a:prstGeom>
          <a:noFill/>
        </p:spPr>
        <p:txBody>
          <a:bodyPr wrap="square"/>
          <a:lstStyle/>
          <a:p>
            <a:pPr algn="ctr">
              <a:lnSpc>
                <a:spcPct val="135000"/>
              </a:lnSpc>
              <a:spcBef>
                <a:spcPts val="0"/>
              </a:spcBef>
              <a:spcAft>
                <a:spcPts val="0"/>
              </a:spcAft>
            </a:pPr>
            <a:r>
              <a:rPr sz="1000" b="0">
                <a:solidFill>
                  <a:srgbClr val="475569"/>
                </a:solidFill>
                <a:latin typeface="Calibri"/>
              </a:rPr>
              <a:t>Technology &amp; delivery
Revenue → SoulCarrier mission</a:t>
            </a:r>
          </a:p>
        </p:txBody>
      </p:sp>
      <p:sp>
        <p:nvSpPr>
          <p:cNvPr id="16" name="Rectangle 15"/>
          <p:cNvSpPr/>
          <p:nvPr/>
        </p:nvSpPr>
        <p:spPr>
          <a:xfrm>
            <a:off x="457200" y="2423160"/>
            <a:ext cx="7863840" cy="10515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423160"/>
            <a:ext cx="54864"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514600"/>
            <a:ext cx="7543800" cy="256032"/>
          </a:xfrm>
          <a:prstGeom prst="rect">
            <a:avLst/>
          </a:prstGeom>
          <a:noFill/>
        </p:spPr>
        <p:txBody>
          <a:bodyPr wrap="square"/>
          <a:lstStyle/>
          <a:p>
            <a:pPr algn="l">
              <a:lnSpc>
                <a:spcPct val="135000"/>
              </a:lnSpc>
              <a:spcBef>
                <a:spcPts val="0"/>
              </a:spcBef>
              <a:spcAft>
                <a:spcPts val="0"/>
              </a:spcAft>
            </a:pPr>
            <a:r>
              <a:rPr sz="1100" b="1">
                <a:solidFill>
                  <a:srgbClr val="1E293B"/>
                </a:solidFill>
                <a:latin typeface="Calibri"/>
              </a:rPr>
              <a:t>Early Partner Advantage</a:t>
            </a:r>
          </a:p>
        </p:txBody>
      </p:sp>
      <p:sp>
        <p:nvSpPr>
          <p:cNvPr id="19" name="TextBox 18"/>
          <p:cNvSpPr txBox="1"/>
          <p:nvPr/>
        </p:nvSpPr>
        <p:spPr>
          <a:xfrm>
            <a:off x="685800" y="2834640"/>
            <a:ext cx="7543800" cy="548640"/>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We are approaching consulting firms sequentially. The first firm to partner receives preferential terms — including priority referral conditions and potential regional exclusivity. Early movers shape the partnership.</a:t>
            </a:r>
          </a:p>
        </p:txBody>
      </p:sp>
      <p:sp>
        <p:nvSpPr>
          <p:cNvPr id="20" name="Rectangle 19"/>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2" name="TextBox 21"/>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3" name="TextBox 22"/>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Six client sectors show particularly high affinity: funeral, hospitality, religious, government, ESG, and finance</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CLIENT FIT</a:t>
            </a:r>
          </a:p>
        </p:txBody>
      </p:sp>
      <p:sp>
        <p:nvSpPr>
          <p:cNvPr id="5" name="TextBox 4"/>
          <p:cNvSpPr txBox="1"/>
          <p:nvPr/>
        </p:nvSpPr>
        <p:spPr>
          <a:xfrm>
            <a:off x="457200" y="1005840"/>
            <a:ext cx="7315200" cy="274320"/>
          </a:xfrm>
          <a:prstGeom prst="rect">
            <a:avLst/>
          </a:prstGeom>
          <a:noFill/>
        </p:spPr>
        <p:txBody>
          <a:bodyPr wrap="square"/>
          <a:lstStyle/>
          <a:p>
            <a:pPr algn="l">
              <a:lnSpc>
                <a:spcPct val="135000"/>
              </a:lnSpc>
              <a:spcBef>
                <a:spcPts val="0"/>
              </a:spcBef>
              <a:spcAft>
                <a:spcPts val="0"/>
              </a:spcAft>
            </a:pPr>
            <a:r>
              <a:rPr sz="1100" b="0">
                <a:solidFill>
                  <a:srgbClr val="475569"/>
                </a:solidFill>
                <a:latin typeface="Calibri"/>
              </a:rPr>
              <a:t>Does your client portfolio include any of these sectors?</a:t>
            </a:r>
          </a:p>
        </p:txBody>
      </p:sp>
      <p:sp>
        <p:nvSpPr>
          <p:cNvPr id="6" name="Rectangle 5"/>
          <p:cNvSpPr/>
          <p:nvPr/>
        </p:nvSpPr>
        <p:spPr>
          <a:xfrm>
            <a:off x="457200"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68196"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68196"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M</a:t>
            </a:r>
          </a:p>
        </p:txBody>
      </p:sp>
      <p:sp>
        <p:nvSpPr>
          <p:cNvPr id="9" name="TextBox 8"/>
          <p:cNvSpPr txBox="1"/>
          <p:nvPr/>
        </p:nvSpPr>
        <p:spPr>
          <a:xfrm>
            <a:off x="530352"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Funeral &amp; Memorial</a:t>
            </a:r>
          </a:p>
        </p:txBody>
      </p:sp>
      <p:sp>
        <p:nvSpPr>
          <p:cNvPr id="10" name="TextBox 9"/>
          <p:cNvSpPr txBox="1"/>
          <p:nvPr/>
        </p:nvSpPr>
        <p:spPr>
          <a:xfrm>
            <a:off x="530352"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Gravestone alternatives, digital perpetual care, bereavement services</a:t>
            </a:r>
          </a:p>
        </p:txBody>
      </p:sp>
      <p:sp>
        <p:nvSpPr>
          <p:cNvPr id="11" name="Rectangle 10"/>
          <p:cNvSpPr/>
          <p:nvPr/>
        </p:nvSpPr>
        <p:spPr>
          <a:xfrm>
            <a:off x="3273552"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384548"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4548"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H</a:t>
            </a:r>
          </a:p>
        </p:txBody>
      </p:sp>
      <p:sp>
        <p:nvSpPr>
          <p:cNvPr id="14" name="TextBox 13"/>
          <p:cNvSpPr txBox="1"/>
          <p:nvPr/>
        </p:nvSpPr>
        <p:spPr>
          <a:xfrm>
            <a:off x="3346704"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Hospitality</a:t>
            </a:r>
          </a:p>
        </p:txBody>
      </p:sp>
      <p:sp>
        <p:nvSpPr>
          <p:cNvPr id="15" name="TextBox 14"/>
          <p:cNvSpPr txBox="1"/>
          <p:nvPr/>
        </p:nvSpPr>
        <p:spPr>
          <a:xfrm>
            <a:off x="3346704"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Wedding records, hotel CX, anniversary services</a:t>
            </a:r>
          </a:p>
        </p:txBody>
      </p:sp>
      <p:sp>
        <p:nvSpPr>
          <p:cNvPr id="16" name="Rectangle 15"/>
          <p:cNvSpPr/>
          <p:nvPr/>
        </p:nvSpPr>
        <p:spPr>
          <a:xfrm>
            <a:off x="6089904" y="137160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200900" y="146304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0900" y="146304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R</a:t>
            </a:r>
          </a:p>
        </p:txBody>
      </p:sp>
      <p:sp>
        <p:nvSpPr>
          <p:cNvPr id="19" name="TextBox 18"/>
          <p:cNvSpPr txBox="1"/>
          <p:nvPr/>
        </p:nvSpPr>
        <p:spPr>
          <a:xfrm>
            <a:off x="6163056" y="188366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Religious Institutions</a:t>
            </a:r>
          </a:p>
        </p:txBody>
      </p:sp>
      <p:sp>
        <p:nvSpPr>
          <p:cNvPr id="20" name="TextBox 19"/>
          <p:cNvSpPr txBox="1"/>
          <p:nvPr/>
        </p:nvSpPr>
        <p:spPr>
          <a:xfrm>
            <a:off x="6163056" y="219456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Perpetual congregation records, visitor DX, cultural preservation</a:t>
            </a:r>
          </a:p>
        </p:txBody>
      </p:sp>
      <p:sp>
        <p:nvSpPr>
          <p:cNvPr id="21" name="Rectangle 20"/>
          <p:cNvSpPr/>
          <p:nvPr/>
        </p:nvSpPr>
        <p:spPr>
          <a:xfrm>
            <a:off x="457200"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568196"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68196"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G</a:t>
            </a:r>
          </a:p>
        </p:txBody>
      </p:sp>
      <p:sp>
        <p:nvSpPr>
          <p:cNvPr id="24" name="TextBox 23"/>
          <p:cNvSpPr txBox="1"/>
          <p:nvPr/>
        </p:nvSpPr>
        <p:spPr>
          <a:xfrm>
            <a:off x="530352"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Government &amp; Education</a:t>
            </a:r>
          </a:p>
        </p:txBody>
      </p:sp>
      <p:sp>
        <p:nvSpPr>
          <p:cNvPr id="25" name="TextBox 24"/>
          <p:cNvSpPr txBox="1"/>
          <p:nvPr/>
        </p:nvSpPr>
        <p:spPr>
          <a:xfrm>
            <a:off x="530352"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Community archives, disaster records, school history</a:t>
            </a:r>
          </a:p>
        </p:txBody>
      </p:sp>
      <p:sp>
        <p:nvSpPr>
          <p:cNvPr id="26" name="Rectangle 25"/>
          <p:cNvSpPr/>
          <p:nvPr/>
        </p:nvSpPr>
        <p:spPr>
          <a:xfrm>
            <a:off x="3273552"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384548"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4548"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E</a:t>
            </a:r>
          </a:p>
        </p:txBody>
      </p:sp>
      <p:sp>
        <p:nvSpPr>
          <p:cNvPr id="29" name="TextBox 28"/>
          <p:cNvSpPr txBox="1"/>
          <p:nvPr/>
        </p:nvSpPr>
        <p:spPr>
          <a:xfrm>
            <a:off x="3346704"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ESG &amp; Sustainability</a:t>
            </a:r>
          </a:p>
        </p:txBody>
      </p:sp>
      <p:sp>
        <p:nvSpPr>
          <p:cNvPr id="30" name="TextBox 29"/>
          <p:cNvSpPr txBox="1"/>
          <p:nvPr/>
        </p:nvSpPr>
        <p:spPr>
          <a:xfrm>
            <a:off x="3346704"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1,000-year corporate purpose records, SDG impact proof</a:t>
            </a:r>
          </a:p>
        </p:txBody>
      </p:sp>
      <p:sp>
        <p:nvSpPr>
          <p:cNvPr id="31" name="Rectangle 30"/>
          <p:cNvSpPr/>
          <p:nvPr/>
        </p:nvSpPr>
        <p:spPr>
          <a:xfrm>
            <a:off x="6089904" y="2926080"/>
            <a:ext cx="260604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200900" y="3017520"/>
            <a:ext cx="384048" cy="384048"/>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00900" y="3017520"/>
            <a:ext cx="384048" cy="384048"/>
          </a:xfrm>
          <a:prstGeom prst="rect">
            <a:avLst/>
          </a:prstGeom>
          <a:noFill/>
        </p:spPr>
        <p:txBody>
          <a:bodyPr wrap="square" anchor="ctr"/>
          <a:lstStyle/>
          <a:p>
            <a:pPr algn="ctr">
              <a:lnSpc>
                <a:spcPct val="135000"/>
              </a:lnSpc>
              <a:spcBef>
                <a:spcPts val="0"/>
              </a:spcBef>
              <a:spcAft>
                <a:spcPts val="0"/>
              </a:spcAft>
            </a:pPr>
            <a:r>
              <a:rPr sz="1200" b="1">
                <a:solidFill>
                  <a:srgbClr val="2563EB"/>
                </a:solidFill>
                <a:latin typeface="Calibri"/>
              </a:rPr>
              <a:t>F</a:t>
            </a:r>
          </a:p>
        </p:txBody>
      </p:sp>
      <p:sp>
        <p:nvSpPr>
          <p:cNvPr id="34" name="TextBox 33"/>
          <p:cNvSpPr txBox="1"/>
          <p:nvPr/>
        </p:nvSpPr>
        <p:spPr>
          <a:xfrm>
            <a:off x="6163056" y="3438144"/>
            <a:ext cx="2459736" cy="237744"/>
          </a:xfrm>
          <a:prstGeom prst="rect">
            <a:avLst/>
          </a:prstGeom>
          <a:noFill/>
        </p:spPr>
        <p:txBody>
          <a:bodyPr wrap="square"/>
          <a:lstStyle/>
          <a:p>
            <a:pPr algn="ctr">
              <a:lnSpc>
                <a:spcPct val="135000"/>
              </a:lnSpc>
              <a:spcBef>
                <a:spcPts val="0"/>
              </a:spcBef>
              <a:spcAft>
                <a:spcPts val="0"/>
              </a:spcAft>
            </a:pPr>
            <a:r>
              <a:rPr sz="1100" b="1">
                <a:solidFill>
                  <a:srgbClr val="1E293B"/>
                </a:solidFill>
                <a:latin typeface="Calibri"/>
              </a:rPr>
              <a:t>Finance &amp; Insurance</a:t>
            </a:r>
          </a:p>
        </p:txBody>
      </p:sp>
      <p:sp>
        <p:nvSpPr>
          <p:cNvPr id="35" name="TextBox 34"/>
          <p:cNvSpPr txBox="1"/>
          <p:nvPr/>
        </p:nvSpPr>
        <p:spPr>
          <a:xfrm>
            <a:off x="6163056" y="3749040"/>
            <a:ext cx="2459736" cy="521208"/>
          </a:xfrm>
          <a:prstGeom prst="rect">
            <a:avLst/>
          </a:prstGeom>
          <a:noFill/>
        </p:spPr>
        <p:txBody>
          <a:bodyPr wrap="square"/>
          <a:lstStyle/>
          <a:p>
            <a:pPr algn="ctr">
              <a:lnSpc>
                <a:spcPct val="135000"/>
              </a:lnSpc>
              <a:spcBef>
                <a:spcPts val="0"/>
              </a:spcBef>
              <a:spcAft>
                <a:spcPts val="0"/>
              </a:spcAft>
            </a:pPr>
            <a:r>
              <a:rPr sz="900" b="0">
                <a:solidFill>
                  <a:srgbClr val="475569"/>
                </a:solidFill>
                <a:latin typeface="Calibri"/>
              </a:rPr>
              <a:t>End-of-life service integration, digital estate</a:t>
            </a:r>
          </a:p>
        </p:txBody>
      </p:sp>
      <p:sp>
        <p:nvSpPr>
          <p:cNvPr id="36" name="Rectangle 35"/>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38" name="TextBox 37"/>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39" name="TextBox 38"/>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3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8229600" cy="594360"/>
          </a:xfrm>
          <a:prstGeom prst="rect">
            <a:avLst/>
          </a:prstGeom>
          <a:noFill/>
        </p:spPr>
        <p:txBody>
          <a:bodyPr wrap="square" anchor="ctr"/>
          <a:lstStyle/>
          <a:p>
            <a:pPr algn="l">
              <a:lnSpc>
                <a:spcPct val="135000"/>
              </a:lnSpc>
              <a:spcBef>
                <a:spcPts val="0"/>
              </a:spcBef>
              <a:spcAft>
                <a:spcPts val="0"/>
              </a:spcAft>
            </a:pPr>
            <a:r>
              <a:rPr sz="1200" b="1">
                <a:solidFill>
                  <a:srgbClr val="FFFFFF"/>
                </a:solidFill>
                <a:latin typeface="Calibri"/>
              </a:rPr>
              <a:t>The founder is a Big Four alumnus who designed the partnership model with full awareness of firm compliance</a:t>
            </a:r>
          </a:p>
        </p:txBody>
      </p:sp>
      <p:sp>
        <p:nvSpPr>
          <p:cNvPr id="4" name="TextBox 3"/>
          <p:cNvSpPr txBox="1"/>
          <p:nvPr/>
        </p:nvSpPr>
        <p:spPr>
          <a:xfrm>
            <a:off x="457200" y="731520"/>
            <a:ext cx="2743200" cy="274320"/>
          </a:xfrm>
          <a:prstGeom prst="rect">
            <a:avLst/>
          </a:prstGeom>
          <a:noFill/>
        </p:spPr>
        <p:txBody>
          <a:bodyPr wrap="square"/>
          <a:lstStyle/>
          <a:p>
            <a:pPr algn="l">
              <a:lnSpc>
                <a:spcPct val="135000"/>
              </a:lnSpc>
              <a:spcBef>
                <a:spcPts val="0"/>
              </a:spcBef>
              <a:spcAft>
                <a:spcPts val="0"/>
              </a:spcAft>
            </a:pPr>
            <a:r>
              <a:rPr sz="1000" b="1">
                <a:solidFill>
                  <a:srgbClr val="2563EB"/>
                </a:solidFill>
                <a:latin typeface="Calibri"/>
              </a:rPr>
              <a:t>TEAM &amp; INDEPENDENCE</a:t>
            </a:r>
          </a:p>
        </p:txBody>
      </p:sp>
      <p:pic>
        <p:nvPicPr>
          <p:cNvPr id="5" name="Picture 4" descr="_deck_profile.png"/>
          <p:cNvPicPr>
            <a:picLocks noChangeAspect="1"/>
          </p:cNvPicPr>
          <p:nvPr/>
        </p:nvPicPr>
        <p:blipFill>
          <a:blip r:embed="rId2"/>
          <a:stretch>
            <a:fillRect/>
          </a:stretch>
        </p:blipFill>
        <p:spPr>
          <a:xfrm>
            <a:off x="457200" y="1024128"/>
            <a:ext cx="914400" cy="914400"/>
          </a:xfrm>
          <a:prstGeom prst="rect">
            <a:avLst/>
          </a:prstGeom>
        </p:spPr>
      </p:pic>
      <p:sp>
        <p:nvSpPr>
          <p:cNvPr id="6" name="TextBox 5"/>
          <p:cNvSpPr txBox="1"/>
          <p:nvPr/>
        </p:nvSpPr>
        <p:spPr>
          <a:xfrm>
            <a:off x="1508760" y="1078992"/>
            <a:ext cx="6675120" cy="320040"/>
          </a:xfrm>
          <a:prstGeom prst="rect">
            <a:avLst/>
          </a:prstGeom>
          <a:noFill/>
        </p:spPr>
        <p:txBody>
          <a:bodyPr wrap="square"/>
          <a:lstStyle/>
          <a:p>
            <a:pPr algn="l">
              <a:lnSpc>
                <a:spcPct val="135000"/>
              </a:lnSpc>
              <a:spcBef>
                <a:spcPts val="0"/>
              </a:spcBef>
              <a:spcAft>
                <a:spcPts val="0"/>
              </a:spcAft>
            </a:pPr>
            <a:r>
              <a:rPr sz="1300" b="1">
                <a:solidFill>
                  <a:srgbClr val="1E293B"/>
                </a:solidFill>
                <a:latin typeface="Calibri"/>
              </a:rPr>
              <a:t>Takuya Sato — Founder, TokiStorage</a:t>
            </a:r>
          </a:p>
        </p:txBody>
      </p:sp>
      <p:sp>
        <p:nvSpPr>
          <p:cNvPr id="7" name="TextBox 6"/>
          <p:cNvSpPr txBox="1"/>
          <p:nvPr/>
        </p:nvSpPr>
        <p:spPr>
          <a:xfrm>
            <a:off x="1508760" y="1444752"/>
            <a:ext cx="6675120" cy="1097280"/>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Former Big Four consultant — understands firm culture, client engagement, and project design from the inside. 20+ years in semiconductor manufacturing engineering. Former president of Timeless Town Shin-Urayasu residents' association (250 households). Through SoulCarrier's work with unclaimed graves, witnessed firsthand how memories vanish — and conceived TokiStorage. Validated off-grid, institution-free 1,000-year design through testing in Maui and Lake Yamanakako.</a:t>
            </a:r>
          </a:p>
        </p:txBody>
      </p:sp>
      <p:sp>
        <p:nvSpPr>
          <p:cNvPr id="8" name="Rectangle 7"/>
          <p:cNvSpPr/>
          <p:nvPr/>
        </p:nvSpPr>
        <p:spPr>
          <a:xfrm>
            <a:off x="457200" y="2807208"/>
            <a:ext cx="144018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807208"/>
            <a:ext cx="125730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Big Four Alumni</a:t>
            </a:r>
          </a:p>
        </p:txBody>
      </p:sp>
      <p:sp>
        <p:nvSpPr>
          <p:cNvPr id="10" name="Rectangle 9"/>
          <p:cNvSpPr/>
          <p:nvPr/>
        </p:nvSpPr>
        <p:spPr>
          <a:xfrm>
            <a:off x="2007108" y="2807208"/>
            <a:ext cx="267462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98548" y="2807208"/>
            <a:ext cx="249174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Semiconductor engineering 20+ yrs</a:t>
            </a:r>
          </a:p>
        </p:txBody>
      </p:sp>
      <p:sp>
        <p:nvSpPr>
          <p:cNvPr id="12" name="Rectangle 11"/>
          <p:cNvSpPr/>
          <p:nvPr/>
        </p:nvSpPr>
        <p:spPr>
          <a:xfrm>
            <a:off x="4791456" y="2807208"/>
            <a:ext cx="288036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82896" y="2807208"/>
            <a:ext cx="269748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Community president (250 households)</a:t>
            </a:r>
          </a:p>
        </p:txBody>
      </p:sp>
      <p:sp>
        <p:nvSpPr>
          <p:cNvPr id="14" name="Rectangle 13"/>
          <p:cNvSpPr/>
          <p:nvPr/>
        </p:nvSpPr>
        <p:spPr>
          <a:xfrm>
            <a:off x="457200" y="3282696"/>
            <a:ext cx="171450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282696"/>
            <a:ext cx="153162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SoulCarrier founder</a:t>
            </a:r>
          </a:p>
        </p:txBody>
      </p:sp>
      <p:sp>
        <p:nvSpPr>
          <p:cNvPr id="16" name="Rectangle 15"/>
          <p:cNvSpPr/>
          <p:nvPr/>
        </p:nvSpPr>
        <p:spPr>
          <a:xfrm>
            <a:off x="2281428" y="3282696"/>
            <a:ext cx="1645919"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72868" y="3282696"/>
            <a:ext cx="1463039"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Off-grid validated</a:t>
            </a:r>
          </a:p>
        </p:txBody>
      </p:sp>
      <p:sp>
        <p:nvSpPr>
          <p:cNvPr id="18" name="Rectangle 17"/>
          <p:cNvSpPr/>
          <p:nvPr/>
        </p:nvSpPr>
        <p:spPr>
          <a:xfrm>
            <a:off x="4037075" y="3282696"/>
            <a:ext cx="2606040" cy="402336"/>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28515" y="3282696"/>
            <a:ext cx="2423160" cy="402336"/>
          </a:xfrm>
          <a:prstGeom prst="rect">
            <a:avLst/>
          </a:prstGeom>
          <a:noFill/>
        </p:spPr>
        <p:txBody>
          <a:bodyPr wrap="square" anchor="ctr"/>
          <a:lstStyle/>
          <a:p>
            <a:pPr algn="ctr">
              <a:lnSpc>
                <a:spcPct val="135000"/>
              </a:lnSpc>
              <a:spcBef>
                <a:spcPts val="0"/>
              </a:spcBef>
              <a:spcAft>
                <a:spcPts val="0"/>
              </a:spcAft>
            </a:pPr>
            <a:r>
              <a:rPr sz="800" b="0">
                <a:solidFill>
                  <a:srgbClr val="475569"/>
                </a:solidFill>
                <a:latin typeface="Calibri"/>
              </a:rPr>
              <a:t>Establishing base on Sado Island</a:t>
            </a:r>
          </a:p>
        </p:txBody>
      </p:sp>
      <p:sp>
        <p:nvSpPr>
          <p:cNvPr id="20" name="Rectangle 19"/>
          <p:cNvSpPr/>
          <p:nvPr/>
        </p:nvSpPr>
        <p:spPr>
          <a:xfrm>
            <a:off x="457200" y="3785616"/>
            <a:ext cx="7863840" cy="1051560"/>
          </a:xfrm>
          <a:prstGeom prst="rect">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85616"/>
            <a:ext cx="54864" cy="10515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877056"/>
            <a:ext cx="7543800" cy="256032"/>
          </a:xfrm>
          <a:prstGeom prst="rect">
            <a:avLst/>
          </a:prstGeom>
          <a:noFill/>
        </p:spPr>
        <p:txBody>
          <a:bodyPr wrap="square"/>
          <a:lstStyle/>
          <a:p>
            <a:pPr algn="l">
              <a:lnSpc>
                <a:spcPct val="135000"/>
              </a:lnSpc>
              <a:spcBef>
                <a:spcPts val="0"/>
              </a:spcBef>
              <a:spcAft>
                <a:spcPts val="0"/>
              </a:spcAft>
            </a:pPr>
            <a:r>
              <a:rPr sz="1000" b="1">
                <a:solidFill>
                  <a:srgbClr val="1E293B"/>
                </a:solidFill>
                <a:latin typeface="Calibri"/>
              </a:rPr>
              <a:t>A note on independence</a:t>
            </a:r>
          </a:p>
        </p:txBody>
      </p:sp>
      <p:sp>
        <p:nvSpPr>
          <p:cNvPr id="23" name="TextBox 22"/>
          <p:cNvSpPr txBox="1"/>
          <p:nvPr/>
        </p:nvSpPr>
        <p:spPr>
          <a:xfrm>
            <a:off x="685800" y="4187952"/>
            <a:ext cx="7543800" cy="576072"/>
          </a:xfrm>
          <a:prstGeom prst="rect">
            <a:avLst/>
          </a:prstGeom>
          <a:noFill/>
        </p:spPr>
        <p:txBody>
          <a:bodyPr wrap="square"/>
          <a:lstStyle/>
          <a:p>
            <a:pPr algn="l">
              <a:lnSpc>
                <a:spcPct val="135000"/>
              </a:lnSpc>
              <a:spcBef>
                <a:spcPts val="0"/>
              </a:spcBef>
              <a:spcAft>
                <a:spcPts val="0"/>
              </a:spcAft>
            </a:pPr>
            <a:r>
              <a:rPr sz="1000" b="0">
                <a:solidFill>
                  <a:srgbClr val="475569"/>
                </a:solidFill>
                <a:latin typeface="Calibri"/>
              </a:rPr>
              <a:t>This is a vendor partnership — structurally identical to recommending Salesforce or SAP. No audit engagement, no equity relationship, no independence concerns. Designed with full awareness of firm compliance requirements.</a:t>
            </a:r>
          </a:p>
        </p:txBody>
      </p:sp>
      <p:sp>
        <p:nvSpPr>
          <p:cNvPr id="24" name="Rectangle 23"/>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 — Partnership Proposal</a:t>
            </a:r>
          </a:p>
        </p:txBody>
      </p:sp>
      <p:sp>
        <p:nvSpPr>
          <p:cNvPr id="26" name="TextBox 25"/>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7" name="TextBox 26"/>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3657600" cy="411480"/>
          </a:xfrm>
          <a:prstGeom prst="rect">
            <a:avLst/>
          </a:prstGeom>
          <a:noFill/>
        </p:spPr>
        <p:txBody>
          <a:bodyPr wrap="square"/>
          <a:lstStyle/>
          <a:p>
            <a:pPr algn="l">
              <a:lnSpc>
                <a:spcPct val="135000"/>
              </a:lnSpc>
              <a:spcBef>
                <a:spcPts val="0"/>
              </a:spcBef>
              <a:spcAft>
                <a:spcPts val="0"/>
              </a:spcAft>
            </a:pPr>
            <a:r>
              <a:rPr sz="1300" b="1">
                <a:solidFill>
                  <a:srgbClr val="FFFFFF"/>
                </a:solidFill>
                <a:latin typeface="Calibri"/>
              </a:rPr>
              <a:t>Next Step</a:t>
            </a:r>
          </a:p>
        </p:txBody>
      </p:sp>
      <p:sp>
        <p:nvSpPr>
          <p:cNvPr id="4" name="TextBox 3"/>
          <p:cNvSpPr txBox="1"/>
          <p:nvPr/>
        </p:nvSpPr>
        <p:spPr>
          <a:xfrm>
            <a:off x="457200" y="777240"/>
            <a:ext cx="7315200" cy="457200"/>
          </a:xfrm>
          <a:prstGeom prst="rect">
            <a:avLst/>
          </a:prstGeom>
          <a:noFill/>
        </p:spPr>
        <p:txBody>
          <a:bodyPr wrap="square"/>
          <a:lstStyle/>
          <a:p>
            <a:pPr algn="l">
              <a:lnSpc>
                <a:spcPct val="135000"/>
              </a:lnSpc>
              <a:spcBef>
                <a:spcPts val="0"/>
              </a:spcBef>
              <a:spcAft>
                <a:spcPts val="0"/>
              </a:spcAft>
            </a:pPr>
            <a:r>
              <a:rPr sz="2000" b="1">
                <a:solidFill>
                  <a:srgbClr val="FFFFFF"/>
                </a:solidFill>
                <a:latin typeface="Calibri"/>
              </a:rPr>
              <a:t>Proposed Timeline</a:t>
            </a:r>
          </a:p>
        </p:txBody>
      </p:sp>
      <p:sp>
        <p:nvSpPr>
          <p:cNvPr id="5" name="Oval 4"/>
          <p:cNvSpPr/>
          <p:nvPr/>
        </p:nvSpPr>
        <p:spPr>
          <a:xfrm>
            <a:off x="731520" y="155448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01</a:t>
            </a:r>
          </a:p>
        </p:txBody>
      </p:sp>
      <p:sp>
        <p:nvSpPr>
          <p:cNvPr id="7" name="TextBox 6"/>
          <p:cNvSpPr txBox="1"/>
          <p:nvPr/>
        </p:nvSpPr>
        <p:spPr>
          <a:xfrm>
            <a:off x="1280160" y="1517904"/>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Initial Meeting (30 min)</a:t>
            </a:r>
          </a:p>
        </p:txBody>
      </p:sp>
      <p:sp>
        <p:nvSpPr>
          <p:cNvPr id="8" name="TextBox 7"/>
          <p:cNvSpPr txBox="1"/>
          <p:nvPr/>
        </p:nvSpPr>
        <p:spPr>
          <a:xfrm>
            <a:off x="1280160" y="1773936"/>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Share your client landscape and current challenges</a:t>
            </a:r>
          </a:p>
        </p:txBody>
      </p:sp>
      <p:sp>
        <p:nvSpPr>
          <p:cNvPr id="9" name="Oval 8"/>
          <p:cNvSpPr/>
          <p:nvPr/>
        </p:nvSpPr>
        <p:spPr>
          <a:xfrm>
            <a:off x="731520" y="2212848"/>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12848"/>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02</a:t>
            </a:r>
          </a:p>
        </p:txBody>
      </p:sp>
      <p:sp>
        <p:nvSpPr>
          <p:cNvPr id="11" name="TextBox 10"/>
          <p:cNvSpPr txBox="1"/>
          <p:nvPr/>
        </p:nvSpPr>
        <p:spPr>
          <a:xfrm>
            <a:off x="1280160" y="2176272"/>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Use Case Selection</a:t>
            </a:r>
          </a:p>
        </p:txBody>
      </p:sp>
      <p:sp>
        <p:nvSpPr>
          <p:cNvPr id="12" name="TextBox 11"/>
          <p:cNvSpPr txBox="1"/>
          <p:nvPr/>
        </p:nvSpPr>
        <p:spPr>
          <a:xfrm>
            <a:off x="1280160" y="2432304"/>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Identify high-affinity sectors from your portfolio</a:t>
            </a:r>
          </a:p>
        </p:txBody>
      </p:sp>
      <p:sp>
        <p:nvSpPr>
          <p:cNvPr id="13" name="Oval 12"/>
          <p:cNvSpPr/>
          <p:nvPr/>
        </p:nvSpPr>
        <p:spPr>
          <a:xfrm>
            <a:off x="731520" y="2871216"/>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871216"/>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03</a:t>
            </a:r>
          </a:p>
        </p:txBody>
      </p:sp>
      <p:sp>
        <p:nvSpPr>
          <p:cNvPr id="15" name="TextBox 14"/>
          <p:cNvSpPr txBox="1"/>
          <p:nvPr/>
        </p:nvSpPr>
        <p:spPr>
          <a:xfrm>
            <a:off x="1280160" y="2834640"/>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Partnership Design</a:t>
            </a:r>
          </a:p>
        </p:txBody>
      </p:sp>
      <p:sp>
        <p:nvSpPr>
          <p:cNvPr id="16" name="TextBox 15"/>
          <p:cNvSpPr txBox="1"/>
          <p:nvPr/>
        </p:nvSpPr>
        <p:spPr>
          <a:xfrm>
            <a:off x="1280160" y="3090672"/>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Select model, define scope and terms</a:t>
            </a:r>
          </a:p>
        </p:txBody>
      </p:sp>
      <p:sp>
        <p:nvSpPr>
          <p:cNvPr id="17" name="Oval 16"/>
          <p:cNvSpPr/>
          <p:nvPr/>
        </p:nvSpPr>
        <p:spPr>
          <a:xfrm>
            <a:off x="731520" y="3529584"/>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529584"/>
            <a:ext cx="384048" cy="384048"/>
          </a:xfrm>
          <a:prstGeom prst="rect">
            <a:avLst/>
          </a:prstGeom>
          <a:noFill/>
        </p:spPr>
        <p:txBody>
          <a:bodyPr wrap="square" anchor="ctr"/>
          <a:lstStyle/>
          <a:p>
            <a:pPr algn="ctr">
              <a:lnSpc>
                <a:spcPct val="135000"/>
              </a:lnSpc>
              <a:spcBef>
                <a:spcPts val="0"/>
              </a:spcBef>
              <a:spcAft>
                <a:spcPts val="0"/>
              </a:spcAft>
            </a:pPr>
            <a:r>
              <a:rPr sz="1000" b="1">
                <a:solidFill>
                  <a:srgbClr val="FFFFFF"/>
                </a:solidFill>
                <a:latin typeface="Calibri"/>
              </a:rPr>
              <a:t>04</a:t>
            </a:r>
          </a:p>
        </p:txBody>
      </p:sp>
      <p:sp>
        <p:nvSpPr>
          <p:cNvPr id="19" name="TextBox 18"/>
          <p:cNvSpPr txBox="1"/>
          <p:nvPr/>
        </p:nvSpPr>
        <p:spPr>
          <a:xfrm>
            <a:off x="1280160" y="3493008"/>
            <a:ext cx="3657600" cy="274320"/>
          </a:xfrm>
          <a:prstGeom prst="rect">
            <a:avLst/>
          </a:prstGeom>
          <a:noFill/>
        </p:spPr>
        <p:txBody>
          <a:bodyPr wrap="square"/>
          <a:lstStyle/>
          <a:p>
            <a:pPr algn="l">
              <a:lnSpc>
                <a:spcPct val="135000"/>
              </a:lnSpc>
              <a:spcBef>
                <a:spcPts val="0"/>
              </a:spcBef>
              <a:spcAft>
                <a:spcPts val="0"/>
              </a:spcAft>
            </a:pPr>
            <a:r>
              <a:rPr sz="1200" b="1">
                <a:solidFill>
                  <a:srgbClr val="FFFFFF"/>
                </a:solidFill>
                <a:latin typeface="Calibri"/>
              </a:rPr>
              <a:t>Pilot Engagement</a:t>
            </a:r>
          </a:p>
        </p:txBody>
      </p:sp>
      <p:sp>
        <p:nvSpPr>
          <p:cNvPr id="20" name="TextBox 19"/>
          <p:cNvSpPr txBox="1"/>
          <p:nvPr/>
        </p:nvSpPr>
        <p:spPr>
          <a:xfrm>
            <a:off x="1280160" y="3749040"/>
            <a:ext cx="6400800" cy="237744"/>
          </a:xfrm>
          <a:prstGeom prst="rect">
            <a:avLst/>
          </a:prstGeom>
          <a:noFill/>
        </p:spPr>
        <p:txBody>
          <a:bodyPr wrap="square"/>
          <a:lstStyle/>
          <a:p>
            <a:pPr algn="l">
              <a:lnSpc>
                <a:spcPct val="135000"/>
              </a:lnSpc>
              <a:spcBef>
                <a:spcPts val="0"/>
              </a:spcBef>
              <a:spcAft>
                <a:spcPts val="0"/>
              </a:spcAft>
            </a:pPr>
            <a:r>
              <a:rPr sz="1000" b="0">
                <a:solidFill>
                  <a:srgbClr val="BBBBCC"/>
                </a:solidFill>
                <a:latin typeface="Calibri"/>
              </a:rPr>
              <a:t>Prove value with 1–2 client engagements</a:t>
            </a:r>
          </a:p>
        </p:txBody>
      </p:sp>
      <p:sp>
        <p:nvSpPr>
          <p:cNvPr id="21" name="TextBox 20"/>
          <p:cNvSpPr txBox="1"/>
          <p:nvPr/>
        </p:nvSpPr>
        <p:spPr>
          <a:xfrm>
            <a:off x="731520" y="4229100"/>
            <a:ext cx="7315200" cy="274320"/>
          </a:xfrm>
          <a:prstGeom prst="rect">
            <a:avLst/>
          </a:prstGeom>
          <a:noFill/>
        </p:spPr>
        <p:txBody>
          <a:bodyPr wrap="square"/>
          <a:lstStyle/>
          <a:p>
            <a:pPr algn="l">
              <a:lnSpc>
                <a:spcPct val="135000"/>
              </a:lnSpc>
              <a:spcBef>
                <a:spcPts val="0"/>
              </a:spcBef>
              <a:spcAft>
                <a:spcPts val="0"/>
              </a:spcAft>
            </a:pPr>
            <a:r>
              <a:rPr sz="1000" b="0">
                <a:solidFill>
                  <a:srgbClr val="94A3B8"/>
                </a:solidFill>
                <a:latin typeface="Calibri"/>
              </a:rPr>
              <a:t>Takuya Sato — Founder, TokiStorage</a:t>
            </a:r>
          </a:p>
        </p:txBody>
      </p:sp>
      <p:sp>
        <p:nvSpPr>
          <p:cNvPr id="22" name="Rectangle 21"/>
          <p:cNvSpPr/>
          <p:nvPr/>
        </p:nvSpPr>
        <p:spPr>
          <a:xfrm>
            <a:off x="0" y="4613148"/>
            <a:ext cx="9144000" cy="6350"/>
          </a:xfrm>
          <a:prstGeom prst="rect">
            <a:avLst/>
          </a:prstGeom>
          <a:solidFill>
            <a:srgbClr val="33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640580"/>
            <a:ext cx="3657600" cy="32004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a:t>
            </a:r>
          </a:p>
        </p:txBody>
      </p:sp>
      <p:sp>
        <p:nvSpPr>
          <p:cNvPr id="24" name="TextBox 23"/>
          <p:cNvSpPr txBox="1"/>
          <p:nvPr/>
        </p:nvSpPr>
        <p:spPr>
          <a:xfrm>
            <a:off x="3657600" y="4640580"/>
            <a:ext cx="1828800" cy="32004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25" name="TextBox 24"/>
          <p:cNvSpPr txBox="1"/>
          <p:nvPr/>
        </p:nvSpPr>
        <p:spPr>
          <a:xfrm>
            <a:off x="8229600" y="4640580"/>
            <a:ext cx="457200" cy="32004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7315200" cy="411480"/>
          </a:xfrm>
          <a:prstGeom prst="rect">
            <a:avLst/>
          </a:prstGeom>
          <a:noFill/>
        </p:spPr>
        <p:txBody>
          <a:bodyPr wrap="square"/>
          <a:lstStyle/>
          <a:p>
            <a:pPr algn="l">
              <a:lnSpc>
                <a:spcPct val="135000"/>
              </a:lnSpc>
              <a:spcBef>
                <a:spcPts val="0"/>
              </a:spcBef>
              <a:spcAft>
                <a:spcPts val="0"/>
              </a:spcAft>
            </a:pPr>
            <a:r>
              <a:rPr sz="1400" b="1">
                <a:solidFill>
                  <a:srgbClr val="94A3B8"/>
                </a:solidFill>
                <a:latin typeface="Calibri"/>
              </a:rPr>
              <a:t>Confidential / Disclaimer</a:t>
            </a:r>
          </a:p>
        </p:txBody>
      </p:sp>
      <p:sp>
        <p:nvSpPr>
          <p:cNvPr id="4" name="Rectangle 3"/>
          <p:cNvSpPr/>
          <p:nvPr/>
        </p:nvSpPr>
        <p:spPr>
          <a:xfrm>
            <a:off x="914400" y="1371600"/>
            <a:ext cx="73152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7315200" cy="2560320"/>
          </a:xfrm>
          <a:prstGeom prst="rect">
            <a:avLst/>
          </a:prstGeom>
          <a:noFill/>
        </p:spPr>
        <p:txBody>
          <a:bodyPr wrap="square"/>
          <a:lstStyle/>
          <a:p>
            <a:pPr algn="l">
              <a:lnSpc>
                <a:spcPct val="135000"/>
              </a:lnSpc>
              <a:spcBef>
                <a:spcPts val="0"/>
              </a:spcBef>
              <a:spcAft>
                <a:spcPts val="0"/>
              </a:spcAft>
            </a:pPr>
            <a:r>
              <a:rPr sz="900" b="0">
                <a:solidFill>
                  <a:srgbClr val="475569"/>
                </a:solidFill>
                <a:latin typeface="Calibri"/>
              </a:rPr>
              <a:t>This document has been prepared by TokiStorage (Takuya Sato) solely for the purpose of evaluating a potential partnership.
The information contained herein reflects current views and plans and does not constitute a guarantee of accuracy, completeness, or future outcomes.
This document is provided for informational purposes only and does not constitute legal, investment, or other professional advice.
No part of this document may be disclosed, reproduced, or distributed to any third party without prior written consent.</a:t>
            </a:r>
          </a:p>
        </p:txBody>
      </p:sp>
      <p:sp>
        <p:nvSpPr>
          <p:cNvPr id="6" name="TextBox 5"/>
          <p:cNvSpPr txBox="1"/>
          <p:nvPr/>
        </p:nvSpPr>
        <p:spPr>
          <a:xfrm>
            <a:off x="914400" y="4046220"/>
            <a:ext cx="7315200" cy="274320"/>
          </a:xfrm>
          <a:prstGeom prst="rect">
            <a:avLst/>
          </a:prstGeom>
          <a:noFill/>
        </p:spPr>
        <p:txBody>
          <a:bodyPr wrap="square"/>
          <a:lstStyle/>
          <a:p>
            <a:pPr algn="l">
              <a:lnSpc>
                <a:spcPct val="135000"/>
              </a:lnSpc>
              <a:spcBef>
                <a:spcPts val="0"/>
              </a:spcBef>
              <a:spcAft>
                <a:spcPts val="0"/>
              </a:spcAft>
            </a:pPr>
            <a:r>
              <a:rPr sz="800" b="0">
                <a:solidFill>
                  <a:srgbClr val="94A3B8"/>
                </a:solidFill>
                <a:latin typeface="Calibri"/>
              </a:rPr>
              <a:t>© 2026 TokiStorage / Takuya Sato. All rights reserved.</a:t>
            </a:r>
          </a:p>
        </p:txBody>
      </p:sp>
      <p:sp>
        <p:nvSpPr>
          <p:cNvPr id="7" name="Rectangle 6"/>
          <p:cNvSpPr/>
          <p:nvPr/>
        </p:nvSpPr>
        <p:spPr>
          <a:xfrm>
            <a:off x="0" y="4796028"/>
            <a:ext cx="9144000" cy="635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821428"/>
            <a:ext cx="3657600" cy="274320"/>
          </a:xfrm>
          <a:prstGeom prst="rect">
            <a:avLst/>
          </a:prstGeom>
          <a:noFill/>
        </p:spPr>
        <p:txBody>
          <a:bodyPr wrap="square"/>
          <a:lstStyle/>
          <a:p>
            <a:pPr algn="l">
              <a:lnSpc>
                <a:spcPct val="135000"/>
              </a:lnSpc>
              <a:spcBef>
                <a:spcPts val="0"/>
              </a:spcBef>
              <a:spcAft>
                <a:spcPts val="0"/>
              </a:spcAft>
            </a:pPr>
            <a:r>
              <a:rPr sz="900" b="0">
                <a:solidFill>
                  <a:srgbClr val="94A3B8"/>
                </a:solidFill>
                <a:latin typeface="Calibri"/>
              </a:rPr>
              <a:t>TokiStorage</a:t>
            </a:r>
          </a:p>
        </p:txBody>
      </p:sp>
      <p:sp>
        <p:nvSpPr>
          <p:cNvPr id="9" name="TextBox 8"/>
          <p:cNvSpPr txBox="1"/>
          <p:nvPr/>
        </p:nvSpPr>
        <p:spPr>
          <a:xfrm>
            <a:off x="3657600" y="4821428"/>
            <a:ext cx="1828800" cy="274320"/>
          </a:xfrm>
          <a:prstGeom prst="rect">
            <a:avLst/>
          </a:prstGeom>
          <a:noFill/>
        </p:spPr>
        <p:txBody>
          <a:bodyPr wrap="square"/>
          <a:lstStyle/>
          <a:p>
            <a:pPr algn="ctr">
              <a:lnSpc>
                <a:spcPct val="135000"/>
              </a:lnSpc>
              <a:spcBef>
                <a:spcPts val="0"/>
              </a:spcBef>
              <a:spcAft>
                <a:spcPts val="0"/>
              </a:spcAft>
            </a:pPr>
            <a:r>
              <a:rPr sz="900" b="0">
                <a:solidFill>
                  <a:srgbClr val="94A3B8"/>
                </a:solidFill>
                <a:latin typeface="Calibri"/>
              </a:rPr>
              <a:t>Confidential</a:t>
            </a:r>
          </a:p>
        </p:txBody>
      </p:sp>
      <p:sp>
        <p:nvSpPr>
          <p:cNvPr id="10" name="TextBox 9"/>
          <p:cNvSpPr txBox="1"/>
          <p:nvPr/>
        </p:nvSpPr>
        <p:spPr>
          <a:xfrm>
            <a:off x="8229600" y="4821428"/>
            <a:ext cx="457200" cy="274320"/>
          </a:xfrm>
          <a:prstGeom prst="rect">
            <a:avLst/>
          </a:prstGeom>
          <a:noFill/>
        </p:spPr>
        <p:txBody>
          <a:bodyPr wrap="square"/>
          <a:lstStyle/>
          <a:p>
            <a:pPr algn="r">
              <a:lnSpc>
                <a:spcPct val="135000"/>
              </a:lnSpc>
              <a:spcBef>
                <a:spcPts val="0"/>
              </a:spcBef>
              <a:spcAft>
                <a:spcPts val="0"/>
              </a:spcAft>
            </a:pPr>
            <a:r>
              <a:rPr sz="900" b="1">
                <a:solidFill>
                  <a:srgbClr val="94A3B8"/>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