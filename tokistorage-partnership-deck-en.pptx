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T</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TokiQR — Free, instant experience</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Voice, face, and text in a QR code. Anyone can create one for free on their smartphone, with full three-layer distributed storage. Proprietary encoding technology.</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Three-Layer Distributed Storage</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Physical (quartz glass/laminate), National (National Diet Library legal deposit), Private (GitHub). 3-2-1 backup rule compliant. Zero single points of failure.</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Coach &amp;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with certified coaches and ambassadors running workshops nationwide. A decentralized movement.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Storage structure</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Cloud-centralized</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Three-layer distributed (physical/national/private) — 3-2-1 rule compliant</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TokiQR is free — zero entry barrier for your proposals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PRICING</a:t>
            </a:r>
          </a:p>
        </p:txBody>
      </p:sp>
      <p:sp>
        <p:nvSpPr>
          <p:cNvPr id="5" name="TextBox 4"/>
          <p:cNvSpPr txBox="1"/>
          <p:nvPr/>
        </p:nvSpPr>
        <p:spPr>
          <a:xfrm>
            <a:off x="457200" y="100584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Calibri"/>
              </a:rPr>
              <a:t>Self-Service Products</a:t>
            </a:r>
          </a:p>
        </p:txBody>
      </p:sp>
      <p:sp>
        <p:nvSpPr>
          <p:cNvPr id="6" name="Rectangle 5"/>
          <p:cNvSpPr/>
          <p:nvPr/>
        </p:nvSpPr>
        <p:spPr>
          <a:xfrm>
            <a:off x="457200"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TokiQR</a:t>
            </a:r>
          </a:p>
        </p:txBody>
      </p:sp>
      <p:sp>
        <p:nvSpPr>
          <p:cNvPr id="8" name="TextBox 7"/>
          <p:cNvSpPr txBox="1"/>
          <p:nvPr/>
        </p:nvSpPr>
        <p:spPr>
          <a:xfrm>
            <a:off x="566928"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Calibri"/>
              </a:rPr>
              <a:t>Free</a:t>
            </a:r>
          </a:p>
        </p:txBody>
      </p:sp>
      <p:sp>
        <p:nvSpPr>
          <p:cNvPr id="9" name="TextBox 8"/>
          <p:cNvSpPr txBox="1"/>
          <p:nvPr/>
        </p:nvSpPr>
        <p:spPr>
          <a:xfrm>
            <a:off x="566928"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Voice, face, and text in a QR code. Create on any smartphone; NDL + GitHub three-layer storage.</a:t>
            </a:r>
          </a:p>
        </p:txBody>
      </p:sp>
      <p:sp>
        <p:nvSpPr>
          <p:cNvPr id="10" name="Rectangle 9"/>
          <p:cNvSpPr/>
          <p:nvPr/>
        </p:nvSpPr>
        <p:spPr>
          <a:xfrm>
            <a:off x="3273552"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UV Laminate QR</a:t>
            </a:r>
          </a:p>
        </p:txBody>
      </p:sp>
      <p:sp>
        <p:nvSpPr>
          <p:cNvPr id="12" name="TextBox 11"/>
          <p:cNvSpPr txBox="1"/>
          <p:nvPr/>
        </p:nvSpPr>
        <p:spPr>
          <a:xfrm>
            <a:off x="3383280"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Calibri"/>
              </a:rPr>
              <a:t>¥5,000 ($33)</a:t>
            </a:r>
          </a:p>
        </p:txBody>
      </p:sp>
      <p:sp>
        <p:nvSpPr>
          <p:cNvPr id="13" name="TextBox 12"/>
          <p:cNvSpPr txBox="1"/>
          <p:nvPr/>
        </p:nvSpPr>
        <p:spPr>
          <a:xfrm>
            <a:off x="3383280"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Voice QR on A4 laminate. Weather-resistant, long-term preservation.</a:t>
            </a:r>
          </a:p>
        </p:txBody>
      </p:sp>
      <p:sp>
        <p:nvSpPr>
          <p:cNvPr id="14" name="Rectangle 13"/>
          <p:cNvSpPr/>
          <p:nvPr/>
        </p:nvSpPr>
        <p:spPr>
          <a:xfrm>
            <a:off x="6089904" y="1280160"/>
            <a:ext cx="2606040" cy="13258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9632" y="1353312"/>
            <a:ext cx="238658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Quartz Glass QR</a:t>
            </a:r>
          </a:p>
        </p:txBody>
      </p:sp>
      <p:sp>
        <p:nvSpPr>
          <p:cNvPr id="16" name="TextBox 15"/>
          <p:cNvSpPr txBox="1"/>
          <p:nvPr/>
        </p:nvSpPr>
        <p:spPr>
          <a:xfrm>
            <a:off x="6199632" y="1581912"/>
            <a:ext cx="2386584" cy="274320"/>
          </a:xfrm>
          <a:prstGeom prst="rect">
            <a:avLst/>
          </a:prstGeom>
          <a:noFill/>
        </p:spPr>
        <p:txBody>
          <a:bodyPr wrap="square"/>
          <a:lstStyle/>
          <a:p>
            <a:pPr algn="l">
              <a:lnSpc>
                <a:spcPct val="135000"/>
              </a:lnSpc>
              <a:spcBef>
                <a:spcPts val="0"/>
              </a:spcBef>
              <a:spcAft>
                <a:spcPts val="0"/>
              </a:spcAft>
            </a:pPr>
            <a:r>
              <a:rPr sz="1300" b="1">
                <a:solidFill>
                  <a:srgbClr val="2563EB"/>
                </a:solidFill>
                <a:latin typeface="Calibri"/>
              </a:rPr>
              <a:t>¥50,000 ($330)</a:t>
            </a:r>
          </a:p>
        </p:txBody>
      </p:sp>
      <p:sp>
        <p:nvSpPr>
          <p:cNvPr id="17" name="TextBox 16"/>
          <p:cNvSpPr txBox="1"/>
          <p:nvPr/>
        </p:nvSpPr>
        <p:spPr>
          <a:xfrm>
            <a:off x="6199632" y="1901952"/>
            <a:ext cx="2386584" cy="612648"/>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Inscribed on quartz glass. ¥50/year. 1,000-year durability (theoretical).</a:t>
            </a:r>
          </a:p>
        </p:txBody>
      </p:sp>
      <p:sp>
        <p:nvSpPr>
          <p:cNvPr id="18" name="TextBox 17"/>
          <p:cNvSpPr txBox="1"/>
          <p:nvPr/>
        </p:nvSpPr>
        <p:spPr>
          <a:xfrm>
            <a:off x="457200" y="2788920"/>
            <a:ext cx="3657600" cy="228600"/>
          </a:xfrm>
          <a:prstGeom prst="rect">
            <a:avLst/>
          </a:prstGeom>
          <a:noFill/>
        </p:spPr>
        <p:txBody>
          <a:bodyPr wrap="square"/>
          <a:lstStyle/>
          <a:p>
            <a:pPr algn="l">
              <a:lnSpc>
                <a:spcPct val="135000"/>
              </a:lnSpc>
              <a:spcBef>
                <a:spcPts val="0"/>
              </a:spcBef>
              <a:spcAft>
                <a:spcPts val="0"/>
              </a:spcAft>
            </a:pPr>
            <a:r>
              <a:rPr sz="1000" b="1">
                <a:solidFill>
                  <a:srgbClr val="475569"/>
                </a:solidFill>
                <a:latin typeface="Calibri"/>
              </a:rPr>
              <a:t>Timeless Consulting</a:t>
            </a:r>
          </a:p>
        </p:txBody>
      </p:sp>
      <p:sp>
        <p:nvSpPr>
          <p:cNvPr id="19" name="Rectangle 18"/>
          <p:cNvSpPr/>
          <p:nvPr/>
        </p:nvSpPr>
        <p:spPr>
          <a:xfrm>
            <a:off x="457200" y="3063240"/>
            <a:ext cx="3931920" cy="1097280"/>
          </a:xfrm>
          <a:prstGeom prst="rect">
            <a:avLst/>
          </a:prstGeom>
          <a:solidFill>
            <a:srgbClr val="FFFFFF"/>
          </a:solidFill>
          <a:ln w="9525">
            <a:solidFill>
              <a:srgbClr val="C9A9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13639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Three-Generation</a:t>
            </a:r>
          </a:p>
        </p:txBody>
      </p:sp>
      <p:sp>
        <p:nvSpPr>
          <p:cNvPr id="21" name="TextBox 20"/>
          <p:cNvSpPr txBox="1"/>
          <p:nvPr/>
        </p:nvSpPr>
        <p:spPr>
          <a:xfrm>
            <a:off x="566928" y="336499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Calibri"/>
              </a:rPr>
              <a:t>¥550,000 ($3,600)</a:t>
            </a:r>
          </a:p>
        </p:txBody>
      </p:sp>
      <p:sp>
        <p:nvSpPr>
          <p:cNvPr id="22" name="TextBox 21"/>
          <p:cNvSpPr txBox="1"/>
          <p:nvPr/>
        </p:nvSpPr>
        <p:spPr>
          <a:xfrm>
            <a:off x="566928" y="365760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Three family members + on-site inscription on Sado Island. Recommended.</a:t>
            </a:r>
          </a:p>
        </p:txBody>
      </p:sp>
      <p:sp>
        <p:nvSpPr>
          <p:cNvPr id="23" name="Rectangle 22"/>
          <p:cNvSpPr/>
          <p:nvPr/>
        </p:nvSpPr>
        <p:spPr>
          <a:xfrm>
            <a:off x="4617720" y="3063240"/>
            <a:ext cx="3931920" cy="1097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3136392"/>
            <a:ext cx="3712464"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Timeless Transformation</a:t>
            </a:r>
          </a:p>
        </p:txBody>
      </p:sp>
      <p:sp>
        <p:nvSpPr>
          <p:cNvPr id="25" name="TextBox 24"/>
          <p:cNvSpPr txBox="1"/>
          <p:nvPr/>
        </p:nvSpPr>
        <p:spPr>
          <a:xfrm>
            <a:off x="4727448" y="3364992"/>
            <a:ext cx="3712464" cy="274320"/>
          </a:xfrm>
          <a:prstGeom prst="rect">
            <a:avLst/>
          </a:prstGeom>
          <a:noFill/>
        </p:spPr>
        <p:txBody>
          <a:bodyPr wrap="square"/>
          <a:lstStyle/>
          <a:p>
            <a:pPr algn="l">
              <a:lnSpc>
                <a:spcPct val="135000"/>
              </a:lnSpc>
              <a:spcBef>
                <a:spcPts val="0"/>
              </a:spcBef>
              <a:spcAft>
                <a:spcPts val="0"/>
              </a:spcAft>
            </a:pPr>
            <a:r>
              <a:rPr sz="1300" b="1">
                <a:solidFill>
                  <a:srgbClr val="C9A962"/>
                </a:solidFill>
                <a:latin typeface="Calibri"/>
              </a:rPr>
              <a:t>¥5,550,000 ($36,500)</a:t>
            </a:r>
          </a:p>
        </p:txBody>
      </p:sp>
      <p:sp>
        <p:nvSpPr>
          <p:cNvPr id="26" name="TextBox 25"/>
          <p:cNvSpPr txBox="1"/>
          <p:nvPr/>
        </p:nvSpPr>
        <p:spPr>
          <a:xfrm>
            <a:off x="4727448" y="3657600"/>
            <a:ext cx="3712464" cy="41148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Fully bespoke. Voice restoration, custom design, premium experience.</a:t>
            </a:r>
          </a:p>
        </p:txBody>
      </p:sp>
      <p:sp>
        <p:nvSpPr>
          <p:cNvPr id="27" name="Rectangle 2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9" name="TextBox 2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0" name="TextBox 2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Four major AI platforms and cultural institutions have independently validated us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TRACTION &amp; TRUST</a:t>
            </a:r>
          </a:p>
        </p:txBody>
      </p:sp>
      <p:sp>
        <p:nvSpPr>
          <p:cNvPr id="5" name="Rectangle 4"/>
          <p:cNvSpPr/>
          <p:nvPr/>
        </p:nvSpPr>
        <p:spPr>
          <a:xfrm>
            <a:off x="45720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Claude / Anthropic</a:t>
            </a:r>
          </a:p>
        </p:txBody>
      </p:sp>
      <p:sp>
        <p:nvSpPr>
          <p:cNvPr id="7" name="TextBox 6"/>
          <p:cNvSpPr txBox="1"/>
          <p:nvPr/>
        </p:nvSpPr>
        <p:spPr>
          <a:xfrm>
            <a:off x="59436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Architecture Design</a:t>
            </a:r>
          </a:p>
        </p:txBody>
      </p:sp>
      <p:sp>
        <p:nvSpPr>
          <p:cNvPr id="8" name="TextBox 7"/>
          <p:cNvSpPr txBox="1"/>
          <p:nvPr/>
        </p:nvSpPr>
        <p:spPr>
          <a:xfrm>
            <a:off x="59436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"The three-layer architecture eliminates single points of failure and maximizes information survival probability"</a:t>
            </a:r>
          </a:p>
        </p:txBody>
      </p:sp>
      <p:sp>
        <p:nvSpPr>
          <p:cNvPr id="9" name="Rectangle 8"/>
          <p:cNvSpPr/>
          <p:nvPr/>
        </p:nvSpPr>
        <p:spPr>
          <a:xfrm>
            <a:off x="461772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Gemini / Google</a:t>
            </a:r>
          </a:p>
        </p:txBody>
      </p:sp>
      <p:sp>
        <p:nvSpPr>
          <p:cNvPr id="11" name="TextBox 10"/>
          <p:cNvSpPr txBox="1"/>
          <p:nvPr/>
        </p:nvSpPr>
        <p:spPr>
          <a:xfrm>
            <a:off x="475488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The only option</a:t>
            </a:r>
          </a:p>
        </p:txBody>
      </p:sp>
      <p:sp>
        <p:nvSpPr>
          <p:cNvPr id="12" name="TextBox 11"/>
          <p:cNvSpPr txBox="1"/>
          <p:nvPr/>
        </p:nvSpPr>
        <p:spPr>
          <a:xfrm>
            <a:off x="475488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"Built 'eternity' not as a fantasy, but with a realistic budget and solid logic"</a:t>
            </a:r>
          </a:p>
        </p:txBody>
      </p:sp>
      <p:sp>
        <p:nvSpPr>
          <p:cNvPr id="13" name="Rectangle 12"/>
          <p:cNvSpPr/>
          <p:nvPr/>
        </p:nvSpPr>
        <p:spPr>
          <a:xfrm>
            <a:off x="45720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ChatGPT / OpenAI</a:t>
            </a:r>
          </a:p>
        </p:txBody>
      </p:sp>
      <p:sp>
        <p:nvSpPr>
          <p:cNvPr id="15" name="TextBox 14"/>
          <p:cNvSpPr txBox="1"/>
          <p:nvPr/>
        </p:nvSpPr>
        <p:spPr>
          <a:xfrm>
            <a:off x="59436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New standard</a:t>
            </a:r>
          </a:p>
        </p:txBody>
      </p:sp>
      <p:sp>
        <p:nvSpPr>
          <p:cNvPr id="16" name="TextBox 15"/>
          <p:cNvSpPr txBox="1"/>
          <p:nvPr/>
        </p:nvSpPr>
        <p:spPr>
          <a:xfrm>
            <a:off x="59436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"Technical foundation, social significance, and cost performance all merit the highest evaluation"</a:t>
            </a:r>
          </a:p>
        </p:txBody>
      </p:sp>
      <p:sp>
        <p:nvSpPr>
          <p:cNvPr id="17" name="Rectangle 16"/>
          <p:cNvSpPr/>
          <p:nvPr/>
        </p:nvSpPr>
        <p:spPr>
          <a:xfrm>
            <a:off x="461772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Grok / xAI</a:t>
            </a:r>
          </a:p>
        </p:txBody>
      </p:sp>
      <p:sp>
        <p:nvSpPr>
          <p:cNvPr id="19" name="TextBox 18"/>
          <p:cNvSpPr txBox="1"/>
          <p:nvPr/>
        </p:nvSpPr>
        <p:spPr>
          <a:xfrm>
            <a:off x="475488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Top 0.001%</a:t>
            </a:r>
          </a:p>
        </p:txBody>
      </p:sp>
      <p:sp>
        <p:nvSpPr>
          <p:cNvPr id="20" name="TextBox 19"/>
          <p:cNvSpPr txBox="1"/>
          <p:nvPr/>
        </p:nvSpPr>
        <p:spPr>
          <a:xfrm>
            <a:off x="475488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"Genuinely capable of changing how humanity preserves memory"</a:t>
            </a:r>
          </a:p>
        </p:txBody>
      </p:sp>
      <p:sp>
        <p:nvSpPr>
          <p:cNvPr id="21" name="Rectangle 20"/>
          <p:cNvSpPr/>
          <p:nvPr/>
        </p:nvSpPr>
        <p:spPr>
          <a:xfrm>
            <a:off x="457200" y="3831336"/>
            <a:ext cx="7863840" cy="54864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31336"/>
            <a:ext cx="54864" cy="54864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904488"/>
            <a:ext cx="7543800" cy="402336"/>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Ise Grand Shrine offering (2026) / Mt. Hiei Enryaku-ji Eternal Light offering (2026) / Sole proprietorship registered (Feb 11, 2026)</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260604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42316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Establishing base on Sado Island</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