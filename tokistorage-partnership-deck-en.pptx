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okistorage-icon-white-bg.png"/>
          <p:cNvPicPr>
            <a:picLocks noChangeAspect="1"/>
          </p:cNvPicPr>
          <p:nvPr/>
        </p:nvPicPr>
        <p:blipFill>
          <a:blip r:embed="rId2"/>
          <a:stretch>
            <a:fillRect/>
          </a:stretch>
        </p:blipFill>
        <p:spPr>
          <a:xfrm>
            <a:off x="7680960" y="365760"/>
            <a:ext cx="914400" cy="914400"/>
          </a:xfrm>
          <a:prstGeom prst="rect">
            <a:avLst/>
          </a:prstGeom>
        </p:spPr>
      </p:pic>
      <p:sp>
        <p:nvSpPr>
          <p:cNvPr id="4" name="TextBox 3"/>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5" name="TextBox 4"/>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6" name="TextBox 5"/>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7" name="Rectangle 6"/>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10" name="TextBox 9"/>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Three-Layer Distributed Storage</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Physical (quartz glass/laminate), National (National Diet Library legal deposit), Private (GitHub). Fully compliant with the 3-2-1 backup rule. Zero single points of failure.</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Storage structure</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Cloud-centralized</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Three-layer distributed (physical/national/private) — 3-2-1 rule compliant</a:t>
            </a:r>
          </a:p>
        </p:txBody>
      </p:sp>
      <p:sp>
        <p:nvSpPr>
          <p:cNvPr id="47" name="Rectangle 46"/>
          <p:cNvSpPr/>
          <p:nvPr/>
        </p:nvSpPr>
        <p:spPr>
          <a:xfrm>
            <a:off x="640080" y="4251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4251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9" name="Rectangle 48"/>
          <p:cNvSpPr/>
          <p:nvPr/>
        </p:nvSpPr>
        <p:spPr>
          <a:xfrm>
            <a:off x="2011680" y="4251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03120" y="4251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51" name="Rectangle 50"/>
          <p:cNvSpPr/>
          <p:nvPr/>
        </p:nvSpPr>
        <p:spPr>
          <a:xfrm>
            <a:off x="5212080" y="4251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303520" y="4251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53" name="Rectangle 5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55" name="TextBox 5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6" name="TextBox 5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Starting from ¥5,000 ($33) — an exceptionally low entry barrier for your proposals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PRICING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Trial Plan</a:t>
            </a:r>
          </a:p>
        </p:txBody>
      </p:sp>
      <p:sp>
        <p:nvSpPr>
          <p:cNvPr id="7" name="TextBox 6"/>
          <p:cNvSpPr txBox="1"/>
          <p:nvPr/>
        </p:nvSpPr>
        <p:spPr>
          <a:xfrm>
            <a:off x="59436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 ($33)</a:t>
            </a:r>
          </a:p>
        </p:txBody>
      </p:sp>
      <p:sp>
        <p:nvSpPr>
          <p:cNvPr id="8" name="TextBox 7"/>
          <p:cNvSpPr txBox="1"/>
          <p:nvPr/>
        </p:nvSpPr>
        <p:spPr>
          <a:xfrm>
            <a:off x="59436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Experience three-layer storage with A4 laminate. TokiQR → laminate + NDL deposit + GitHub.</a:t>
            </a:r>
          </a:p>
        </p:txBody>
      </p:sp>
      <p:sp>
        <p:nvSpPr>
          <p:cNvPr id="9" name="Rectangle 8"/>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14300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Individual Plan</a:t>
            </a:r>
          </a:p>
        </p:txBody>
      </p:sp>
      <p:sp>
        <p:nvSpPr>
          <p:cNvPr id="11" name="TextBox 10"/>
          <p:cNvSpPr txBox="1"/>
          <p:nvPr/>
        </p:nvSpPr>
        <p:spPr>
          <a:xfrm>
            <a:off x="4754880" y="143560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¥50,000 ($330)</a:t>
            </a:r>
          </a:p>
        </p:txBody>
      </p:sp>
      <p:sp>
        <p:nvSpPr>
          <p:cNvPr id="12" name="TextBox 11"/>
          <p:cNvSpPr txBox="1"/>
          <p:nvPr/>
        </p:nvSpPr>
        <p:spPr>
          <a:xfrm>
            <a:off x="4754880" y="182880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Inscribed on quartz glass. ¥50 per year. 1,000-year durability (theoretical).</a:t>
            </a:r>
          </a:p>
        </p:txBody>
      </p:sp>
      <p:sp>
        <p:nvSpPr>
          <p:cNvPr id="13" name="Rectangle 12"/>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Three-Generation</a:t>
            </a:r>
          </a:p>
        </p:txBody>
      </p:sp>
      <p:sp>
        <p:nvSpPr>
          <p:cNvPr id="15" name="TextBox 14"/>
          <p:cNvSpPr txBox="1"/>
          <p:nvPr/>
        </p:nvSpPr>
        <p:spPr>
          <a:xfrm>
            <a:off x="59436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¥550,000 ($3,600)</a:t>
            </a:r>
          </a:p>
        </p:txBody>
      </p:sp>
      <p:sp>
        <p:nvSpPr>
          <p:cNvPr id="16" name="TextBox 15"/>
          <p:cNvSpPr txBox="1"/>
          <p:nvPr/>
        </p:nvSpPr>
        <p:spPr>
          <a:xfrm>
            <a:off x="59436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Three family members + on-site inscription on Sado Island. Recommended.</a:t>
            </a:r>
          </a:p>
        </p:txBody>
      </p:sp>
      <p:sp>
        <p:nvSpPr>
          <p:cNvPr id="17" name="Rectangle 16"/>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063240"/>
            <a:ext cx="3657600" cy="27432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Voice Memorial</a:t>
            </a:r>
          </a:p>
        </p:txBody>
      </p:sp>
      <p:sp>
        <p:nvSpPr>
          <p:cNvPr id="19" name="TextBox 18"/>
          <p:cNvSpPr txBox="1"/>
          <p:nvPr/>
        </p:nvSpPr>
        <p:spPr>
          <a:xfrm>
            <a:off x="4754880" y="3355848"/>
            <a:ext cx="3657600" cy="320040"/>
          </a:xfrm>
          <a:prstGeom prst="rect">
            <a:avLst/>
          </a:prstGeom>
          <a:noFill/>
        </p:spPr>
        <p:txBody>
          <a:bodyPr wrap="square"/>
          <a:lstStyle/>
          <a:p>
            <a:pPr algn="l">
              <a:lnSpc>
                <a:spcPct val="135000"/>
              </a:lnSpc>
              <a:spcBef>
                <a:spcPts val="0"/>
              </a:spcBef>
              <a:spcAft>
                <a:spcPts val="0"/>
              </a:spcAft>
            </a:pPr>
            <a:r>
              <a:rPr sz="1400" b="1">
                <a:solidFill>
                  <a:srgbClr val="2563EB"/>
                </a:solidFill>
                <a:latin typeface="Calibri"/>
              </a:rPr>
              <a:t>¥5,550,000 ($36,500)</a:t>
            </a:r>
          </a:p>
        </p:txBody>
      </p:sp>
      <p:sp>
        <p:nvSpPr>
          <p:cNvPr id="20" name="TextBox 19"/>
          <p:cNvSpPr txBox="1"/>
          <p:nvPr/>
        </p:nvSpPr>
        <p:spPr>
          <a:xfrm>
            <a:off x="4754880" y="3749040"/>
            <a:ext cx="3657600" cy="91440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Fully bespoke. Voice restoration, custom design, premium experience.</a:t>
            </a:r>
          </a:p>
        </p:txBody>
      </p:sp>
      <p:sp>
        <p:nvSpPr>
          <p:cNvPr id="21" name="Rectangle 20"/>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3" name="TextBox 22"/>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4" name="TextBox 23"/>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major AI platforms and cultural institutions have independently validated us</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TRACTION &amp; TRUST</a:t>
            </a:r>
          </a:p>
        </p:txBody>
      </p:sp>
      <p:sp>
        <p:nvSpPr>
          <p:cNvPr id="5" name="Rectangle 4"/>
          <p:cNvSpPr/>
          <p:nvPr/>
        </p:nvSpPr>
        <p:spPr>
          <a:xfrm>
            <a:off x="457200"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Claude / Anthropic</a:t>
            </a:r>
          </a:p>
        </p:txBody>
      </p:sp>
      <p:sp>
        <p:nvSpPr>
          <p:cNvPr id="7" name="TextBox 6"/>
          <p:cNvSpPr txBox="1"/>
          <p:nvPr/>
        </p:nvSpPr>
        <p:spPr>
          <a:xfrm>
            <a:off x="594360"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Architecture Design</a:t>
            </a:r>
          </a:p>
        </p:txBody>
      </p:sp>
      <p:sp>
        <p:nvSpPr>
          <p:cNvPr id="8" name="TextBox 7"/>
          <p:cNvSpPr txBox="1"/>
          <p:nvPr/>
        </p:nvSpPr>
        <p:spPr>
          <a:xfrm>
            <a:off x="594360"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"The three-layer architecture eliminates single points of failure and maximizes information survival probability"</a:t>
            </a:r>
          </a:p>
        </p:txBody>
      </p:sp>
      <p:sp>
        <p:nvSpPr>
          <p:cNvPr id="9" name="Rectangle 8"/>
          <p:cNvSpPr/>
          <p:nvPr/>
        </p:nvSpPr>
        <p:spPr>
          <a:xfrm>
            <a:off x="3273552"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Gemini / Google</a:t>
            </a:r>
          </a:p>
        </p:txBody>
      </p:sp>
      <p:sp>
        <p:nvSpPr>
          <p:cNvPr id="11" name="TextBox 10"/>
          <p:cNvSpPr txBox="1"/>
          <p:nvPr/>
        </p:nvSpPr>
        <p:spPr>
          <a:xfrm>
            <a:off x="3410712"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Institutional Design</a:t>
            </a:r>
          </a:p>
        </p:txBody>
      </p:sp>
      <p:sp>
        <p:nvSpPr>
          <p:cNvPr id="12" name="TextBox 11"/>
          <p:cNvSpPr txBox="1"/>
          <p:nvPr/>
        </p:nvSpPr>
        <p:spPr>
          <a:xfrm>
            <a:off x="3410712"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 sophisticated design that leverages the architecture of legal systems"</a:t>
            </a:r>
          </a:p>
        </p:txBody>
      </p:sp>
      <p:sp>
        <p:nvSpPr>
          <p:cNvPr id="13" name="Rectangle 12"/>
          <p:cNvSpPr/>
          <p:nvPr/>
        </p:nvSpPr>
        <p:spPr>
          <a:xfrm>
            <a:off x="6089904" y="1051560"/>
            <a:ext cx="2606040" cy="20116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2331720" cy="228600"/>
          </a:xfrm>
          <a:prstGeom prst="rect">
            <a:avLst/>
          </a:prstGeom>
          <a:noFill/>
        </p:spPr>
        <p:txBody>
          <a:bodyPr wrap="square"/>
          <a:lstStyle/>
          <a:p>
            <a:pPr algn="l">
              <a:lnSpc>
                <a:spcPct val="135000"/>
              </a:lnSpc>
              <a:spcBef>
                <a:spcPts val="0"/>
              </a:spcBef>
              <a:spcAft>
                <a:spcPts val="0"/>
              </a:spcAft>
            </a:pPr>
            <a:r>
              <a:rPr sz="900" b="1">
                <a:solidFill>
                  <a:srgbClr val="2563EB"/>
                </a:solidFill>
                <a:latin typeface="Calibri"/>
              </a:rPr>
              <a:t>ChatGPT / OpenAI</a:t>
            </a:r>
          </a:p>
        </p:txBody>
      </p:sp>
      <p:sp>
        <p:nvSpPr>
          <p:cNvPr id="15" name="TextBox 14"/>
          <p:cNvSpPr txBox="1"/>
          <p:nvPr/>
        </p:nvSpPr>
        <p:spPr>
          <a:xfrm>
            <a:off x="6227064" y="1417320"/>
            <a:ext cx="2331720" cy="274320"/>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Cost Performance</a:t>
            </a:r>
          </a:p>
        </p:txBody>
      </p:sp>
      <p:sp>
        <p:nvSpPr>
          <p:cNvPr id="16" name="TextBox 15"/>
          <p:cNvSpPr txBox="1"/>
          <p:nvPr/>
        </p:nvSpPr>
        <p:spPr>
          <a:xfrm>
            <a:off x="6227064" y="1737360"/>
            <a:ext cx="2331720" cy="12344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"An annual cost of ¥50 is extraordinary value"</a:t>
            </a:r>
          </a:p>
        </p:txBody>
      </p:sp>
      <p:sp>
        <p:nvSpPr>
          <p:cNvPr id="17" name="Rectangle 16"/>
          <p:cNvSpPr/>
          <p:nvPr/>
        </p:nvSpPr>
        <p:spPr>
          <a:xfrm>
            <a:off x="457200" y="3246120"/>
            <a:ext cx="7863840" cy="640080"/>
          </a:xfrm>
          <a:prstGeom prst="rect">
            <a:avLst/>
          </a:prstGeom>
          <a:solidFill>
            <a:srgbClr val="FDF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246120"/>
            <a:ext cx="54864" cy="64008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37560"/>
            <a:ext cx="754380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Ise Grand Shrine offering (2026) / Mt. Hiei Enryaku-ji Eternal Light offering (2026) / Sole proprietorship registered (Feb 11, 2026)</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260604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42316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Establishing base on Sado Island</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