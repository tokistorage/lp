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Lst>
  <p:sldSz cx="9144000" cy="51435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43500"/>
          </a:xfrm>
          <a:prstGeom prst="rect">
            <a:avLst/>
          </a:prstGeom>
          <a:solidFill>
            <a:srgbClr val="1E29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tokistorage-icon-circle.png"/>
          <p:cNvPicPr>
            <a:picLocks noChangeAspect="1"/>
          </p:cNvPicPr>
          <p:nvPr/>
        </p:nvPicPr>
        <p:blipFill>
          <a:blip r:embed="rId2"/>
          <a:stretch>
            <a:fillRect/>
          </a:stretch>
        </p:blipFill>
        <p:spPr>
          <a:xfrm>
            <a:off x="7680960" y="365760"/>
            <a:ext cx="914400" cy="914400"/>
          </a:xfrm>
          <a:prstGeom prst="rect">
            <a:avLst/>
          </a:prstGeom>
        </p:spPr>
      </p:pic>
      <p:sp>
        <p:nvSpPr>
          <p:cNvPr id="4" name="TextBox 3"/>
          <p:cNvSpPr txBox="1"/>
          <p:nvPr/>
        </p:nvSpPr>
        <p:spPr>
          <a:xfrm>
            <a:off x="914400" y="640080"/>
            <a:ext cx="4572000" cy="320040"/>
          </a:xfrm>
          <a:prstGeom prst="rect">
            <a:avLst/>
          </a:prstGeom>
          <a:noFill/>
        </p:spPr>
        <p:txBody>
          <a:bodyPr wrap="square"/>
          <a:lstStyle/>
          <a:p>
            <a:pPr algn="l">
              <a:lnSpc>
                <a:spcPct val="135000"/>
              </a:lnSpc>
              <a:spcBef>
                <a:spcPts val="0"/>
              </a:spcBef>
              <a:spcAft>
                <a:spcPts val="0"/>
              </a:spcAft>
            </a:pPr>
            <a:r>
              <a:rPr sz="1000" b="0">
                <a:solidFill>
                  <a:srgbClr val="94A3B8"/>
                </a:solidFill>
                <a:latin typeface="Calibri"/>
              </a:rPr>
              <a:t>Partnership Proposal — Confidential</a:t>
            </a:r>
          </a:p>
        </p:txBody>
      </p:sp>
      <p:sp>
        <p:nvSpPr>
          <p:cNvPr id="5" name="TextBox 4"/>
          <p:cNvSpPr txBox="1"/>
          <p:nvPr/>
        </p:nvSpPr>
        <p:spPr>
          <a:xfrm>
            <a:off x="914400" y="1188720"/>
            <a:ext cx="7315200" cy="1371600"/>
          </a:xfrm>
          <a:prstGeom prst="rect">
            <a:avLst/>
          </a:prstGeom>
          <a:noFill/>
        </p:spPr>
        <p:txBody>
          <a:bodyPr wrap="square"/>
          <a:lstStyle/>
          <a:p>
            <a:pPr algn="l">
              <a:lnSpc>
                <a:spcPct val="135000"/>
              </a:lnSpc>
              <a:spcBef>
                <a:spcPts val="0"/>
              </a:spcBef>
              <a:spcAft>
                <a:spcPts val="0"/>
              </a:spcAft>
            </a:pPr>
            <a:r>
              <a:rPr sz="3000" b="1">
                <a:solidFill>
                  <a:srgbClr val="FFFFFF"/>
                </a:solidFill>
                <a:latin typeface="Calibri"/>
              </a:rPr>
              <a:t>Bring your clients
1,000-year proof of existence.</a:t>
            </a:r>
          </a:p>
        </p:txBody>
      </p:sp>
      <p:sp>
        <p:nvSpPr>
          <p:cNvPr id="6" name="TextBox 5"/>
          <p:cNvSpPr txBox="1"/>
          <p:nvPr/>
        </p:nvSpPr>
        <p:spPr>
          <a:xfrm>
            <a:off x="914400" y="2743200"/>
            <a:ext cx="6400800" cy="822960"/>
          </a:xfrm>
          <a:prstGeom prst="rect">
            <a:avLst/>
          </a:prstGeom>
          <a:noFill/>
        </p:spPr>
        <p:txBody>
          <a:bodyPr wrap="square"/>
          <a:lstStyle/>
          <a:p>
            <a:pPr algn="l">
              <a:lnSpc>
                <a:spcPct val="135000"/>
              </a:lnSpc>
              <a:spcBef>
                <a:spcPts val="0"/>
              </a:spcBef>
              <a:spcAft>
                <a:spcPts val="0"/>
              </a:spcAft>
            </a:pPr>
            <a:r>
              <a:rPr sz="1400" b="0">
                <a:solidFill>
                  <a:srgbClr val="BBBBCC"/>
                </a:solidFill>
                <a:latin typeface="Calibri"/>
              </a:rPr>
              <a:t>The technology is ready. Over 200 use cases mapped.
What's missing is the delivery network.</a:t>
            </a:r>
          </a:p>
        </p:txBody>
      </p:sp>
      <p:sp>
        <p:nvSpPr>
          <p:cNvPr id="7" name="Rectangle 6"/>
          <p:cNvSpPr/>
          <p:nvPr/>
        </p:nvSpPr>
        <p:spPr>
          <a:xfrm>
            <a:off x="0" y="4549140"/>
            <a:ext cx="9144000" cy="27432"/>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57200" y="4640580"/>
            <a:ext cx="2743200" cy="320040"/>
          </a:xfrm>
          <a:prstGeom prst="rect">
            <a:avLst/>
          </a:prstGeom>
          <a:noFill/>
        </p:spPr>
        <p:txBody>
          <a:bodyPr wrap="square"/>
          <a:lstStyle/>
          <a:p>
            <a:pPr algn="l">
              <a:lnSpc>
                <a:spcPct val="135000"/>
              </a:lnSpc>
              <a:spcBef>
                <a:spcPts val="0"/>
              </a:spcBef>
              <a:spcAft>
                <a:spcPts val="0"/>
              </a:spcAft>
            </a:pPr>
            <a:r>
              <a:rPr sz="900" b="0">
                <a:solidFill>
                  <a:srgbClr val="94A3B8"/>
                </a:solidFill>
                <a:latin typeface="Calibri"/>
              </a:rPr>
              <a:t>TokiStorage</a:t>
            </a:r>
          </a:p>
        </p:txBody>
      </p:sp>
      <p:sp>
        <p:nvSpPr>
          <p:cNvPr id="9" name="TextBox 8"/>
          <p:cNvSpPr txBox="1"/>
          <p:nvPr/>
        </p:nvSpPr>
        <p:spPr>
          <a:xfrm>
            <a:off x="3657600" y="4640580"/>
            <a:ext cx="1828800" cy="320040"/>
          </a:xfrm>
          <a:prstGeom prst="rect">
            <a:avLst/>
          </a:prstGeom>
          <a:noFill/>
        </p:spPr>
        <p:txBody>
          <a:bodyPr wrap="square"/>
          <a:lstStyle/>
          <a:p>
            <a:pPr algn="ctr">
              <a:lnSpc>
                <a:spcPct val="135000"/>
              </a:lnSpc>
              <a:spcBef>
                <a:spcPts val="0"/>
              </a:spcBef>
              <a:spcAft>
                <a:spcPts val="0"/>
              </a:spcAft>
            </a:pPr>
            <a:r>
              <a:rPr sz="900" b="0">
                <a:solidFill>
                  <a:srgbClr val="94A3B8"/>
                </a:solidFill>
                <a:latin typeface="Calibri"/>
              </a:rPr>
              <a:t>TokiStorage</a:t>
            </a:r>
          </a:p>
        </p:txBody>
      </p:sp>
      <p:sp>
        <p:nvSpPr>
          <p:cNvPr id="10" name="TextBox 9"/>
          <p:cNvSpPr txBox="1"/>
          <p:nvPr/>
        </p:nvSpPr>
        <p:spPr>
          <a:xfrm>
            <a:off x="7315200" y="4640580"/>
            <a:ext cx="1371600" cy="320040"/>
          </a:xfrm>
          <a:prstGeom prst="rect">
            <a:avLst/>
          </a:prstGeom>
          <a:noFill/>
        </p:spPr>
        <p:txBody>
          <a:bodyPr wrap="square"/>
          <a:lstStyle/>
          <a:p>
            <a:pPr algn="r">
              <a:lnSpc>
                <a:spcPct val="135000"/>
              </a:lnSpc>
              <a:spcBef>
                <a:spcPts val="0"/>
              </a:spcBef>
              <a:spcAft>
                <a:spcPts val="0"/>
              </a:spcAft>
            </a:pPr>
            <a:r>
              <a:rPr sz="900" b="0">
                <a:solidFill>
                  <a:srgbClr val="94A3B8"/>
                </a:solidFill>
                <a:latin typeface="Calibri"/>
              </a:rPr>
              <a:t>Confidential</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94360"/>
          </a:xfrm>
          <a:prstGeom prst="rect">
            <a:avLst/>
          </a:prstGeom>
          <a:solidFill>
            <a:srgbClr val="1E29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0"/>
            <a:ext cx="8229600" cy="594360"/>
          </a:xfrm>
          <a:prstGeom prst="rect">
            <a:avLst/>
          </a:prstGeom>
          <a:noFill/>
        </p:spPr>
        <p:txBody>
          <a:bodyPr wrap="square" anchor="ctr"/>
          <a:lstStyle/>
          <a:p>
            <a:pPr algn="l">
              <a:lnSpc>
                <a:spcPct val="135000"/>
              </a:lnSpc>
              <a:spcBef>
                <a:spcPts val="0"/>
              </a:spcBef>
              <a:spcAft>
                <a:spcPts val="0"/>
              </a:spcAft>
            </a:pPr>
            <a:r>
              <a:rPr sz="1200" b="1">
                <a:solidFill>
                  <a:srgbClr val="FFFFFF"/>
                </a:solidFill>
                <a:latin typeface="Calibri"/>
              </a:rPr>
              <a:t>The rise of AI and Big Tech demands consulting firms find questions that resist commoditization</a:t>
            </a:r>
          </a:p>
        </p:txBody>
      </p:sp>
      <p:sp>
        <p:nvSpPr>
          <p:cNvPr id="4" name="TextBox 3"/>
          <p:cNvSpPr txBox="1"/>
          <p:nvPr/>
        </p:nvSpPr>
        <p:spPr>
          <a:xfrm>
            <a:off x="457200" y="731520"/>
            <a:ext cx="2743200" cy="274320"/>
          </a:xfrm>
          <a:prstGeom prst="rect">
            <a:avLst/>
          </a:prstGeom>
          <a:noFill/>
        </p:spPr>
        <p:txBody>
          <a:bodyPr wrap="square"/>
          <a:lstStyle/>
          <a:p>
            <a:pPr algn="l">
              <a:lnSpc>
                <a:spcPct val="135000"/>
              </a:lnSpc>
              <a:spcBef>
                <a:spcPts val="0"/>
              </a:spcBef>
              <a:spcAft>
                <a:spcPts val="0"/>
              </a:spcAft>
            </a:pPr>
            <a:r>
              <a:rPr sz="1000" b="1">
                <a:solidFill>
                  <a:srgbClr val="2563EB"/>
                </a:solidFill>
                <a:latin typeface="Calibri"/>
              </a:rPr>
              <a:t>BACKGROUND</a:t>
            </a:r>
          </a:p>
        </p:txBody>
      </p:sp>
      <p:sp>
        <p:nvSpPr>
          <p:cNvPr id="5" name="Rectangle 4"/>
          <p:cNvSpPr/>
          <p:nvPr/>
        </p:nvSpPr>
        <p:spPr>
          <a:xfrm>
            <a:off x="457200" y="1051560"/>
            <a:ext cx="2606040" cy="3383280"/>
          </a:xfrm>
          <a:prstGeom prst="rect">
            <a:avLst/>
          </a:prstGeom>
          <a:solidFill>
            <a:srgbClr val="FFFFFF"/>
          </a:solidFill>
          <a:ln w="9525">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94360" y="1143000"/>
            <a:ext cx="548640" cy="320040"/>
          </a:xfrm>
          <a:prstGeom prst="rect">
            <a:avLst/>
          </a:prstGeom>
          <a:noFill/>
        </p:spPr>
        <p:txBody>
          <a:bodyPr wrap="square"/>
          <a:lstStyle/>
          <a:p>
            <a:pPr algn="l">
              <a:lnSpc>
                <a:spcPct val="135000"/>
              </a:lnSpc>
              <a:spcBef>
                <a:spcPts val="0"/>
              </a:spcBef>
              <a:spcAft>
                <a:spcPts val="0"/>
              </a:spcAft>
            </a:pPr>
            <a:r>
              <a:rPr sz="1500" b="1">
                <a:solidFill>
                  <a:srgbClr val="2563EB"/>
                </a:solidFill>
                <a:latin typeface="Calibri"/>
              </a:rPr>
              <a:t>01</a:t>
            </a:r>
          </a:p>
        </p:txBody>
      </p:sp>
      <p:sp>
        <p:nvSpPr>
          <p:cNvPr id="7" name="TextBox 6"/>
          <p:cNvSpPr txBox="1"/>
          <p:nvPr/>
        </p:nvSpPr>
        <p:spPr>
          <a:xfrm>
            <a:off x="594360" y="1463040"/>
            <a:ext cx="2331720" cy="457200"/>
          </a:xfrm>
          <a:prstGeom prst="rect">
            <a:avLst/>
          </a:prstGeom>
          <a:noFill/>
        </p:spPr>
        <p:txBody>
          <a:bodyPr wrap="square"/>
          <a:lstStyle/>
          <a:p>
            <a:pPr algn="l">
              <a:lnSpc>
                <a:spcPct val="135000"/>
              </a:lnSpc>
              <a:spcBef>
                <a:spcPts val="0"/>
              </a:spcBef>
              <a:spcAft>
                <a:spcPts val="0"/>
              </a:spcAft>
            </a:pPr>
            <a:r>
              <a:rPr sz="1200" b="1">
                <a:solidFill>
                  <a:srgbClr val="1E293B"/>
                </a:solidFill>
                <a:latin typeface="Calibri"/>
              </a:rPr>
              <a:t>AI is transforming consulting</a:t>
            </a:r>
          </a:p>
        </p:txBody>
      </p:sp>
      <p:sp>
        <p:nvSpPr>
          <p:cNvPr id="8" name="TextBox 7"/>
          <p:cNvSpPr txBox="1"/>
          <p:nvPr/>
        </p:nvSpPr>
        <p:spPr>
          <a:xfrm>
            <a:off x="594360" y="2011680"/>
            <a:ext cx="2331720" cy="2331720"/>
          </a:xfrm>
          <a:prstGeom prst="rect">
            <a:avLst/>
          </a:prstGeom>
          <a:noFill/>
        </p:spPr>
        <p:txBody>
          <a:bodyPr wrap="square"/>
          <a:lstStyle/>
          <a:p>
            <a:pPr algn="l">
              <a:lnSpc>
                <a:spcPct val="135000"/>
              </a:lnSpc>
              <a:spcBef>
                <a:spcPts val="0"/>
              </a:spcBef>
              <a:spcAft>
                <a:spcPts val="0"/>
              </a:spcAft>
            </a:pPr>
            <a:r>
              <a:rPr sz="1200" b="0">
                <a:solidFill>
                  <a:srgbClr val="475569"/>
                </a:solidFill>
                <a:latin typeface="Calibri"/>
              </a:rPr>
              <a:t>Generative AI is rapidly commoditizing research, analysis, and strategy frameworks. Value models built on information asymmetry face structural disruption.</a:t>
            </a:r>
          </a:p>
        </p:txBody>
      </p:sp>
      <p:sp>
        <p:nvSpPr>
          <p:cNvPr id="9" name="Rectangle 8"/>
          <p:cNvSpPr/>
          <p:nvPr/>
        </p:nvSpPr>
        <p:spPr>
          <a:xfrm>
            <a:off x="3273552" y="1051560"/>
            <a:ext cx="2606040" cy="3383280"/>
          </a:xfrm>
          <a:prstGeom prst="rect">
            <a:avLst/>
          </a:prstGeom>
          <a:solidFill>
            <a:srgbClr val="FFFFFF"/>
          </a:solidFill>
          <a:ln w="9525">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410712" y="1143000"/>
            <a:ext cx="548640" cy="320040"/>
          </a:xfrm>
          <a:prstGeom prst="rect">
            <a:avLst/>
          </a:prstGeom>
          <a:noFill/>
        </p:spPr>
        <p:txBody>
          <a:bodyPr wrap="square"/>
          <a:lstStyle/>
          <a:p>
            <a:pPr algn="l">
              <a:lnSpc>
                <a:spcPct val="135000"/>
              </a:lnSpc>
              <a:spcBef>
                <a:spcPts val="0"/>
              </a:spcBef>
              <a:spcAft>
                <a:spcPts val="0"/>
              </a:spcAft>
            </a:pPr>
            <a:r>
              <a:rPr sz="1500" b="1">
                <a:solidFill>
                  <a:srgbClr val="2563EB"/>
                </a:solidFill>
                <a:latin typeface="Calibri"/>
              </a:rPr>
              <a:t>02</a:t>
            </a:r>
          </a:p>
        </p:txBody>
      </p:sp>
      <p:sp>
        <p:nvSpPr>
          <p:cNvPr id="11" name="TextBox 10"/>
          <p:cNvSpPr txBox="1"/>
          <p:nvPr/>
        </p:nvSpPr>
        <p:spPr>
          <a:xfrm>
            <a:off x="3410712" y="1463040"/>
            <a:ext cx="2331720" cy="457200"/>
          </a:xfrm>
          <a:prstGeom prst="rect">
            <a:avLst/>
          </a:prstGeom>
          <a:noFill/>
        </p:spPr>
        <p:txBody>
          <a:bodyPr wrap="square"/>
          <a:lstStyle/>
          <a:p>
            <a:pPr algn="l">
              <a:lnSpc>
                <a:spcPct val="135000"/>
              </a:lnSpc>
              <a:spcBef>
                <a:spcPts val="0"/>
              </a:spcBef>
              <a:spcAft>
                <a:spcPts val="0"/>
              </a:spcAft>
            </a:pPr>
            <a:r>
              <a:rPr sz="1200" b="1">
                <a:solidFill>
                  <a:srgbClr val="1E293B"/>
                </a:solidFill>
                <a:latin typeface="Calibri"/>
              </a:rPr>
              <a:t>Differentiation is shrinking</a:t>
            </a:r>
          </a:p>
        </p:txBody>
      </p:sp>
      <p:sp>
        <p:nvSpPr>
          <p:cNvPr id="12" name="TextBox 11"/>
          <p:cNvSpPr txBox="1"/>
          <p:nvPr/>
        </p:nvSpPr>
        <p:spPr>
          <a:xfrm>
            <a:off x="3410712" y="2011680"/>
            <a:ext cx="2331720" cy="2331720"/>
          </a:xfrm>
          <a:prstGeom prst="rect">
            <a:avLst/>
          </a:prstGeom>
          <a:noFill/>
        </p:spPr>
        <p:txBody>
          <a:bodyPr wrap="square"/>
          <a:lstStyle/>
          <a:p>
            <a:pPr algn="l">
              <a:lnSpc>
                <a:spcPct val="135000"/>
              </a:lnSpc>
              <a:spcBef>
                <a:spcPts val="0"/>
              </a:spcBef>
              <a:spcAft>
                <a:spcPts val="0"/>
              </a:spcAft>
            </a:pPr>
            <a:r>
              <a:rPr sz="1200" b="0">
                <a:solidFill>
                  <a:srgbClr val="475569"/>
                </a:solidFill>
                <a:latin typeface="Calibri"/>
              </a:rPr>
              <a:t>Industry analysis, benchmarks, digital transformation—every firm converges on similar proposals with similar tools. The differentiator is shifting from what to propose to what questions to ask.</a:t>
            </a:r>
          </a:p>
        </p:txBody>
      </p:sp>
      <p:sp>
        <p:nvSpPr>
          <p:cNvPr id="13" name="Rectangle 12"/>
          <p:cNvSpPr/>
          <p:nvPr/>
        </p:nvSpPr>
        <p:spPr>
          <a:xfrm>
            <a:off x="6089904" y="1051560"/>
            <a:ext cx="2606040" cy="3383280"/>
          </a:xfrm>
          <a:prstGeom prst="rect">
            <a:avLst/>
          </a:prstGeom>
          <a:solidFill>
            <a:srgbClr val="FFFFFF"/>
          </a:solidFill>
          <a:ln w="9525">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227064" y="1143000"/>
            <a:ext cx="548640" cy="320040"/>
          </a:xfrm>
          <a:prstGeom prst="rect">
            <a:avLst/>
          </a:prstGeom>
          <a:noFill/>
        </p:spPr>
        <p:txBody>
          <a:bodyPr wrap="square"/>
          <a:lstStyle/>
          <a:p>
            <a:pPr algn="l">
              <a:lnSpc>
                <a:spcPct val="135000"/>
              </a:lnSpc>
              <a:spcBef>
                <a:spcPts val="0"/>
              </a:spcBef>
              <a:spcAft>
                <a:spcPts val="0"/>
              </a:spcAft>
            </a:pPr>
            <a:r>
              <a:rPr sz="1500" b="1">
                <a:solidFill>
                  <a:srgbClr val="2563EB"/>
                </a:solidFill>
                <a:latin typeface="Calibri"/>
              </a:rPr>
              <a:t>03</a:t>
            </a:r>
          </a:p>
        </p:txBody>
      </p:sp>
      <p:sp>
        <p:nvSpPr>
          <p:cNvPr id="15" name="TextBox 14"/>
          <p:cNvSpPr txBox="1"/>
          <p:nvPr/>
        </p:nvSpPr>
        <p:spPr>
          <a:xfrm>
            <a:off x="6227064" y="1463040"/>
            <a:ext cx="2331720" cy="457200"/>
          </a:xfrm>
          <a:prstGeom prst="rect">
            <a:avLst/>
          </a:prstGeom>
          <a:noFill/>
        </p:spPr>
        <p:txBody>
          <a:bodyPr wrap="square"/>
          <a:lstStyle/>
          <a:p>
            <a:pPr algn="l">
              <a:lnSpc>
                <a:spcPct val="135000"/>
              </a:lnSpc>
              <a:spcBef>
                <a:spcPts val="0"/>
              </a:spcBef>
              <a:spcAft>
                <a:spcPts val="0"/>
              </a:spcAft>
            </a:pPr>
            <a:r>
              <a:rPr sz="1200" b="1">
                <a:solidFill>
                  <a:srgbClr val="1E293B"/>
                </a:solidFill>
                <a:latin typeface="Calibri"/>
              </a:rPr>
              <a:t>The millennium question</a:t>
            </a:r>
          </a:p>
        </p:txBody>
      </p:sp>
      <p:sp>
        <p:nvSpPr>
          <p:cNvPr id="16" name="TextBox 15"/>
          <p:cNvSpPr txBox="1"/>
          <p:nvPr/>
        </p:nvSpPr>
        <p:spPr>
          <a:xfrm>
            <a:off x="6227064" y="2011680"/>
            <a:ext cx="2331720" cy="2331720"/>
          </a:xfrm>
          <a:prstGeom prst="rect">
            <a:avLst/>
          </a:prstGeom>
          <a:noFill/>
        </p:spPr>
        <p:txBody>
          <a:bodyPr wrap="square"/>
          <a:lstStyle/>
          <a:p>
            <a:pPr algn="l">
              <a:lnSpc>
                <a:spcPct val="135000"/>
              </a:lnSpc>
              <a:spcBef>
                <a:spcPts val="0"/>
              </a:spcBef>
              <a:spcAft>
                <a:spcPts val="0"/>
              </a:spcAft>
            </a:pPr>
            <a:r>
              <a:rPr sz="1200" b="0">
                <a:solidFill>
                  <a:srgbClr val="475569"/>
                </a:solidFill>
                <a:latin typeface="Calibri"/>
              </a:rPr>
              <a:t>"What will you preserve for 1,000 years?"—a question AI cannot generate. It touches clients' fundamental needs and creates proposals structurally immune to commoditization.</a:t>
            </a:r>
          </a:p>
        </p:txBody>
      </p:sp>
      <p:sp>
        <p:nvSpPr>
          <p:cNvPr id="17" name="Rectangle 16"/>
          <p:cNvSpPr/>
          <p:nvPr/>
        </p:nvSpPr>
        <p:spPr>
          <a:xfrm>
            <a:off x="0" y="4796028"/>
            <a:ext cx="9144000" cy="6350"/>
          </a:xfrm>
          <a:prstGeom prst="rect">
            <a:avLst/>
          </a:prstGeom>
          <a:solidFill>
            <a:srgbClr val="E2E8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57200" y="4821428"/>
            <a:ext cx="3657600" cy="274320"/>
          </a:xfrm>
          <a:prstGeom prst="rect">
            <a:avLst/>
          </a:prstGeom>
          <a:noFill/>
        </p:spPr>
        <p:txBody>
          <a:bodyPr wrap="square"/>
          <a:lstStyle/>
          <a:p>
            <a:pPr algn="l">
              <a:lnSpc>
                <a:spcPct val="135000"/>
              </a:lnSpc>
              <a:spcBef>
                <a:spcPts val="0"/>
              </a:spcBef>
              <a:spcAft>
                <a:spcPts val="0"/>
              </a:spcAft>
            </a:pPr>
            <a:r>
              <a:rPr sz="900" b="0">
                <a:solidFill>
                  <a:srgbClr val="94A3B8"/>
                </a:solidFill>
                <a:latin typeface="Calibri"/>
              </a:rPr>
              <a:t>TokiStorage — Partnership Proposal</a:t>
            </a:r>
          </a:p>
        </p:txBody>
      </p:sp>
      <p:sp>
        <p:nvSpPr>
          <p:cNvPr id="19" name="TextBox 18"/>
          <p:cNvSpPr txBox="1"/>
          <p:nvPr/>
        </p:nvSpPr>
        <p:spPr>
          <a:xfrm>
            <a:off x="3657600" y="4821428"/>
            <a:ext cx="1828800" cy="274320"/>
          </a:xfrm>
          <a:prstGeom prst="rect">
            <a:avLst/>
          </a:prstGeom>
          <a:noFill/>
        </p:spPr>
        <p:txBody>
          <a:bodyPr wrap="square"/>
          <a:lstStyle/>
          <a:p>
            <a:pPr algn="ctr">
              <a:lnSpc>
                <a:spcPct val="135000"/>
              </a:lnSpc>
              <a:spcBef>
                <a:spcPts val="0"/>
              </a:spcBef>
              <a:spcAft>
                <a:spcPts val="0"/>
              </a:spcAft>
            </a:pPr>
            <a:r>
              <a:rPr sz="900" b="0">
                <a:solidFill>
                  <a:srgbClr val="94A3B8"/>
                </a:solidFill>
                <a:latin typeface="Calibri"/>
              </a:rPr>
              <a:t>Confidential</a:t>
            </a:r>
          </a:p>
        </p:txBody>
      </p:sp>
      <p:sp>
        <p:nvSpPr>
          <p:cNvPr id="20" name="TextBox 19"/>
          <p:cNvSpPr txBox="1"/>
          <p:nvPr/>
        </p:nvSpPr>
        <p:spPr>
          <a:xfrm>
            <a:off x="8229600" y="4821428"/>
            <a:ext cx="457200" cy="274320"/>
          </a:xfrm>
          <a:prstGeom prst="rect">
            <a:avLst/>
          </a:prstGeom>
          <a:noFill/>
        </p:spPr>
        <p:txBody>
          <a:bodyPr wrap="square"/>
          <a:lstStyle/>
          <a:p>
            <a:pPr algn="r">
              <a:lnSpc>
                <a:spcPct val="135000"/>
              </a:lnSpc>
              <a:spcBef>
                <a:spcPts val="0"/>
              </a:spcBef>
              <a:spcAft>
                <a:spcPts val="0"/>
              </a:spcAft>
            </a:pPr>
            <a:r>
              <a:rPr sz="900" b="1">
                <a:solidFill>
                  <a:srgbClr val="94A3B8"/>
                </a:solidFill>
                <a:latin typeface="Calibri"/>
              </a:rPr>
              <a:t>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94360"/>
          </a:xfrm>
          <a:prstGeom prst="rect">
            <a:avLst/>
          </a:prstGeom>
          <a:solidFill>
            <a:srgbClr val="1E29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0"/>
            <a:ext cx="8229600" cy="594360"/>
          </a:xfrm>
          <a:prstGeom prst="rect">
            <a:avLst/>
          </a:prstGeom>
          <a:noFill/>
        </p:spPr>
        <p:txBody>
          <a:bodyPr wrap="square" anchor="ctr"/>
          <a:lstStyle/>
          <a:p>
            <a:pPr algn="l">
              <a:lnSpc>
                <a:spcPct val="135000"/>
              </a:lnSpc>
              <a:spcBef>
                <a:spcPts val="0"/>
              </a:spcBef>
              <a:spcAft>
                <a:spcPts val="0"/>
              </a:spcAft>
            </a:pPr>
            <a:r>
              <a:rPr sz="1200" b="1">
                <a:solidFill>
                  <a:srgbClr val="FFFFFF"/>
                </a:solidFill>
                <a:latin typeface="Calibri"/>
              </a:rPr>
              <a:t>TokiStorage delivers technology, use cases, intellectual foundation, and distribution as a unified design philosophy</a:t>
            </a:r>
          </a:p>
        </p:txBody>
      </p:sp>
      <p:sp>
        <p:nvSpPr>
          <p:cNvPr id="4" name="TextBox 3"/>
          <p:cNvSpPr txBox="1"/>
          <p:nvPr/>
        </p:nvSpPr>
        <p:spPr>
          <a:xfrm>
            <a:off x="457200" y="731520"/>
            <a:ext cx="2743200" cy="274320"/>
          </a:xfrm>
          <a:prstGeom prst="rect">
            <a:avLst/>
          </a:prstGeom>
          <a:noFill/>
        </p:spPr>
        <p:txBody>
          <a:bodyPr wrap="square"/>
          <a:lstStyle/>
          <a:p>
            <a:pPr algn="l">
              <a:lnSpc>
                <a:spcPct val="135000"/>
              </a:lnSpc>
              <a:spcBef>
                <a:spcPts val="0"/>
              </a:spcBef>
              <a:spcAft>
                <a:spcPts val="0"/>
              </a:spcAft>
            </a:pPr>
            <a:r>
              <a:rPr sz="1000" b="1">
                <a:solidFill>
                  <a:srgbClr val="2563EB"/>
                </a:solidFill>
                <a:latin typeface="Calibri"/>
              </a:rPr>
              <a:t>OUR OFFERING</a:t>
            </a:r>
          </a:p>
        </p:txBody>
      </p:sp>
      <p:sp>
        <p:nvSpPr>
          <p:cNvPr id="5" name="Rectangle 4"/>
          <p:cNvSpPr/>
          <p:nvPr/>
        </p:nvSpPr>
        <p:spPr>
          <a:xfrm>
            <a:off x="457200" y="1051560"/>
            <a:ext cx="3931920" cy="1783080"/>
          </a:xfrm>
          <a:prstGeom prst="rect">
            <a:avLst/>
          </a:prstGeom>
          <a:solidFill>
            <a:srgbClr val="FFFFFF"/>
          </a:solidFill>
          <a:ln w="9525">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594360" y="1188720"/>
            <a:ext cx="365760" cy="365760"/>
          </a:xfrm>
          <a:prstGeom prst="ellipse">
            <a:avLst/>
          </a:prstGeom>
          <a:solidFill>
            <a:srgbClr val="EFF6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94360" y="1188720"/>
            <a:ext cx="365760" cy="365760"/>
          </a:xfrm>
          <a:prstGeom prst="rect">
            <a:avLst/>
          </a:prstGeom>
          <a:noFill/>
        </p:spPr>
        <p:txBody>
          <a:bodyPr wrap="square" anchor="ctr"/>
          <a:lstStyle/>
          <a:p>
            <a:pPr algn="ctr">
              <a:lnSpc>
                <a:spcPct val="135000"/>
              </a:lnSpc>
              <a:spcBef>
                <a:spcPts val="0"/>
              </a:spcBef>
              <a:spcAft>
                <a:spcPts val="0"/>
              </a:spcAft>
            </a:pPr>
            <a:r>
              <a:rPr sz="1200" b="1">
                <a:solidFill>
                  <a:srgbClr val="2563EB"/>
                </a:solidFill>
                <a:latin typeface="Calibri"/>
              </a:rPr>
              <a:t>Q</a:t>
            </a:r>
          </a:p>
        </p:txBody>
      </p:sp>
      <p:sp>
        <p:nvSpPr>
          <p:cNvPr id="8" name="TextBox 7"/>
          <p:cNvSpPr txBox="1"/>
          <p:nvPr/>
        </p:nvSpPr>
        <p:spPr>
          <a:xfrm>
            <a:off x="1051560" y="1188720"/>
            <a:ext cx="3200400" cy="411480"/>
          </a:xfrm>
          <a:prstGeom prst="rect">
            <a:avLst/>
          </a:prstGeom>
          <a:noFill/>
        </p:spPr>
        <p:txBody>
          <a:bodyPr wrap="square"/>
          <a:lstStyle/>
          <a:p>
            <a:pPr algn="l">
              <a:lnSpc>
                <a:spcPct val="135000"/>
              </a:lnSpc>
              <a:spcBef>
                <a:spcPts val="0"/>
              </a:spcBef>
              <a:spcAft>
                <a:spcPts val="0"/>
              </a:spcAft>
            </a:pPr>
            <a:r>
              <a:rPr sz="1200" b="1">
                <a:solidFill>
                  <a:srgbClr val="1E293B"/>
                </a:solidFill>
                <a:latin typeface="Calibri"/>
              </a:rPr>
              <a:t>Three-Layer Distributed Storage</a:t>
            </a:r>
          </a:p>
        </p:txBody>
      </p:sp>
      <p:sp>
        <p:nvSpPr>
          <p:cNvPr id="9" name="TextBox 8"/>
          <p:cNvSpPr txBox="1"/>
          <p:nvPr/>
        </p:nvSpPr>
        <p:spPr>
          <a:xfrm>
            <a:off x="1051560" y="1709928"/>
            <a:ext cx="3200400" cy="1033272"/>
          </a:xfrm>
          <a:prstGeom prst="rect">
            <a:avLst/>
          </a:prstGeom>
          <a:noFill/>
        </p:spPr>
        <p:txBody>
          <a:bodyPr wrap="square"/>
          <a:lstStyle/>
          <a:p>
            <a:pPr algn="l">
              <a:lnSpc>
                <a:spcPct val="135000"/>
              </a:lnSpc>
              <a:spcBef>
                <a:spcPts val="0"/>
              </a:spcBef>
              <a:spcAft>
                <a:spcPts val="0"/>
              </a:spcAft>
            </a:pPr>
            <a:r>
              <a:rPr sz="1100" b="0">
                <a:solidFill>
                  <a:srgbClr val="475569"/>
                </a:solidFill>
                <a:latin typeface="Calibri"/>
              </a:rPr>
              <a:t>Physical (quartz glass/laminate), National (National Diet Library legal deposit), Private (GitHub). Fully compliant with the 3-2-1 backup rule. Zero single points of failure.</a:t>
            </a:r>
          </a:p>
        </p:txBody>
      </p:sp>
      <p:sp>
        <p:nvSpPr>
          <p:cNvPr id="10" name="Rectangle 9"/>
          <p:cNvSpPr/>
          <p:nvPr/>
        </p:nvSpPr>
        <p:spPr>
          <a:xfrm>
            <a:off x="4617720" y="1051560"/>
            <a:ext cx="3931920" cy="1783080"/>
          </a:xfrm>
          <a:prstGeom prst="rect">
            <a:avLst/>
          </a:prstGeom>
          <a:solidFill>
            <a:srgbClr val="FFFFFF"/>
          </a:solidFill>
          <a:ln w="9525">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4754880" y="1188720"/>
            <a:ext cx="365760" cy="365760"/>
          </a:xfrm>
          <a:prstGeom prst="ellipse">
            <a:avLst/>
          </a:prstGeom>
          <a:solidFill>
            <a:srgbClr val="EFF6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754880" y="1188720"/>
            <a:ext cx="365760" cy="365760"/>
          </a:xfrm>
          <a:prstGeom prst="rect">
            <a:avLst/>
          </a:prstGeom>
          <a:noFill/>
        </p:spPr>
        <p:txBody>
          <a:bodyPr wrap="square" anchor="ctr"/>
          <a:lstStyle/>
          <a:p>
            <a:pPr algn="ctr">
              <a:lnSpc>
                <a:spcPct val="135000"/>
              </a:lnSpc>
              <a:spcBef>
                <a:spcPts val="0"/>
              </a:spcBef>
              <a:spcAft>
                <a:spcPts val="0"/>
              </a:spcAft>
            </a:pPr>
            <a:r>
              <a:rPr sz="1200" b="1">
                <a:solidFill>
                  <a:srgbClr val="2563EB"/>
                </a:solidFill>
                <a:latin typeface="Calibri"/>
              </a:rPr>
              <a:t>U</a:t>
            </a:r>
          </a:p>
        </p:txBody>
      </p:sp>
      <p:sp>
        <p:nvSpPr>
          <p:cNvPr id="13" name="TextBox 12"/>
          <p:cNvSpPr txBox="1"/>
          <p:nvPr/>
        </p:nvSpPr>
        <p:spPr>
          <a:xfrm>
            <a:off x="5212080" y="1188720"/>
            <a:ext cx="3200400" cy="411480"/>
          </a:xfrm>
          <a:prstGeom prst="rect">
            <a:avLst/>
          </a:prstGeom>
          <a:noFill/>
        </p:spPr>
        <p:txBody>
          <a:bodyPr wrap="square"/>
          <a:lstStyle/>
          <a:p>
            <a:pPr algn="l">
              <a:lnSpc>
                <a:spcPct val="135000"/>
              </a:lnSpc>
              <a:spcBef>
                <a:spcPts val="0"/>
              </a:spcBef>
              <a:spcAft>
                <a:spcPts val="0"/>
              </a:spcAft>
            </a:pPr>
            <a:r>
              <a:rPr sz="1200" b="1">
                <a:solidFill>
                  <a:srgbClr val="1E293B"/>
                </a:solidFill>
                <a:latin typeface="Calibri"/>
              </a:rPr>
              <a:t>200+ use cases (organized by industry)</a:t>
            </a:r>
          </a:p>
        </p:txBody>
      </p:sp>
      <p:sp>
        <p:nvSpPr>
          <p:cNvPr id="14" name="TextBox 13"/>
          <p:cNvSpPr txBox="1"/>
          <p:nvPr/>
        </p:nvSpPr>
        <p:spPr>
          <a:xfrm>
            <a:off x="5212080" y="1709928"/>
            <a:ext cx="3200400" cy="1033272"/>
          </a:xfrm>
          <a:prstGeom prst="rect">
            <a:avLst/>
          </a:prstGeom>
          <a:noFill/>
        </p:spPr>
        <p:txBody>
          <a:bodyPr wrap="square"/>
          <a:lstStyle/>
          <a:p>
            <a:pPr algn="l">
              <a:lnSpc>
                <a:spcPct val="135000"/>
              </a:lnSpc>
              <a:spcBef>
                <a:spcPts val="0"/>
              </a:spcBef>
              <a:spcAft>
                <a:spcPts val="0"/>
              </a:spcAft>
            </a:pPr>
            <a:r>
              <a:rPr sz="1100" b="0">
                <a:solidFill>
                  <a:srgbClr val="475569"/>
                </a:solidFill>
                <a:latin typeface="Calibri"/>
              </a:rPr>
              <a:t>End-of-life, weddings, temples, schools, corporations, municipalities, NGOs, hotels, airlines. Ready for direct proposal integration.</a:t>
            </a:r>
          </a:p>
        </p:txBody>
      </p:sp>
      <p:sp>
        <p:nvSpPr>
          <p:cNvPr id="15" name="Rectangle 14"/>
          <p:cNvSpPr/>
          <p:nvPr/>
        </p:nvSpPr>
        <p:spPr>
          <a:xfrm>
            <a:off x="457200" y="2971800"/>
            <a:ext cx="3931920" cy="1783080"/>
          </a:xfrm>
          <a:prstGeom prst="rect">
            <a:avLst/>
          </a:prstGeom>
          <a:solidFill>
            <a:srgbClr val="FFFFFF"/>
          </a:solidFill>
          <a:ln w="9525">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594360" y="3108960"/>
            <a:ext cx="365760" cy="365760"/>
          </a:xfrm>
          <a:prstGeom prst="ellipse">
            <a:avLst/>
          </a:prstGeom>
          <a:solidFill>
            <a:srgbClr val="EFF6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94360" y="3108960"/>
            <a:ext cx="365760" cy="365760"/>
          </a:xfrm>
          <a:prstGeom prst="rect">
            <a:avLst/>
          </a:prstGeom>
          <a:noFill/>
        </p:spPr>
        <p:txBody>
          <a:bodyPr wrap="square" anchor="ctr"/>
          <a:lstStyle/>
          <a:p>
            <a:pPr algn="ctr">
              <a:lnSpc>
                <a:spcPct val="135000"/>
              </a:lnSpc>
              <a:spcBef>
                <a:spcPts val="0"/>
              </a:spcBef>
              <a:spcAft>
                <a:spcPts val="0"/>
              </a:spcAft>
            </a:pPr>
            <a:r>
              <a:rPr sz="1200" b="1">
                <a:solidFill>
                  <a:srgbClr val="2563EB"/>
                </a:solidFill>
                <a:latin typeface="Calibri"/>
              </a:rPr>
              <a:t>E</a:t>
            </a:r>
          </a:p>
        </p:txBody>
      </p:sp>
      <p:sp>
        <p:nvSpPr>
          <p:cNvPr id="18" name="TextBox 17"/>
          <p:cNvSpPr txBox="1"/>
          <p:nvPr/>
        </p:nvSpPr>
        <p:spPr>
          <a:xfrm>
            <a:off x="1051560" y="3108960"/>
            <a:ext cx="3200400" cy="411480"/>
          </a:xfrm>
          <a:prstGeom prst="rect">
            <a:avLst/>
          </a:prstGeom>
          <a:noFill/>
        </p:spPr>
        <p:txBody>
          <a:bodyPr wrap="square"/>
          <a:lstStyle/>
          <a:p>
            <a:pPr algn="l">
              <a:lnSpc>
                <a:spcPct val="135000"/>
              </a:lnSpc>
              <a:spcBef>
                <a:spcPts val="0"/>
              </a:spcBef>
              <a:spcAft>
                <a:spcPts val="0"/>
              </a:spcAft>
            </a:pPr>
            <a:r>
              <a:rPr sz="1200" b="1">
                <a:solidFill>
                  <a:srgbClr val="1E293B"/>
                </a:solidFill>
                <a:latin typeface="Calibri"/>
              </a:rPr>
              <a:t>70+ philosophical essays (9 domains)</a:t>
            </a:r>
          </a:p>
        </p:txBody>
      </p:sp>
      <p:sp>
        <p:nvSpPr>
          <p:cNvPr id="19" name="TextBox 18"/>
          <p:cNvSpPr txBox="1"/>
          <p:nvPr/>
        </p:nvSpPr>
        <p:spPr>
          <a:xfrm>
            <a:off x="1051560" y="3630168"/>
            <a:ext cx="3200400" cy="1033272"/>
          </a:xfrm>
          <a:prstGeom prst="rect">
            <a:avLst/>
          </a:prstGeom>
          <a:noFill/>
        </p:spPr>
        <p:txBody>
          <a:bodyPr wrap="square"/>
          <a:lstStyle/>
          <a:p>
            <a:pPr algn="l">
              <a:lnSpc>
                <a:spcPct val="135000"/>
              </a:lnSpc>
              <a:spcBef>
                <a:spcPts val="0"/>
              </a:spcBef>
              <a:spcAft>
                <a:spcPts val="0"/>
              </a:spcAft>
            </a:pPr>
            <a:r>
              <a:rPr sz="1100" b="0">
                <a:solidFill>
                  <a:srgbClr val="475569"/>
                </a:solidFill>
                <a:latin typeface="Calibri"/>
              </a:rPr>
              <a:t>Proof of existence explored across psychology, religion, economics, AI, and space. Standalone intellectual content for client proposals.</a:t>
            </a:r>
          </a:p>
        </p:txBody>
      </p:sp>
      <p:sp>
        <p:nvSpPr>
          <p:cNvPr id="20" name="Rectangle 19"/>
          <p:cNvSpPr/>
          <p:nvPr/>
        </p:nvSpPr>
        <p:spPr>
          <a:xfrm>
            <a:off x="4617720" y="2971800"/>
            <a:ext cx="3931920" cy="1783080"/>
          </a:xfrm>
          <a:prstGeom prst="rect">
            <a:avLst/>
          </a:prstGeom>
          <a:solidFill>
            <a:srgbClr val="FFFFFF"/>
          </a:solidFill>
          <a:ln w="9525">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4754880" y="3108960"/>
            <a:ext cx="365760" cy="365760"/>
          </a:xfrm>
          <a:prstGeom prst="ellipse">
            <a:avLst/>
          </a:prstGeom>
          <a:solidFill>
            <a:srgbClr val="EFF6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4754880" y="3108960"/>
            <a:ext cx="365760" cy="365760"/>
          </a:xfrm>
          <a:prstGeom prst="rect">
            <a:avLst/>
          </a:prstGeom>
          <a:noFill/>
        </p:spPr>
        <p:txBody>
          <a:bodyPr wrap="square" anchor="ctr"/>
          <a:lstStyle/>
          <a:p>
            <a:pPr algn="ctr">
              <a:lnSpc>
                <a:spcPct val="135000"/>
              </a:lnSpc>
              <a:spcBef>
                <a:spcPts val="0"/>
              </a:spcBef>
              <a:spcAft>
                <a:spcPts val="0"/>
              </a:spcAft>
            </a:pPr>
            <a:r>
              <a:rPr sz="1200" b="1">
                <a:solidFill>
                  <a:srgbClr val="2563EB"/>
                </a:solidFill>
                <a:latin typeface="Calibri"/>
              </a:rPr>
              <a:t>A</a:t>
            </a:r>
          </a:p>
        </p:txBody>
      </p:sp>
      <p:sp>
        <p:nvSpPr>
          <p:cNvPr id="23" name="TextBox 22"/>
          <p:cNvSpPr txBox="1"/>
          <p:nvPr/>
        </p:nvSpPr>
        <p:spPr>
          <a:xfrm>
            <a:off x="5212080" y="3108960"/>
            <a:ext cx="3200400" cy="411480"/>
          </a:xfrm>
          <a:prstGeom prst="rect">
            <a:avLst/>
          </a:prstGeom>
          <a:noFill/>
        </p:spPr>
        <p:txBody>
          <a:bodyPr wrap="square"/>
          <a:lstStyle/>
          <a:p>
            <a:pPr algn="l">
              <a:lnSpc>
                <a:spcPct val="135000"/>
              </a:lnSpc>
              <a:spcBef>
                <a:spcPts val="0"/>
              </a:spcBef>
              <a:spcAft>
                <a:spcPts val="0"/>
              </a:spcAft>
            </a:pPr>
            <a:r>
              <a:rPr sz="1200" b="1">
                <a:solidFill>
                  <a:srgbClr val="1E293B"/>
                </a:solidFill>
                <a:latin typeface="Calibri"/>
              </a:rPr>
              <a:t>Pearl Soap + Ambassador network</a:t>
            </a:r>
          </a:p>
        </p:txBody>
      </p:sp>
      <p:sp>
        <p:nvSpPr>
          <p:cNvPr id="24" name="TextBox 23"/>
          <p:cNvSpPr txBox="1"/>
          <p:nvPr/>
        </p:nvSpPr>
        <p:spPr>
          <a:xfrm>
            <a:off x="5212080" y="3630168"/>
            <a:ext cx="3200400" cy="1033272"/>
          </a:xfrm>
          <a:prstGeom prst="rect">
            <a:avLst/>
          </a:prstGeom>
          <a:noFill/>
        </p:spPr>
        <p:txBody>
          <a:bodyPr wrap="square"/>
          <a:lstStyle/>
          <a:p>
            <a:pPr algn="l">
              <a:lnSpc>
                <a:spcPct val="135000"/>
              </a:lnSpc>
              <a:spcBef>
                <a:spcPts val="0"/>
              </a:spcBef>
              <a:spcAft>
                <a:spcPts val="0"/>
              </a:spcAft>
            </a:pPr>
            <a:r>
              <a:rPr sz="1100" b="0">
                <a:solidFill>
                  <a:srgbClr val="475569"/>
                </a:solidFill>
                <a:latin typeface="Calibri"/>
              </a:rPr>
              <a:t>A gift-economy practice and decentralized workshop network ready to scale nationwide. Direct end-user touchpoint.</a:t>
            </a:r>
          </a:p>
        </p:txBody>
      </p:sp>
      <p:sp>
        <p:nvSpPr>
          <p:cNvPr id="25" name="Rectangle 24"/>
          <p:cNvSpPr/>
          <p:nvPr/>
        </p:nvSpPr>
        <p:spPr>
          <a:xfrm>
            <a:off x="0" y="4796028"/>
            <a:ext cx="9144000" cy="6350"/>
          </a:xfrm>
          <a:prstGeom prst="rect">
            <a:avLst/>
          </a:prstGeom>
          <a:solidFill>
            <a:srgbClr val="E2E8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457200" y="4821428"/>
            <a:ext cx="3657600" cy="274320"/>
          </a:xfrm>
          <a:prstGeom prst="rect">
            <a:avLst/>
          </a:prstGeom>
          <a:noFill/>
        </p:spPr>
        <p:txBody>
          <a:bodyPr wrap="square"/>
          <a:lstStyle/>
          <a:p>
            <a:pPr algn="l">
              <a:lnSpc>
                <a:spcPct val="135000"/>
              </a:lnSpc>
              <a:spcBef>
                <a:spcPts val="0"/>
              </a:spcBef>
              <a:spcAft>
                <a:spcPts val="0"/>
              </a:spcAft>
            </a:pPr>
            <a:r>
              <a:rPr sz="900" b="0">
                <a:solidFill>
                  <a:srgbClr val="94A3B8"/>
                </a:solidFill>
                <a:latin typeface="Calibri"/>
              </a:rPr>
              <a:t>TokiStorage — Partnership Proposal</a:t>
            </a:r>
          </a:p>
        </p:txBody>
      </p:sp>
      <p:sp>
        <p:nvSpPr>
          <p:cNvPr id="27" name="TextBox 26"/>
          <p:cNvSpPr txBox="1"/>
          <p:nvPr/>
        </p:nvSpPr>
        <p:spPr>
          <a:xfrm>
            <a:off x="3657600" y="4821428"/>
            <a:ext cx="1828800" cy="274320"/>
          </a:xfrm>
          <a:prstGeom prst="rect">
            <a:avLst/>
          </a:prstGeom>
          <a:noFill/>
        </p:spPr>
        <p:txBody>
          <a:bodyPr wrap="square"/>
          <a:lstStyle/>
          <a:p>
            <a:pPr algn="ctr">
              <a:lnSpc>
                <a:spcPct val="135000"/>
              </a:lnSpc>
              <a:spcBef>
                <a:spcPts val="0"/>
              </a:spcBef>
              <a:spcAft>
                <a:spcPts val="0"/>
              </a:spcAft>
            </a:pPr>
            <a:r>
              <a:rPr sz="900" b="0">
                <a:solidFill>
                  <a:srgbClr val="94A3B8"/>
                </a:solidFill>
                <a:latin typeface="Calibri"/>
              </a:rPr>
              <a:t>Confidential</a:t>
            </a:r>
          </a:p>
        </p:txBody>
      </p:sp>
      <p:sp>
        <p:nvSpPr>
          <p:cNvPr id="28" name="TextBox 27"/>
          <p:cNvSpPr txBox="1"/>
          <p:nvPr/>
        </p:nvSpPr>
        <p:spPr>
          <a:xfrm>
            <a:off x="8229600" y="4821428"/>
            <a:ext cx="457200" cy="274320"/>
          </a:xfrm>
          <a:prstGeom prst="rect">
            <a:avLst/>
          </a:prstGeom>
          <a:noFill/>
        </p:spPr>
        <p:txBody>
          <a:bodyPr wrap="square"/>
          <a:lstStyle/>
          <a:p>
            <a:pPr algn="r">
              <a:lnSpc>
                <a:spcPct val="135000"/>
              </a:lnSpc>
              <a:spcBef>
                <a:spcPts val="0"/>
              </a:spcBef>
              <a:spcAft>
                <a:spcPts val="0"/>
              </a:spcAft>
            </a:pPr>
            <a:r>
              <a:rPr sz="900" b="1">
                <a:solidFill>
                  <a:srgbClr val="94A3B8"/>
                </a:solidFill>
                <a:latin typeface="Calibri"/>
              </a:rPr>
              <a:t>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94360"/>
          </a:xfrm>
          <a:prstGeom prst="rect">
            <a:avLst/>
          </a:prstGeom>
          <a:solidFill>
            <a:srgbClr val="1E29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0"/>
            <a:ext cx="8229600" cy="594360"/>
          </a:xfrm>
          <a:prstGeom prst="rect">
            <a:avLst/>
          </a:prstGeom>
          <a:noFill/>
        </p:spPr>
        <p:txBody>
          <a:bodyPr wrap="square" anchor="ctr"/>
          <a:lstStyle/>
          <a:p>
            <a:pPr algn="l">
              <a:lnSpc>
                <a:spcPct val="135000"/>
              </a:lnSpc>
              <a:spcBef>
                <a:spcPts val="0"/>
              </a:spcBef>
              <a:spcAft>
                <a:spcPts val="0"/>
              </a:spcAft>
            </a:pPr>
            <a:r>
              <a:rPr sz="1200" b="1">
                <a:solidFill>
                  <a:srgbClr val="FFFFFF"/>
                </a:solidFill>
                <a:latin typeface="Calibri"/>
              </a:rPr>
              <a:t>TokiStorage is not a "competitor" to digital services — it is a complementary millennium layer</a:t>
            </a:r>
          </a:p>
        </p:txBody>
      </p:sp>
      <p:sp>
        <p:nvSpPr>
          <p:cNvPr id="4" name="TextBox 3"/>
          <p:cNvSpPr txBox="1"/>
          <p:nvPr/>
        </p:nvSpPr>
        <p:spPr>
          <a:xfrm>
            <a:off x="457200" y="731520"/>
            <a:ext cx="2743200" cy="274320"/>
          </a:xfrm>
          <a:prstGeom prst="rect">
            <a:avLst/>
          </a:prstGeom>
          <a:noFill/>
        </p:spPr>
        <p:txBody>
          <a:bodyPr wrap="square"/>
          <a:lstStyle/>
          <a:p>
            <a:pPr algn="l">
              <a:lnSpc>
                <a:spcPct val="135000"/>
              </a:lnSpc>
              <a:spcBef>
                <a:spcPts val="0"/>
              </a:spcBef>
              <a:spcAft>
                <a:spcPts val="0"/>
              </a:spcAft>
            </a:pPr>
            <a:r>
              <a:rPr sz="1000" b="1">
                <a:solidFill>
                  <a:srgbClr val="2563EB"/>
                </a:solidFill>
                <a:latin typeface="Calibri"/>
              </a:rPr>
              <a:t>POSITIONING</a:t>
            </a:r>
          </a:p>
        </p:txBody>
      </p:sp>
      <p:sp>
        <p:nvSpPr>
          <p:cNvPr id="5" name="Rectangle 4"/>
          <p:cNvSpPr/>
          <p:nvPr/>
        </p:nvSpPr>
        <p:spPr>
          <a:xfrm>
            <a:off x="640080" y="1051560"/>
            <a:ext cx="1371600" cy="457200"/>
          </a:xfrm>
          <a:prstGeom prst="rect">
            <a:avLst/>
          </a:prstGeom>
          <a:solidFill>
            <a:srgbClr val="1E293B"/>
          </a:solidFill>
          <a:ln w="63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31520" y="1051560"/>
            <a:ext cx="1188720" cy="457200"/>
          </a:xfrm>
          <a:prstGeom prst="rect">
            <a:avLst/>
          </a:prstGeom>
          <a:noFill/>
        </p:spPr>
        <p:txBody>
          <a:bodyPr wrap="square" anchor="ctr"/>
          <a:lstStyle/>
          <a:p>
            <a:pPr algn="l">
              <a:lnSpc>
                <a:spcPct val="135000"/>
              </a:lnSpc>
              <a:spcBef>
                <a:spcPts val="0"/>
              </a:spcBef>
              <a:spcAft>
                <a:spcPts val="0"/>
              </a:spcAft>
            </a:pPr>
            <a:r>
              <a:rPr sz="900" b="1">
                <a:solidFill>
                  <a:srgbClr val="FFFFFF"/>
                </a:solidFill>
                <a:latin typeface="Calibri"/>
              </a:rPr>
              <a:t/>
            </a:r>
          </a:p>
        </p:txBody>
      </p:sp>
      <p:sp>
        <p:nvSpPr>
          <p:cNvPr id="7" name="Rectangle 6"/>
          <p:cNvSpPr/>
          <p:nvPr/>
        </p:nvSpPr>
        <p:spPr>
          <a:xfrm>
            <a:off x="2011680" y="1051560"/>
            <a:ext cx="3200400" cy="457200"/>
          </a:xfrm>
          <a:prstGeom prst="rect">
            <a:avLst/>
          </a:prstGeom>
          <a:solidFill>
            <a:srgbClr val="1E293B"/>
          </a:solidFill>
          <a:ln w="63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2103120" y="1051560"/>
            <a:ext cx="3017520" cy="457200"/>
          </a:xfrm>
          <a:prstGeom prst="rect">
            <a:avLst/>
          </a:prstGeom>
          <a:noFill/>
        </p:spPr>
        <p:txBody>
          <a:bodyPr wrap="square" anchor="ctr"/>
          <a:lstStyle/>
          <a:p>
            <a:pPr algn="l">
              <a:lnSpc>
                <a:spcPct val="135000"/>
              </a:lnSpc>
              <a:spcBef>
                <a:spcPts val="0"/>
              </a:spcBef>
              <a:spcAft>
                <a:spcPts val="0"/>
              </a:spcAft>
            </a:pPr>
            <a:r>
              <a:rPr sz="900" b="1">
                <a:solidFill>
                  <a:srgbClr val="FFFFFF"/>
                </a:solidFill>
                <a:latin typeface="Calibri"/>
              </a:rPr>
              <a:t>Digital services (everyday records)</a:t>
            </a:r>
          </a:p>
        </p:txBody>
      </p:sp>
      <p:sp>
        <p:nvSpPr>
          <p:cNvPr id="9" name="Rectangle 8"/>
          <p:cNvSpPr/>
          <p:nvPr/>
        </p:nvSpPr>
        <p:spPr>
          <a:xfrm>
            <a:off x="5212080" y="1051560"/>
            <a:ext cx="3291840" cy="457200"/>
          </a:xfrm>
          <a:prstGeom prst="rect">
            <a:avLst/>
          </a:prstGeom>
          <a:solidFill>
            <a:srgbClr val="1E293B"/>
          </a:solidFill>
          <a:ln w="63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303520" y="1051560"/>
            <a:ext cx="3108960" cy="457200"/>
          </a:xfrm>
          <a:prstGeom prst="rect">
            <a:avLst/>
          </a:prstGeom>
          <a:noFill/>
        </p:spPr>
        <p:txBody>
          <a:bodyPr wrap="square" anchor="ctr"/>
          <a:lstStyle/>
          <a:p>
            <a:pPr algn="l">
              <a:lnSpc>
                <a:spcPct val="135000"/>
              </a:lnSpc>
              <a:spcBef>
                <a:spcPts val="0"/>
              </a:spcBef>
              <a:spcAft>
                <a:spcPts val="0"/>
              </a:spcAft>
            </a:pPr>
            <a:r>
              <a:rPr sz="900" b="1">
                <a:solidFill>
                  <a:srgbClr val="FFFFFF"/>
                </a:solidFill>
                <a:latin typeface="Calibri"/>
              </a:rPr>
              <a:t>TokiStorage (millennium records)</a:t>
            </a:r>
          </a:p>
        </p:txBody>
      </p:sp>
      <p:sp>
        <p:nvSpPr>
          <p:cNvPr id="11" name="Rectangle 10"/>
          <p:cNvSpPr/>
          <p:nvPr/>
        </p:nvSpPr>
        <p:spPr>
          <a:xfrm>
            <a:off x="640080" y="1508760"/>
            <a:ext cx="1371600" cy="457200"/>
          </a:xfrm>
          <a:prstGeom prst="rect">
            <a:avLst/>
          </a:prstGeom>
          <a:solidFill>
            <a:srgbClr val="F1F5F9"/>
          </a:solidFill>
          <a:ln w="63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31520" y="1508760"/>
            <a:ext cx="1188720" cy="457200"/>
          </a:xfrm>
          <a:prstGeom prst="rect">
            <a:avLst/>
          </a:prstGeom>
          <a:noFill/>
        </p:spPr>
        <p:txBody>
          <a:bodyPr wrap="square" anchor="ctr"/>
          <a:lstStyle/>
          <a:p>
            <a:pPr algn="l">
              <a:lnSpc>
                <a:spcPct val="135000"/>
              </a:lnSpc>
              <a:spcBef>
                <a:spcPts val="0"/>
              </a:spcBef>
              <a:spcAft>
                <a:spcPts val="0"/>
              </a:spcAft>
            </a:pPr>
            <a:r>
              <a:rPr sz="1000" b="1">
                <a:solidFill>
                  <a:srgbClr val="1E293B"/>
                </a:solidFill>
                <a:latin typeface="Calibri"/>
              </a:rPr>
              <a:t>Medium</a:t>
            </a:r>
          </a:p>
        </p:txBody>
      </p:sp>
      <p:sp>
        <p:nvSpPr>
          <p:cNvPr id="13" name="Rectangle 12"/>
          <p:cNvSpPr/>
          <p:nvPr/>
        </p:nvSpPr>
        <p:spPr>
          <a:xfrm>
            <a:off x="2011680" y="1508760"/>
            <a:ext cx="3200400" cy="457200"/>
          </a:xfrm>
          <a:prstGeom prst="rect">
            <a:avLst/>
          </a:prstGeom>
          <a:solidFill>
            <a:srgbClr val="FFFFFF"/>
          </a:solidFill>
          <a:ln w="63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2103120" y="1508760"/>
            <a:ext cx="3017520" cy="457200"/>
          </a:xfrm>
          <a:prstGeom prst="rect">
            <a:avLst/>
          </a:prstGeom>
          <a:noFill/>
        </p:spPr>
        <p:txBody>
          <a:bodyPr wrap="square" anchor="ctr"/>
          <a:lstStyle/>
          <a:p>
            <a:pPr algn="l">
              <a:lnSpc>
                <a:spcPct val="135000"/>
              </a:lnSpc>
              <a:spcBef>
                <a:spcPts val="0"/>
              </a:spcBef>
              <a:spcAft>
                <a:spcPts val="0"/>
              </a:spcAft>
            </a:pPr>
            <a:r>
              <a:rPr sz="1000" b="0">
                <a:solidFill>
                  <a:srgbClr val="475569"/>
                </a:solidFill>
                <a:latin typeface="Calibri"/>
              </a:rPr>
              <a:t>Cloud / HDD</a:t>
            </a:r>
          </a:p>
        </p:txBody>
      </p:sp>
      <p:sp>
        <p:nvSpPr>
          <p:cNvPr id="15" name="Rectangle 14"/>
          <p:cNvSpPr/>
          <p:nvPr/>
        </p:nvSpPr>
        <p:spPr>
          <a:xfrm>
            <a:off x="5212080" y="1508760"/>
            <a:ext cx="3291840" cy="457200"/>
          </a:xfrm>
          <a:prstGeom prst="rect">
            <a:avLst/>
          </a:prstGeom>
          <a:solidFill>
            <a:srgbClr val="EFF6FF"/>
          </a:solidFill>
          <a:ln w="63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303520" y="1508760"/>
            <a:ext cx="3108960" cy="457200"/>
          </a:xfrm>
          <a:prstGeom prst="rect">
            <a:avLst/>
          </a:prstGeom>
          <a:noFill/>
        </p:spPr>
        <p:txBody>
          <a:bodyPr wrap="square" anchor="ctr"/>
          <a:lstStyle/>
          <a:p>
            <a:pPr algn="l">
              <a:lnSpc>
                <a:spcPct val="135000"/>
              </a:lnSpc>
              <a:spcBef>
                <a:spcPts val="0"/>
              </a:spcBef>
              <a:spcAft>
                <a:spcPts val="0"/>
              </a:spcAft>
            </a:pPr>
            <a:r>
              <a:rPr sz="1000" b="0">
                <a:solidFill>
                  <a:srgbClr val="1D4ED8"/>
                </a:solidFill>
                <a:latin typeface="Calibri"/>
              </a:rPr>
              <a:t>Quartz glass (physical)</a:t>
            </a:r>
          </a:p>
        </p:txBody>
      </p:sp>
      <p:sp>
        <p:nvSpPr>
          <p:cNvPr id="17" name="Rectangle 16"/>
          <p:cNvSpPr/>
          <p:nvPr/>
        </p:nvSpPr>
        <p:spPr>
          <a:xfrm>
            <a:off x="640080" y="1965960"/>
            <a:ext cx="1371600" cy="457200"/>
          </a:xfrm>
          <a:prstGeom prst="rect">
            <a:avLst/>
          </a:prstGeom>
          <a:solidFill>
            <a:srgbClr val="F1F5F9"/>
          </a:solidFill>
          <a:ln w="63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31520" y="1965960"/>
            <a:ext cx="1188720" cy="457200"/>
          </a:xfrm>
          <a:prstGeom prst="rect">
            <a:avLst/>
          </a:prstGeom>
          <a:noFill/>
        </p:spPr>
        <p:txBody>
          <a:bodyPr wrap="square" anchor="ctr"/>
          <a:lstStyle/>
          <a:p>
            <a:pPr algn="l">
              <a:lnSpc>
                <a:spcPct val="135000"/>
              </a:lnSpc>
              <a:spcBef>
                <a:spcPts val="0"/>
              </a:spcBef>
              <a:spcAft>
                <a:spcPts val="0"/>
              </a:spcAft>
            </a:pPr>
            <a:r>
              <a:rPr sz="1000" b="1">
                <a:solidFill>
                  <a:srgbClr val="1E293B"/>
                </a:solidFill>
                <a:latin typeface="Calibri"/>
              </a:rPr>
              <a:t>Best horizon</a:t>
            </a:r>
          </a:p>
        </p:txBody>
      </p:sp>
      <p:sp>
        <p:nvSpPr>
          <p:cNvPr id="19" name="Rectangle 18"/>
          <p:cNvSpPr/>
          <p:nvPr/>
        </p:nvSpPr>
        <p:spPr>
          <a:xfrm>
            <a:off x="2011680" y="1965960"/>
            <a:ext cx="3200400" cy="457200"/>
          </a:xfrm>
          <a:prstGeom prst="rect">
            <a:avLst/>
          </a:prstGeom>
          <a:solidFill>
            <a:srgbClr val="FFFFFF"/>
          </a:solidFill>
          <a:ln w="63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2103120" y="1965960"/>
            <a:ext cx="3017520" cy="457200"/>
          </a:xfrm>
          <a:prstGeom prst="rect">
            <a:avLst/>
          </a:prstGeom>
          <a:noFill/>
        </p:spPr>
        <p:txBody>
          <a:bodyPr wrap="square" anchor="ctr"/>
          <a:lstStyle/>
          <a:p>
            <a:pPr algn="l">
              <a:lnSpc>
                <a:spcPct val="135000"/>
              </a:lnSpc>
              <a:spcBef>
                <a:spcPts val="0"/>
              </a:spcBef>
              <a:spcAft>
                <a:spcPts val="0"/>
              </a:spcAft>
            </a:pPr>
            <a:r>
              <a:rPr sz="1000" b="0">
                <a:solidFill>
                  <a:srgbClr val="475569"/>
                </a:solidFill>
                <a:latin typeface="Calibri"/>
              </a:rPr>
              <a:t>Now to decades (optimized for daily use)</a:t>
            </a:r>
          </a:p>
        </p:txBody>
      </p:sp>
      <p:sp>
        <p:nvSpPr>
          <p:cNvPr id="21" name="Rectangle 20"/>
          <p:cNvSpPr/>
          <p:nvPr/>
        </p:nvSpPr>
        <p:spPr>
          <a:xfrm>
            <a:off x="5212080" y="1965960"/>
            <a:ext cx="3291840" cy="457200"/>
          </a:xfrm>
          <a:prstGeom prst="rect">
            <a:avLst/>
          </a:prstGeom>
          <a:solidFill>
            <a:srgbClr val="EFF6FF"/>
          </a:solidFill>
          <a:ln w="63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5303520" y="1965960"/>
            <a:ext cx="3108960" cy="457200"/>
          </a:xfrm>
          <a:prstGeom prst="rect">
            <a:avLst/>
          </a:prstGeom>
          <a:noFill/>
        </p:spPr>
        <p:txBody>
          <a:bodyPr wrap="square" anchor="ctr"/>
          <a:lstStyle/>
          <a:p>
            <a:pPr algn="l">
              <a:lnSpc>
                <a:spcPct val="135000"/>
              </a:lnSpc>
              <a:spcBef>
                <a:spcPts val="0"/>
              </a:spcBef>
              <a:spcAft>
                <a:spcPts val="0"/>
              </a:spcAft>
            </a:pPr>
            <a:r>
              <a:rPr sz="1000" b="0">
                <a:solidFill>
                  <a:srgbClr val="1D4ED8"/>
                </a:solidFill>
                <a:latin typeface="Calibri"/>
              </a:rPr>
              <a:t>100–1,000 years (optimized for permanence)</a:t>
            </a:r>
          </a:p>
        </p:txBody>
      </p:sp>
      <p:sp>
        <p:nvSpPr>
          <p:cNvPr id="23" name="Rectangle 22"/>
          <p:cNvSpPr/>
          <p:nvPr/>
        </p:nvSpPr>
        <p:spPr>
          <a:xfrm>
            <a:off x="640080" y="2423160"/>
            <a:ext cx="1371600" cy="457200"/>
          </a:xfrm>
          <a:prstGeom prst="rect">
            <a:avLst/>
          </a:prstGeom>
          <a:solidFill>
            <a:srgbClr val="F1F5F9"/>
          </a:solidFill>
          <a:ln w="63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731520" y="2423160"/>
            <a:ext cx="1188720" cy="457200"/>
          </a:xfrm>
          <a:prstGeom prst="rect">
            <a:avLst/>
          </a:prstGeom>
          <a:noFill/>
        </p:spPr>
        <p:txBody>
          <a:bodyPr wrap="square" anchor="ctr"/>
          <a:lstStyle/>
          <a:p>
            <a:pPr algn="l">
              <a:lnSpc>
                <a:spcPct val="135000"/>
              </a:lnSpc>
              <a:spcBef>
                <a:spcPts val="0"/>
              </a:spcBef>
              <a:spcAft>
                <a:spcPts val="0"/>
              </a:spcAft>
            </a:pPr>
            <a:r>
              <a:rPr sz="1000" b="1">
                <a:solidFill>
                  <a:srgbClr val="1E293B"/>
                </a:solidFill>
                <a:latin typeface="Calibri"/>
              </a:rPr>
              <a:t>Infrastructure</a:t>
            </a:r>
          </a:p>
        </p:txBody>
      </p:sp>
      <p:sp>
        <p:nvSpPr>
          <p:cNvPr id="25" name="Rectangle 24"/>
          <p:cNvSpPr/>
          <p:nvPr/>
        </p:nvSpPr>
        <p:spPr>
          <a:xfrm>
            <a:off x="2011680" y="2423160"/>
            <a:ext cx="3200400" cy="457200"/>
          </a:xfrm>
          <a:prstGeom prst="rect">
            <a:avLst/>
          </a:prstGeom>
          <a:solidFill>
            <a:srgbClr val="FFFFFF"/>
          </a:solidFill>
          <a:ln w="63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2103120" y="2423160"/>
            <a:ext cx="3017520" cy="457200"/>
          </a:xfrm>
          <a:prstGeom prst="rect">
            <a:avLst/>
          </a:prstGeom>
          <a:noFill/>
        </p:spPr>
        <p:txBody>
          <a:bodyPr wrap="square" anchor="ctr"/>
          <a:lstStyle/>
          <a:p>
            <a:pPr algn="l">
              <a:lnSpc>
                <a:spcPct val="135000"/>
              </a:lnSpc>
              <a:spcBef>
                <a:spcPts val="0"/>
              </a:spcBef>
              <a:spcAft>
                <a:spcPts val="0"/>
              </a:spcAft>
            </a:pPr>
            <a:r>
              <a:rPr sz="1000" b="0">
                <a:solidFill>
                  <a:srgbClr val="475569"/>
                </a:solidFill>
                <a:latin typeface="Calibri"/>
              </a:rPr>
              <a:t>Servers &amp; power (source of convenience)</a:t>
            </a:r>
          </a:p>
        </p:txBody>
      </p:sp>
      <p:sp>
        <p:nvSpPr>
          <p:cNvPr id="27" name="Rectangle 26"/>
          <p:cNvSpPr/>
          <p:nvPr/>
        </p:nvSpPr>
        <p:spPr>
          <a:xfrm>
            <a:off x="5212080" y="2423160"/>
            <a:ext cx="3291840" cy="457200"/>
          </a:xfrm>
          <a:prstGeom prst="rect">
            <a:avLst/>
          </a:prstGeom>
          <a:solidFill>
            <a:srgbClr val="EFF6FF"/>
          </a:solidFill>
          <a:ln w="63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5303520" y="2423160"/>
            <a:ext cx="3108960" cy="457200"/>
          </a:xfrm>
          <a:prstGeom prst="rect">
            <a:avLst/>
          </a:prstGeom>
          <a:noFill/>
        </p:spPr>
        <p:txBody>
          <a:bodyPr wrap="square" anchor="ctr"/>
          <a:lstStyle/>
          <a:p>
            <a:pPr algn="l">
              <a:lnSpc>
                <a:spcPct val="135000"/>
              </a:lnSpc>
              <a:spcBef>
                <a:spcPts val="0"/>
              </a:spcBef>
              <a:spcAft>
                <a:spcPts val="0"/>
              </a:spcAft>
            </a:pPr>
            <a:r>
              <a:rPr sz="1000" b="0">
                <a:solidFill>
                  <a:srgbClr val="1D4ED8"/>
                </a:solidFill>
                <a:latin typeface="Calibri"/>
              </a:rPr>
              <a:t>None required (GitHub distributed)</a:t>
            </a:r>
          </a:p>
        </p:txBody>
      </p:sp>
      <p:sp>
        <p:nvSpPr>
          <p:cNvPr id="29" name="Rectangle 28"/>
          <p:cNvSpPr/>
          <p:nvPr/>
        </p:nvSpPr>
        <p:spPr>
          <a:xfrm>
            <a:off x="640080" y="2880360"/>
            <a:ext cx="1371600" cy="457200"/>
          </a:xfrm>
          <a:prstGeom prst="rect">
            <a:avLst/>
          </a:prstGeom>
          <a:solidFill>
            <a:srgbClr val="F1F5F9"/>
          </a:solidFill>
          <a:ln w="63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731520" y="2880360"/>
            <a:ext cx="1188720" cy="457200"/>
          </a:xfrm>
          <a:prstGeom prst="rect">
            <a:avLst/>
          </a:prstGeom>
          <a:noFill/>
        </p:spPr>
        <p:txBody>
          <a:bodyPr wrap="square" anchor="ctr"/>
          <a:lstStyle/>
          <a:p>
            <a:pPr algn="l">
              <a:lnSpc>
                <a:spcPct val="135000"/>
              </a:lnSpc>
              <a:spcBef>
                <a:spcPts val="0"/>
              </a:spcBef>
              <a:spcAft>
                <a:spcPts val="0"/>
              </a:spcAft>
            </a:pPr>
            <a:r>
              <a:rPr sz="1000" b="1">
                <a:solidFill>
                  <a:srgbClr val="1E293B"/>
                </a:solidFill>
                <a:latin typeface="Calibri"/>
              </a:rPr>
              <a:t>Reading</a:t>
            </a:r>
          </a:p>
        </p:txBody>
      </p:sp>
      <p:sp>
        <p:nvSpPr>
          <p:cNvPr id="31" name="Rectangle 30"/>
          <p:cNvSpPr/>
          <p:nvPr/>
        </p:nvSpPr>
        <p:spPr>
          <a:xfrm>
            <a:off x="2011680" y="2880360"/>
            <a:ext cx="3200400" cy="457200"/>
          </a:xfrm>
          <a:prstGeom prst="rect">
            <a:avLst/>
          </a:prstGeom>
          <a:solidFill>
            <a:srgbClr val="FFFFFF"/>
          </a:solidFill>
          <a:ln w="63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2103120" y="2880360"/>
            <a:ext cx="3017520" cy="457200"/>
          </a:xfrm>
          <a:prstGeom prst="rect">
            <a:avLst/>
          </a:prstGeom>
          <a:noFill/>
        </p:spPr>
        <p:txBody>
          <a:bodyPr wrap="square" anchor="ctr"/>
          <a:lstStyle/>
          <a:p>
            <a:pPr algn="l">
              <a:lnSpc>
                <a:spcPct val="135000"/>
              </a:lnSpc>
              <a:spcBef>
                <a:spcPts val="0"/>
              </a:spcBef>
              <a:spcAft>
                <a:spcPts val="0"/>
              </a:spcAft>
            </a:pPr>
            <a:r>
              <a:rPr sz="1000" b="0">
                <a:solidFill>
                  <a:srgbClr val="475569"/>
                </a:solidFill>
                <a:latin typeface="Calibri"/>
              </a:rPr>
              <a:t>App / login required</a:t>
            </a:r>
          </a:p>
        </p:txBody>
      </p:sp>
      <p:sp>
        <p:nvSpPr>
          <p:cNvPr id="33" name="Rectangle 32"/>
          <p:cNvSpPr/>
          <p:nvPr/>
        </p:nvSpPr>
        <p:spPr>
          <a:xfrm>
            <a:off x="5212080" y="2880360"/>
            <a:ext cx="3291840" cy="457200"/>
          </a:xfrm>
          <a:prstGeom prst="rect">
            <a:avLst/>
          </a:prstGeom>
          <a:solidFill>
            <a:srgbClr val="EFF6FF"/>
          </a:solidFill>
          <a:ln w="63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5303520" y="2880360"/>
            <a:ext cx="3108960" cy="457200"/>
          </a:xfrm>
          <a:prstGeom prst="rect">
            <a:avLst/>
          </a:prstGeom>
          <a:noFill/>
        </p:spPr>
        <p:txBody>
          <a:bodyPr wrap="square" anchor="ctr"/>
          <a:lstStyle/>
          <a:p>
            <a:pPr algn="l">
              <a:lnSpc>
                <a:spcPct val="135000"/>
              </a:lnSpc>
              <a:spcBef>
                <a:spcPts val="0"/>
              </a:spcBef>
              <a:spcAft>
                <a:spcPts val="0"/>
              </a:spcAft>
            </a:pPr>
            <a:r>
              <a:rPr sz="1000" b="0">
                <a:solidFill>
                  <a:srgbClr val="1D4ED8"/>
                </a:solidFill>
                <a:latin typeface="Calibri"/>
              </a:rPr>
              <a:t>Any smartphone camera</a:t>
            </a:r>
          </a:p>
        </p:txBody>
      </p:sp>
      <p:sp>
        <p:nvSpPr>
          <p:cNvPr id="35" name="Rectangle 34"/>
          <p:cNvSpPr/>
          <p:nvPr/>
        </p:nvSpPr>
        <p:spPr>
          <a:xfrm>
            <a:off x="640080" y="3337560"/>
            <a:ext cx="1371600" cy="457200"/>
          </a:xfrm>
          <a:prstGeom prst="rect">
            <a:avLst/>
          </a:prstGeom>
          <a:solidFill>
            <a:srgbClr val="F1F5F9"/>
          </a:solidFill>
          <a:ln w="63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731520" y="3337560"/>
            <a:ext cx="1188720" cy="457200"/>
          </a:xfrm>
          <a:prstGeom prst="rect">
            <a:avLst/>
          </a:prstGeom>
          <a:noFill/>
        </p:spPr>
        <p:txBody>
          <a:bodyPr wrap="square" anchor="ctr"/>
          <a:lstStyle/>
          <a:p>
            <a:pPr algn="l">
              <a:lnSpc>
                <a:spcPct val="135000"/>
              </a:lnSpc>
              <a:spcBef>
                <a:spcPts val="0"/>
              </a:spcBef>
              <a:spcAft>
                <a:spcPts val="0"/>
              </a:spcAft>
            </a:pPr>
            <a:r>
              <a:rPr sz="1000" b="1">
                <a:solidFill>
                  <a:srgbClr val="1E293B"/>
                </a:solidFill>
                <a:latin typeface="Calibri"/>
              </a:rPr>
              <a:t>Cultural depth</a:t>
            </a:r>
          </a:p>
        </p:txBody>
      </p:sp>
      <p:sp>
        <p:nvSpPr>
          <p:cNvPr id="37" name="Rectangle 36"/>
          <p:cNvSpPr/>
          <p:nvPr/>
        </p:nvSpPr>
        <p:spPr>
          <a:xfrm>
            <a:off x="2011680" y="3337560"/>
            <a:ext cx="3200400" cy="457200"/>
          </a:xfrm>
          <a:prstGeom prst="rect">
            <a:avLst/>
          </a:prstGeom>
          <a:solidFill>
            <a:srgbClr val="FFFFFF"/>
          </a:solidFill>
          <a:ln w="63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2103120" y="3337560"/>
            <a:ext cx="3017520" cy="457200"/>
          </a:xfrm>
          <a:prstGeom prst="rect">
            <a:avLst/>
          </a:prstGeom>
          <a:noFill/>
        </p:spPr>
        <p:txBody>
          <a:bodyPr wrap="square" anchor="ctr"/>
          <a:lstStyle/>
          <a:p>
            <a:pPr algn="l">
              <a:lnSpc>
                <a:spcPct val="135000"/>
              </a:lnSpc>
              <a:spcBef>
                <a:spcPts val="0"/>
              </a:spcBef>
              <a:spcAft>
                <a:spcPts val="0"/>
              </a:spcAft>
            </a:pPr>
            <a:r>
              <a:rPr sz="1000" b="0">
                <a:solidFill>
                  <a:srgbClr val="475569"/>
                </a:solidFill>
                <a:latin typeface="Calibri"/>
              </a:rPr>
              <a:t>Functionality &amp; convenience at the core</a:t>
            </a:r>
          </a:p>
        </p:txBody>
      </p:sp>
      <p:sp>
        <p:nvSpPr>
          <p:cNvPr id="39" name="Rectangle 38"/>
          <p:cNvSpPr/>
          <p:nvPr/>
        </p:nvSpPr>
        <p:spPr>
          <a:xfrm>
            <a:off x="5212080" y="3337560"/>
            <a:ext cx="3291840" cy="457200"/>
          </a:xfrm>
          <a:prstGeom prst="rect">
            <a:avLst/>
          </a:prstGeom>
          <a:solidFill>
            <a:srgbClr val="EFF6FF"/>
          </a:solidFill>
          <a:ln w="63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5303520" y="3337560"/>
            <a:ext cx="3108960" cy="457200"/>
          </a:xfrm>
          <a:prstGeom prst="rect">
            <a:avLst/>
          </a:prstGeom>
          <a:noFill/>
        </p:spPr>
        <p:txBody>
          <a:bodyPr wrap="square" anchor="ctr"/>
          <a:lstStyle/>
          <a:p>
            <a:pPr algn="l">
              <a:lnSpc>
                <a:spcPct val="135000"/>
              </a:lnSpc>
              <a:spcBef>
                <a:spcPts val="0"/>
              </a:spcBef>
              <a:spcAft>
                <a:spcPts val="0"/>
              </a:spcAft>
            </a:pPr>
            <a:r>
              <a:rPr sz="1000" b="0">
                <a:solidFill>
                  <a:srgbClr val="1D4ED8"/>
                </a:solidFill>
                <a:latin typeface="Calibri"/>
              </a:rPr>
              <a:t>70+ essays + gift economy practice</a:t>
            </a:r>
          </a:p>
        </p:txBody>
      </p:sp>
      <p:sp>
        <p:nvSpPr>
          <p:cNvPr id="41" name="Rectangle 40"/>
          <p:cNvSpPr/>
          <p:nvPr/>
        </p:nvSpPr>
        <p:spPr>
          <a:xfrm>
            <a:off x="640080" y="3794760"/>
            <a:ext cx="1371600" cy="457200"/>
          </a:xfrm>
          <a:prstGeom prst="rect">
            <a:avLst/>
          </a:prstGeom>
          <a:solidFill>
            <a:srgbClr val="F1F5F9"/>
          </a:solidFill>
          <a:ln w="63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731520" y="3794760"/>
            <a:ext cx="1188720" cy="457200"/>
          </a:xfrm>
          <a:prstGeom prst="rect">
            <a:avLst/>
          </a:prstGeom>
          <a:noFill/>
        </p:spPr>
        <p:txBody>
          <a:bodyPr wrap="square" anchor="ctr"/>
          <a:lstStyle/>
          <a:p>
            <a:pPr algn="l">
              <a:lnSpc>
                <a:spcPct val="135000"/>
              </a:lnSpc>
              <a:spcBef>
                <a:spcPts val="0"/>
              </a:spcBef>
              <a:spcAft>
                <a:spcPts val="0"/>
              </a:spcAft>
            </a:pPr>
            <a:r>
              <a:rPr sz="1000" b="1">
                <a:solidFill>
                  <a:srgbClr val="1E293B"/>
                </a:solidFill>
                <a:latin typeface="Calibri"/>
              </a:rPr>
              <a:t>Storage structure</a:t>
            </a:r>
          </a:p>
        </p:txBody>
      </p:sp>
      <p:sp>
        <p:nvSpPr>
          <p:cNvPr id="43" name="Rectangle 42"/>
          <p:cNvSpPr/>
          <p:nvPr/>
        </p:nvSpPr>
        <p:spPr>
          <a:xfrm>
            <a:off x="2011680" y="3794760"/>
            <a:ext cx="3200400" cy="457200"/>
          </a:xfrm>
          <a:prstGeom prst="rect">
            <a:avLst/>
          </a:prstGeom>
          <a:solidFill>
            <a:srgbClr val="FFFFFF"/>
          </a:solidFill>
          <a:ln w="63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2103120" y="3794760"/>
            <a:ext cx="3017520" cy="457200"/>
          </a:xfrm>
          <a:prstGeom prst="rect">
            <a:avLst/>
          </a:prstGeom>
          <a:noFill/>
        </p:spPr>
        <p:txBody>
          <a:bodyPr wrap="square" anchor="ctr"/>
          <a:lstStyle/>
          <a:p>
            <a:pPr algn="l">
              <a:lnSpc>
                <a:spcPct val="135000"/>
              </a:lnSpc>
              <a:spcBef>
                <a:spcPts val="0"/>
              </a:spcBef>
              <a:spcAft>
                <a:spcPts val="0"/>
              </a:spcAft>
            </a:pPr>
            <a:r>
              <a:rPr sz="1000" b="0">
                <a:solidFill>
                  <a:srgbClr val="475569"/>
                </a:solidFill>
                <a:latin typeface="Calibri"/>
              </a:rPr>
              <a:t>Cloud-centralized</a:t>
            </a:r>
          </a:p>
        </p:txBody>
      </p:sp>
      <p:sp>
        <p:nvSpPr>
          <p:cNvPr id="45" name="Rectangle 44"/>
          <p:cNvSpPr/>
          <p:nvPr/>
        </p:nvSpPr>
        <p:spPr>
          <a:xfrm>
            <a:off x="5212080" y="3794760"/>
            <a:ext cx="3291840" cy="457200"/>
          </a:xfrm>
          <a:prstGeom prst="rect">
            <a:avLst/>
          </a:prstGeom>
          <a:solidFill>
            <a:srgbClr val="EFF6FF"/>
          </a:solidFill>
          <a:ln w="63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5303520" y="3794760"/>
            <a:ext cx="3108960" cy="457200"/>
          </a:xfrm>
          <a:prstGeom prst="rect">
            <a:avLst/>
          </a:prstGeom>
          <a:noFill/>
        </p:spPr>
        <p:txBody>
          <a:bodyPr wrap="square" anchor="ctr"/>
          <a:lstStyle/>
          <a:p>
            <a:pPr algn="l">
              <a:lnSpc>
                <a:spcPct val="135000"/>
              </a:lnSpc>
              <a:spcBef>
                <a:spcPts val="0"/>
              </a:spcBef>
              <a:spcAft>
                <a:spcPts val="0"/>
              </a:spcAft>
            </a:pPr>
            <a:r>
              <a:rPr sz="1000" b="0">
                <a:solidFill>
                  <a:srgbClr val="1D4ED8"/>
                </a:solidFill>
                <a:latin typeface="Calibri"/>
              </a:rPr>
              <a:t>Three-layer distributed (physical/national/private) — 3-2-1 rule compliant</a:t>
            </a:r>
          </a:p>
        </p:txBody>
      </p:sp>
      <p:sp>
        <p:nvSpPr>
          <p:cNvPr id="47" name="Rectangle 46"/>
          <p:cNvSpPr/>
          <p:nvPr/>
        </p:nvSpPr>
        <p:spPr>
          <a:xfrm>
            <a:off x="640080" y="4251960"/>
            <a:ext cx="1371600" cy="457200"/>
          </a:xfrm>
          <a:prstGeom prst="rect">
            <a:avLst/>
          </a:prstGeom>
          <a:solidFill>
            <a:srgbClr val="F1F5F9"/>
          </a:solidFill>
          <a:ln w="63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731520" y="4251960"/>
            <a:ext cx="1188720" cy="457200"/>
          </a:xfrm>
          <a:prstGeom prst="rect">
            <a:avLst/>
          </a:prstGeom>
          <a:noFill/>
        </p:spPr>
        <p:txBody>
          <a:bodyPr wrap="square" anchor="ctr"/>
          <a:lstStyle/>
          <a:p>
            <a:pPr algn="l">
              <a:lnSpc>
                <a:spcPct val="135000"/>
              </a:lnSpc>
              <a:spcBef>
                <a:spcPts val="0"/>
              </a:spcBef>
              <a:spcAft>
                <a:spcPts val="0"/>
              </a:spcAft>
            </a:pPr>
            <a:r>
              <a:rPr sz="1000" b="1">
                <a:solidFill>
                  <a:srgbClr val="1E293B"/>
                </a:solidFill>
                <a:latin typeface="Calibri"/>
              </a:rPr>
              <a:t>Social impact</a:t>
            </a:r>
          </a:p>
        </p:txBody>
      </p:sp>
      <p:sp>
        <p:nvSpPr>
          <p:cNvPr id="49" name="Rectangle 48"/>
          <p:cNvSpPr/>
          <p:nvPr/>
        </p:nvSpPr>
        <p:spPr>
          <a:xfrm>
            <a:off x="2011680" y="4251960"/>
            <a:ext cx="3200400" cy="457200"/>
          </a:xfrm>
          <a:prstGeom prst="rect">
            <a:avLst/>
          </a:prstGeom>
          <a:solidFill>
            <a:srgbClr val="FFFFFF"/>
          </a:solidFill>
          <a:ln w="63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2103120" y="4251960"/>
            <a:ext cx="3017520" cy="457200"/>
          </a:xfrm>
          <a:prstGeom prst="rect">
            <a:avLst/>
          </a:prstGeom>
          <a:noFill/>
        </p:spPr>
        <p:txBody>
          <a:bodyPr wrap="square" anchor="ctr"/>
          <a:lstStyle/>
          <a:p>
            <a:pPr algn="l">
              <a:lnSpc>
                <a:spcPct val="135000"/>
              </a:lnSpc>
              <a:spcBef>
                <a:spcPts val="0"/>
              </a:spcBef>
              <a:spcAft>
                <a:spcPts val="0"/>
              </a:spcAft>
            </a:pPr>
            <a:r>
              <a:rPr sz="1000" b="0">
                <a:solidFill>
                  <a:srgbClr val="475569"/>
                </a:solidFill>
                <a:latin typeface="Calibri"/>
              </a:rPr>
              <a:t>Platform-level contribution</a:t>
            </a:r>
          </a:p>
        </p:txBody>
      </p:sp>
      <p:sp>
        <p:nvSpPr>
          <p:cNvPr id="51" name="Rectangle 50"/>
          <p:cNvSpPr/>
          <p:nvPr/>
        </p:nvSpPr>
        <p:spPr>
          <a:xfrm>
            <a:off x="5212080" y="4251960"/>
            <a:ext cx="3291840" cy="457200"/>
          </a:xfrm>
          <a:prstGeom prst="rect">
            <a:avLst/>
          </a:prstGeom>
          <a:solidFill>
            <a:srgbClr val="EFF6FF"/>
          </a:solidFill>
          <a:ln w="63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TextBox 51"/>
          <p:cNvSpPr txBox="1"/>
          <p:nvPr/>
        </p:nvSpPr>
        <p:spPr>
          <a:xfrm>
            <a:off x="5303520" y="4251960"/>
            <a:ext cx="3108960" cy="457200"/>
          </a:xfrm>
          <a:prstGeom prst="rect">
            <a:avLst/>
          </a:prstGeom>
          <a:noFill/>
        </p:spPr>
        <p:txBody>
          <a:bodyPr wrap="square" anchor="ctr"/>
          <a:lstStyle/>
          <a:p>
            <a:pPr algn="l">
              <a:lnSpc>
                <a:spcPct val="135000"/>
              </a:lnSpc>
              <a:spcBef>
                <a:spcPts val="0"/>
              </a:spcBef>
              <a:spcAft>
                <a:spcPts val="0"/>
              </a:spcAft>
            </a:pPr>
            <a:r>
              <a:rPr sz="1000" b="0">
                <a:solidFill>
                  <a:srgbClr val="1D4ED8"/>
                </a:solidFill>
                <a:latin typeface="Calibri"/>
              </a:rPr>
              <a:t>SoulCarrier (unclaimed graves mission)</a:t>
            </a:r>
          </a:p>
        </p:txBody>
      </p:sp>
      <p:sp>
        <p:nvSpPr>
          <p:cNvPr id="53" name="Rectangle 52"/>
          <p:cNvSpPr/>
          <p:nvPr/>
        </p:nvSpPr>
        <p:spPr>
          <a:xfrm>
            <a:off x="0" y="4796028"/>
            <a:ext cx="9144000" cy="6350"/>
          </a:xfrm>
          <a:prstGeom prst="rect">
            <a:avLst/>
          </a:prstGeom>
          <a:solidFill>
            <a:srgbClr val="E2E8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TextBox 53"/>
          <p:cNvSpPr txBox="1"/>
          <p:nvPr/>
        </p:nvSpPr>
        <p:spPr>
          <a:xfrm>
            <a:off x="457200" y="4821428"/>
            <a:ext cx="3657600" cy="274320"/>
          </a:xfrm>
          <a:prstGeom prst="rect">
            <a:avLst/>
          </a:prstGeom>
          <a:noFill/>
        </p:spPr>
        <p:txBody>
          <a:bodyPr wrap="square"/>
          <a:lstStyle/>
          <a:p>
            <a:pPr algn="l">
              <a:lnSpc>
                <a:spcPct val="135000"/>
              </a:lnSpc>
              <a:spcBef>
                <a:spcPts val="0"/>
              </a:spcBef>
              <a:spcAft>
                <a:spcPts val="0"/>
              </a:spcAft>
            </a:pPr>
            <a:r>
              <a:rPr sz="900" b="0">
                <a:solidFill>
                  <a:srgbClr val="94A3B8"/>
                </a:solidFill>
                <a:latin typeface="Calibri"/>
              </a:rPr>
              <a:t>TokiStorage — Partnership Proposal</a:t>
            </a:r>
          </a:p>
        </p:txBody>
      </p:sp>
      <p:sp>
        <p:nvSpPr>
          <p:cNvPr id="55" name="TextBox 54"/>
          <p:cNvSpPr txBox="1"/>
          <p:nvPr/>
        </p:nvSpPr>
        <p:spPr>
          <a:xfrm>
            <a:off x="3657600" y="4821428"/>
            <a:ext cx="1828800" cy="274320"/>
          </a:xfrm>
          <a:prstGeom prst="rect">
            <a:avLst/>
          </a:prstGeom>
          <a:noFill/>
        </p:spPr>
        <p:txBody>
          <a:bodyPr wrap="square"/>
          <a:lstStyle/>
          <a:p>
            <a:pPr algn="ctr">
              <a:lnSpc>
                <a:spcPct val="135000"/>
              </a:lnSpc>
              <a:spcBef>
                <a:spcPts val="0"/>
              </a:spcBef>
              <a:spcAft>
                <a:spcPts val="0"/>
              </a:spcAft>
            </a:pPr>
            <a:r>
              <a:rPr sz="900" b="0">
                <a:solidFill>
                  <a:srgbClr val="94A3B8"/>
                </a:solidFill>
                <a:latin typeface="Calibri"/>
              </a:rPr>
              <a:t>Confidential</a:t>
            </a:r>
          </a:p>
        </p:txBody>
      </p:sp>
      <p:sp>
        <p:nvSpPr>
          <p:cNvPr id="56" name="TextBox 55"/>
          <p:cNvSpPr txBox="1"/>
          <p:nvPr/>
        </p:nvSpPr>
        <p:spPr>
          <a:xfrm>
            <a:off x="8229600" y="4821428"/>
            <a:ext cx="457200" cy="274320"/>
          </a:xfrm>
          <a:prstGeom prst="rect">
            <a:avLst/>
          </a:prstGeom>
          <a:noFill/>
        </p:spPr>
        <p:txBody>
          <a:bodyPr wrap="square"/>
          <a:lstStyle/>
          <a:p>
            <a:pPr algn="r">
              <a:lnSpc>
                <a:spcPct val="135000"/>
              </a:lnSpc>
              <a:spcBef>
                <a:spcPts val="0"/>
              </a:spcBef>
              <a:spcAft>
                <a:spcPts val="0"/>
              </a:spcAft>
            </a:pPr>
            <a:r>
              <a:rPr sz="900" b="1">
                <a:solidFill>
                  <a:srgbClr val="94A3B8"/>
                </a:solidFill>
                <a:latin typeface="Calibri"/>
              </a:rPr>
              <a:t>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94360"/>
          </a:xfrm>
          <a:prstGeom prst="rect">
            <a:avLst/>
          </a:prstGeom>
          <a:solidFill>
            <a:srgbClr val="1E29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0"/>
            <a:ext cx="8229600" cy="594360"/>
          </a:xfrm>
          <a:prstGeom prst="rect">
            <a:avLst/>
          </a:prstGeom>
          <a:noFill/>
        </p:spPr>
        <p:txBody>
          <a:bodyPr wrap="square" anchor="ctr"/>
          <a:lstStyle/>
          <a:p>
            <a:pPr algn="l">
              <a:lnSpc>
                <a:spcPct val="135000"/>
              </a:lnSpc>
              <a:spcBef>
                <a:spcPts val="0"/>
              </a:spcBef>
              <a:spcAft>
                <a:spcPts val="0"/>
              </a:spcAft>
            </a:pPr>
            <a:r>
              <a:rPr sz="1200" b="1">
                <a:solidFill>
                  <a:srgbClr val="FFFFFF"/>
                </a:solidFill>
                <a:latin typeface="Calibri"/>
              </a:rPr>
              <a:t>Starting from ¥5,000 ($33) — an exceptionally low entry barrier for your proposals</a:t>
            </a:r>
          </a:p>
        </p:txBody>
      </p:sp>
      <p:sp>
        <p:nvSpPr>
          <p:cNvPr id="4" name="TextBox 3"/>
          <p:cNvSpPr txBox="1"/>
          <p:nvPr/>
        </p:nvSpPr>
        <p:spPr>
          <a:xfrm>
            <a:off x="457200" y="731520"/>
            <a:ext cx="2743200" cy="274320"/>
          </a:xfrm>
          <a:prstGeom prst="rect">
            <a:avLst/>
          </a:prstGeom>
          <a:noFill/>
        </p:spPr>
        <p:txBody>
          <a:bodyPr wrap="square"/>
          <a:lstStyle/>
          <a:p>
            <a:pPr algn="l">
              <a:lnSpc>
                <a:spcPct val="135000"/>
              </a:lnSpc>
              <a:spcBef>
                <a:spcPts val="0"/>
              </a:spcBef>
              <a:spcAft>
                <a:spcPts val="0"/>
              </a:spcAft>
            </a:pPr>
            <a:r>
              <a:rPr sz="1000" b="1">
                <a:solidFill>
                  <a:srgbClr val="2563EB"/>
                </a:solidFill>
                <a:latin typeface="Calibri"/>
              </a:rPr>
              <a:t>PRICING</a:t>
            </a:r>
          </a:p>
        </p:txBody>
      </p:sp>
      <p:sp>
        <p:nvSpPr>
          <p:cNvPr id="5" name="Rectangle 4"/>
          <p:cNvSpPr/>
          <p:nvPr/>
        </p:nvSpPr>
        <p:spPr>
          <a:xfrm>
            <a:off x="457200" y="1051560"/>
            <a:ext cx="3931920" cy="1783080"/>
          </a:xfrm>
          <a:prstGeom prst="rect">
            <a:avLst/>
          </a:prstGeom>
          <a:solidFill>
            <a:srgbClr val="FFFFFF"/>
          </a:solidFill>
          <a:ln w="9525">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94360" y="1143000"/>
            <a:ext cx="3657600" cy="274320"/>
          </a:xfrm>
          <a:prstGeom prst="rect">
            <a:avLst/>
          </a:prstGeom>
          <a:noFill/>
        </p:spPr>
        <p:txBody>
          <a:bodyPr wrap="square"/>
          <a:lstStyle/>
          <a:p>
            <a:pPr algn="l">
              <a:lnSpc>
                <a:spcPct val="135000"/>
              </a:lnSpc>
              <a:spcBef>
                <a:spcPts val="0"/>
              </a:spcBef>
              <a:spcAft>
                <a:spcPts val="0"/>
              </a:spcAft>
            </a:pPr>
            <a:r>
              <a:rPr sz="1200" b="1">
                <a:solidFill>
                  <a:srgbClr val="1E293B"/>
                </a:solidFill>
                <a:latin typeface="Calibri"/>
              </a:rPr>
              <a:t>Trial Plan</a:t>
            </a:r>
          </a:p>
        </p:txBody>
      </p:sp>
      <p:sp>
        <p:nvSpPr>
          <p:cNvPr id="7" name="TextBox 6"/>
          <p:cNvSpPr txBox="1"/>
          <p:nvPr/>
        </p:nvSpPr>
        <p:spPr>
          <a:xfrm>
            <a:off x="594360" y="1435608"/>
            <a:ext cx="3657600" cy="320040"/>
          </a:xfrm>
          <a:prstGeom prst="rect">
            <a:avLst/>
          </a:prstGeom>
          <a:noFill/>
        </p:spPr>
        <p:txBody>
          <a:bodyPr wrap="square"/>
          <a:lstStyle/>
          <a:p>
            <a:pPr algn="l">
              <a:lnSpc>
                <a:spcPct val="135000"/>
              </a:lnSpc>
              <a:spcBef>
                <a:spcPts val="0"/>
              </a:spcBef>
              <a:spcAft>
                <a:spcPts val="0"/>
              </a:spcAft>
            </a:pPr>
            <a:r>
              <a:rPr sz="1400" b="1">
                <a:solidFill>
                  <a:srgbClr val="2563EB"/>
                </a:solidFill>
                <a:latin typeface="Calibri"/>
              </a:rPr>
              <a:t>¥5,000 ($33)</a:t>
            </a:r>
          </a:p>
        </p:txBody>
      </p:sp>
      <p:sp>
        <p:nvSpPr>
          <p:cNvPr id="8" name="TextBox 7"/>
          <p:cNvSpPr txBox="1"/>
          <p:nvPr/>
        </p:nvSpPr>
        <p:spPr>
          <a:xfrm>
            <a:off x="594360" y="1828800"/>
            <a:ext cx="3657600" cy="914400"/>
          </a:xfrm>
          <a:prstGeom prst="rect">
            <a:avLst/>
          </a:prstGeom>
          <a:noFill/>
        </p:spPr>
        <p:txBody>
          <a:bodyPr wrap="square"/>
          <a:lstStyle/>
          <a:p>
            <a:pPr algn="l">
              <a:lnSpc>
                <a:spcPct val="135000"/>
              </a:lnSpc>
              <a:spcBef>
                <a:spcPts val="0"/>
              </a:spcBef>
              <a:spcAft>
                <a:spcPts val="0"/>
              </a:spcAft>
            </a:pPr>
            <a:r>
              <a:rPr sz="1000" b="0">
                <a:solidFill>
                  <a:srgbClr val="475569"/>
                </a:solidFill>
                <a:latin typeface="Calibri"/>
              </a:rPr>
              <a:t>Experience three-layer storage with A4 laminate. Voice QR → laminate + NDL deposit + GitHub.</a:t>
            </a:r>
          </a:p>
        </p:txBody>
      </p:sp>
      <p:sp>
        <p:nvSpPr>
          <p:cNvPr id="9" name="Rectangle 8"/>
          <p:cNvSpPr/>
          <p:nvPr/>
        </p:nvSpPr>
        <p:spPr>
          <a:xfrm>
            <a:off x="4617720" y="1051560"/>
            <a:ext cx="3931920" cy="1783080"/>
          </a:xfrm>
          <a:prstGeom prst="rect">
            <a:avLst/>
          </a:prstGeom>
          <a:solidFill>
            <a:srgbClr val="FFFFFF"/>
          </a:solidFill>
          <a:ln w="9525">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754880" y="1143000"/>
            <a:ext cx="3657600" cy="274320"/>
          </a:xfrm>
          <a:prstGeom prst="rect">
            <a:avLst/>
          </a:prstGeom>
          <a:noFill/>
        </p:spPr>
        <p:txBody>
          <a:bodyPr wrap="square"/>
          <a:lstStyle/>
          <a:p>
            <a:pPr algn="l">
              <a:lnSpc>
                <a:spcPct val="135000"/>
              </a:lnSpc>
              <a:spcBef>
                <a:spcPts val="0"/>
              </a:spcBef>
              <a:spcAft>
                <a:spcPts val="0"/>
              </a:spcAft>
            </a:pPr>
            <a:r>
              <a:rPr sz="1200" b="1">
                <a:solidFill>
                  <a:srgbClr val="1E293B"/>
                </a:solidFill>
                <a:latin typeface="Calibri"/>
              </a:rPr>
              <a:t>Individual Plan</a:t>
            </a:r>
          </a:p>
        </p:txBody>
      </p:sp>
      <p:sp>
        <p:nvSpPr>
          <p:cNvPr id="11" name="TextBox 10"/>
          <p:cNvSpPr txBox="1"/>
          <p:nvPr/>
        </p:nvSpPr>
        <p:spPr>
          <a:xfrm>
            <a:off x="4754880" y="1435608"/>
            <a:ext cx="3657600" cy="320040"/>
          </a:xfrm>
          <a:prstGeom prst="rect">
            <a:avLst/>
          </a:prstGeom>
          <a:noFill/>
        </p:spPr>
        <p:txBody>
          <a:bodyPr wrap="square"/>
          <a:lstStyle/>
          <a:p>
            <a:pPr algn="l">
              <a:lnSpc>
                <a:spcPct val="135000"/>
              </a:lnSpc>
              <a:spcBef>
                <a:spcPts val="0"/>
              </a:spcBef>
              <a:spcAft>
                <a:spcPts val="0"/>
              </a:spcAft>
            </a:pPr>
            <a:r>
              <a:rPr sz="1400" b="1">
                <a:solidFill>
                  <a:srgbClr val="2563EB"/>
                </a:solidFill>
                <a:latin typeface="Calibri"/>
              </a:rPr>
              <a:t>¥50,000 ($330)</a:t>
            </a:r>
          </a:p>
        </p:txBody>
      </p:sp>
      <p:sp>
        <p:nvSpPr>
          <p:cNvPr id="12" name="TextBox 11"/>
          <p:cNvSpPr txBox="1"/>
          <p:nvPr/>
        </p:nvSpPr>
        <p:spPr>
          <a:xfrm>
            <a:off x="4754880" y="1828800"/>
            <a:ext cx="3657600" cy="914400"/>
          </a:xfrm>
          <a:prstGeom prst="rect">
            <a:avLst/>
          </a:prstGeom>
          <a:noFill/>
        </p:spPr>
        <p:txBody>
          <a:bodyPr wrap="square"/>
          <a:lstStyle/>
          <a:p>
            <a:pPr algn="l">
              <a:lnSpc>
                <a:spcPct val="135000"/>
              </a:lnSpc>
              <a:spcBef>
                <a:spcPts val="0"/>
              </a:spcBef>
              <a:spcAft>
                <a:spcPts val="0"/>
              </a:spcAft>
            </a:pPr>
            <a:r>
              <a:rPr sz="1000" b="0">
                <a:solidFill>
                  <a:srgbClr val="475569"/>
                </a:solidFill>
                <a:latin typeface="Calibri"/>
              </a:rPr>
              <a:t>Inscribed on quartz glass. ¥50 per year. 1,000-year durability (theoretical).</a:t>
            </a:r>
          </a:p>
        </p:txBody>
      </p:sp>
      <p:sp>
        <p:nvSpPr>
          <p:cNvPr id="13" name="Rectangle 12"/>
          <p:cNvSpPr/>
          <p:nvPr/>
        </p:nvSpPr>
        <p:spPr>
          <a:xfrm>
            <a:off x="457200" y="2971800"/>
            <a:ext cx="3931920" cy="1783080"/>
          </a:xfrm>
          <a:prstGeom prst="rect">
            <a:avLst/>
          </a:prstGeom>
          <a:solidFill>
            <a:srgbClr val="FFFFFF"/>
          </a:solidFill>
          <a:ln w="9525">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594360" y="3063240"/>
            <a:ext cx="3657600" cy="274320"/>
          </a:xfrm>
          <a:prstGeom prst="rect">
            <a:avLst/>
          </a:prstGeom>
          <a:noFill/>
        </p:spPr>
        <p:txBody>
          <a:bodyPr wrap="square"/>
          <a:lstStyle/>
          <a:p>
            <a:pPr algn="l">
              <a:lnSpc>
                <a:spcPct val="135000"/>
              </a:lnSpc>
              <a:spcBef>
                <a:spcPts val="0"/>
              </a:spcBef>
              <a:spcAft>
                <a:spcPts val="0"/>
              </a:spcAft>
            </a:pPr>
            <a:r>
              <a:rPr sz="1200" b="1">
                <a:solidFill>
                  <a:srgbClr val="1E293B"/>
                </a:solidFill>
                <a:latin typeface="Calibri"/>
              </a:rPr>
              <a:t>Three-Generation</a:t>
            </a:r>
          </a:p>
        </p:txBody>
      </p:sp>
      <p:sp>
        <p:nvSpPr>
          <p:cNvPr id="15" name="TextBox 14"/>
          <p:cNvSpPr txBox="1"/>
          <p:nvPr/>
        </p:nvSpPr>
        <p:spPr>
          <a:xfrm>
            <a:off x="594360" y="3355848"/>
            <a:ext cx="3657600" cy="320040"/>
          </a:xfrm>
          <a:prstGeom prst="rect">
            <a:avLst/>
          </a:prstGeom>
          <a:noFill/>
        </p:spPr>
        <p:txBody>
          <a:bodyPr wrap="square"/>
          <a:lstStyle/>
          <a:p>
            <a:pPr algn="l">
              <a:lnSpc>
                <a:spcPct val="135000"/>
              </a:lnSpc>
              <a:spcBef>
                <a:spcPts val="0"/>
              </a:spcBef>
              <a:spcAft>
                <a:spcPts val="0"/>
              </a:spcAft>
            </a:pPr>
            <a:r>
              <a:rPr sz="1400" b="1">
                <a:solidFill>
                  <a:srgbClr val="2563EB"/>
                </a:solidFill>
                <a:latin typeface="Calibri"/>
              </a:rPr>
              <a:t>¥550,000 ($3,600)</a:t>
            </a:r>
          </a:p>
        </p:txBody>
      </p:sp>
      <p:sp>
        <p:nvSpPr>
          <p:cNvPr id="16" name="TextBox 15"/>
          <p:cNvSpPr txBox="1"/>
          <p:nvPr/>
        </p:nvSpPr>
        <p:spPr>
          <a:xfrm>
            <a:off x="594360" y="3749040"/>
            <a:ext cx="3657600" cy="914400"/>
          </a:xfrm>
          <a:prstGeom prst="rect">
            <a:avLst/>
          </a:prstGeom>
          <a:noFill/>
        </p:spPr>
        <p:txBody>
          <a:bodyPr wrap="square"/>
          <a:lstStyle/>
          <a:p>
            <a:pPr algn="l">
              <a:lnSpc>
                <a:spcPct val="135000"/>
              </a:lnSpc>
              <a:spcBef>
                <a:spcPts val="0"/>
              </a:spcBef>
              <a:spcAft>
                <a:spcPts val="0"/>
              </a:spcAft>
            </a:pPr>
            <a:r>
              <a:rPr sz="1000" b="0">
                <a:solidFill>
                  <a:srgbClr val="475569"/>
                </a:solidFill>
                <a:latin typeface="Calibri"/>
              </a:rPr>
              <a:t>Three family members + on-site inscription on Sado Island. Recommended.</a:t>
            </a:r>
          </a:p>
        </p:txBody>
      </p:sp>
      <p:sp>
        <p:nvSpPr>
          <p:cNvPr id="17" name="Rectangle 16"/>
          <p:cNvSpPr/>
          <p:nvPr/>
        </p:nvSpPr>
        <p:spPr>
          <a:xfrm>
            <a:off x="4617720" y="2971800"/>
            <a:ext cx="3931920" cy="1783080"/>
          </a:xfrm>
          <a:prstGeom prst="rect">
            <a:avLst/>
          </a:prstGeom>
          <a:solidFill>
            <a:srgbClr val="FFFFFF"/>
          </a:solidFill>
          <a:ln w="9525">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754880" y="3063240"/>
            <a:ext cx="3657600" cy="274320"/>
          </a:xfrm>
          <a:prstGeom prst="rect">
            <a:avLst/>
          </a:prstGeom>
          <a:noFill/>
        </p:spPr>
        <p:txBody>
          <a:bodyPr wrap="square"/>
          <a:lstStyle/>
          <a:p>
            <a:pPr algn="l">
              <a:lnSpc>
                <a:spcPct val="135000"/>
              </a:lnSpc>
              <a:spcBef>
                <a:spcPts val="0"/>
              </a:spcBef>
              <a:spcAft>
                <a:spcPts val="0"/>
              </a:spcAft>
            </a:pPr>
            <a:r>
              <a:rPr sz="1200" b="1">
                <a:solidFill>
                  <a:srgbClr val="1E293B"/>
                </a:solidFill>
                <a:latin typeface="Calibri"/>
              </a:rPr>
              <a:t>Voice Memorial</a:t>
            </a:r>
          </a:p>
        </p:txBody>
      </p:sp>
      <p:sp>
        <p:nvSpPr>
          <p:cNvPr id="19" name="TextBox 18"/>
          <p:cNvSpPr txBox="1"/>
          <p:nvPr/>
        </p:nvSpPr>
        <p:spPr>
          <a:xfrm>
            <a:off x="4754880" y="3355848"/>
            <a:ext cx="3657600" cy="320040"/>
          </a:xfrm>
          <a:prstGeom prst="rect">
            <a:avLst/>
          </a:prstGeom>
          <a:noFill/>
        </p:spPr>
        <p:txBody>
          <a:bodyPr wrap="square"/>
          <a:lstStyle/>
          <a:p>
            <a:pPr algn="l">
              <a:lnSpc>
                <a:spcPct val="135000"/>
              </a:lnSpc>
              <a:spcBef>
                <a:spcPts val="0"/>
              </a:spcBef>
              <a:spcAft>
                <a:spcPts val="0"/>
              </a:spcAft>
            </a:pPr>
            <a:r>
              <a:rPr sz="1400" b="1">
                <a:solidFill>
                  <a:srgbClr val="2563EB"/>
                </a:solidFill>
                <a:latin typeface="Calibri"/>
              </a:rPr>
              <a:t>¥5,550,000 ($36,500)</a:t>
            </a:r>
          </a:p>
        </p:txBody>
      </p:sp>
      <p:sp>
        <p:nvSpPr>
          <p:cNvPr id="20" name="TextBox 19"/>
          <p:cNvSpPr txBox="1"/>
          <p:nvPr/>
        </p:nvSpPr>
        <p:spPr>
          <a:xfrm>
            <a:off x="4754880" y="3749040"/>
            <a:ext cx="3657600" cy="914400"/>
          </a:xfrm>
          <a:prstGeom prst="rect">
            <a:avLst/>
          </a:prstGeom>
          <a:noFill/>
        </p:spPr>
        <p:txBody>
          <a:bodyPr wrap="square"/>
          <a:lstStyle/>
          <a:p>
            <a:pPr algn="l">
              <a:lnSpc>
                <a:spcPct val="135000"/>
              </a:lnSpc>
              <a:spcBef>
                <a:spcPts val="0"/>
              </a:spcBef>
              <a:spcAft>
                <a:spcPts val="0"/>
              </a:spcAft>
            </a:pPr>
            <a:r>
              <a:rPr sz="1000" b="0">
                <a:solidFill>
                  <a:srgbClr val="475569"/>
                </a:solidFill>
                <a:latin typeface="Calibri"/>
              </a:rPr>
              <a:t>Fully bespoke. Voice restoration, custom design, premium experience.</a:t>
            </a:r>
          </a:p>
        </p:txBody>
      </p:sp>
      <p:sp>
        <p:nvSpPr>
          <p:cNvPr id="21" name="Rectangle 20"/>
          <p:cNvSpPr/>
          <p:nvPr/>
        </p:nvSpPr>
        <p:spPr>
          <a:xfrm>
            <a:off x="0" y="4796028"/>
            <a:ext cx="9144000" cy="6350"/>
          </a:xfrm>
          <a:prstGeom prst="rect">
            <a:avLst/>
          </a:prstGeom>
          <a:solidFill>
            <a:srgbClr val="E2E8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457200" y="4821428"/>
            <a:ext cx="3657600" cy="274320"/>
          </a:xfrm>
          <a:prstGeom prst="rect">
            <a:avLst/>
          </a:prstGeom>
          <a:noFill/>
        </p:spPr>
        <p:txBody>
          <a:bodyPr wrap="square"/>
          <a:lstStyle/>
          <a:p>
            <a:pPr algn="l">
              <a:lnSpc>
                <a:spcPct val="135000"/>
              </a:lnSpc>
              <a:spcBef>
                <a:spcPts val="0"/>
              </a:spcBef>
              <a:spcAft>
                <a:spcPts val="0"/>
              </a:spcAft>
            </a:pPr>
            <a:r>
              <a:rPr sz="900" b="0">
                <a:solidFill>
                  <a:srgbClr val="94A3B8"/>
                </a:solidFill>
                <a:latin typeface="Calibri"/>
              </a:rPr>
              <a:t>TokiStorage — Partnership Proposal</a:t>
            </a:r>
          </a:p>
        </p:txBody>
      </p:sp>
      <p:sp>
        <p:nvSpPr>
          <p:cNvPr id="23" name="TextBox 22"/>
          <p:cNvSpPr txBox="1"/>
          <p:nvPr/>
        </p:nvSpPr>
        <p:spPr>
          <a:xfrm>
            <a:off x="3657600" y="4821428"/>
            <a:ext cx="1828800" cy="274320"/>
          </a:xfrm>
          <a:prstGeom prst="rect">
            <a:avLst/>
          </a:prstGeom>
          <a:noFill/>
        </p:spPr>
        <p:txBody>
          <a:bodyPr wrap="square"/>
          <a:lstStyle/>
          <a:p>
            <a:pPr algn="ctr">
              <a:lnSpc>
                <a:spcPct val="135000"/>
              </a:lnSpc>
              <a:spcBef>
                <a:spcPts val="0"/>
              </a:spcBef>
              <a:spcAft>
                <a:spcPts val="0"/>
              </a:spcAft>
            </a:pPr>
            <a:r>
              <a:rPr sz="900" b="0">
                <a:solidFill>
                  <a:srgbClr val="94A3B8"/>
                </a:solidFill>
                <a:latin typeface="Calibri"/>
              </a:rPr>
              <a:t>Confidential</a:t>
            </a:r>
          </a:p>
        </p:txBody>
      </p:sp>
      <p:sp>
        <p:nvSpPr>
          <p:cNvPr id="24" name="TextBox 23"/>
          <p:cNvSpPr txBox="1"/>
          <p:nvPr/>
        </p:nvSpPr>
        <p:spPr>
          <a:xfrm>
            <a:off x="8229600" y="4821428"/>
            <a:ext cx="457200" cy="274320"/>
          </a:xfrm>
          <a:prstGeom prst="rect">
            <a:avLst/>
          </a:prstGeom>
          <a:noFill/>
        </p:spPr>
        <p:txBody>
          <a:bodyPr wrap="square"/>
          <a:lstStyle/>
          <a:p>
            <a:pPr algn="r">
              <a:lnSpc>
                <a:spcPct val="135000"/>
              </a:lnSpc>
              <a:spcBef>
                <a:spcPts val="0"/>
              </a:spcBef>
              <a:spcAft>
                <a:spcPts val="0"/>
              </a:spcAft>
            </a:pPr>
            <a:r>
              <a:rPr sz="900" b="1">
                <a:solidFill>
                  <a:srgbClr val="94A3B8"/>
                </a:solidFill>
                <a:latin typeface="Calibri"/>
              </a:rPr>
              <a:t>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94360"/>
          </a:xfrm>
          <a:prstGeom prst="rect">
            <a:avLst/>
          </a:prstGeom>
          <a:solidFill>
            <a:srgbClr val="1E29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0"/>
            <a:ext cx="8229600" cy="594360"/>
          </a:xfrm>
          <a:prstGeom prst="rect">
            <a:avLst/>
          </a:prstGeom>
          <a:noFill/>
        </p:spPr>
        <p:txBody>
          <a:bodyPr wrap="square" anchor="ctr"/>
          <a:lstStyle/>
          <a:p>
            <a:pPr algn="l">
              <a:lnSpc>
                <a:spcPct val="135000"/>
              </a:lnSpc>
              <a:spcBef>
                <a:spcPts val="0"/>
              </a:spcBef>
              <a:spcAft>
                <a:spcPts val="0"/>
              </a:spcAft>
            </a:pPr>
            <a:r>
              <a:rPr sz="1200" b="1">
                <a:solidFill>
                  <a:srgbClr val="FFFFFF"/>
                </a:solidFill>
                <a:latin typeface="Calibri"/>
              </a:rPr>
              <a:t>Three partnership models tailored to your business model, with progressive escalation possible</a:t>
            </a:r>
          </a:p>
        </p:txBody>
      </p:sp>
      <p:sp>
        <p:nvSpPr>
          <p:cNvPr id="4" name="TextBox 3"/>
          <p:cNvSpPr txBox="1"/>
          <p:nvPr/>
        </p:nvSpPr>
        <p:spPr>
          <a:xfrm>
            <a:off x="457200" y="731520"/>
            <a:ext cx="2743200" cy="274320"/>
          </a:xfrm>
          <a:prstGeom prst="rect">
            <a:avLst/>
          </a:prstGeom>
          <a:noFill/>
        </p:spPr>
        <p:txBody>
          <a:bodyPr wrap="square"/>
          <a:lstStyle/>
          <a:p>
            <a:pPr algn="l">
              <a:lnSpc>
                <a:spcPct val="135000"/>
              </a:lnSpc>
              <a:spcBef>
                <a:spcPts val="0"/>
              </a:spcBef>
              <a:spcAft>
                <a:spcPts val="0"/>
              </a:spcAft>
            </a:pPr>
            <a:r>
              <a:rPr sz="1000" b="1">
                <a:solidFill>
                  <a:srgbClr val="2563EB"/>
                </a:solidFill>
                <a:latin typeface="Calibri"/>
              </a:rPr>
              <a:t>PARTNERSHIP MODELS</a:t>
            </a:r>
          </a:p>
        </p:txBody>
      </p:sp>
      <p:sp>
        <p:nvSpPr>
          <p:cNvPr id="5" name="Rectangle 4"/>
          <p:cNvSpPr/>
          <p:nvPr/>
        </p:nvSpPr>
        <p:spPr>
          <a:xfrm>
            <a:off x="457200" y="1051560"/>
            <a:ext cx="7863840" cy="1051560"/>
          </a:xfrm>
          <a:prstGeom prst="rect">
            <a:avLst/>
          </a:prstGeom>
          <a:solidFill>
            <a:srgbClr val="FFFFFF"/>
          </a:solidFill>
          <a:ln w="9525">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94360" y="1170432"/>
            <a:ext cx="777240" cy="822960"/>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94360" y="1170432"/>
            <a:ext cx="777240" cy="822960"/>
          </a:xfrm>
          <a:prstGeom prst="rect">
            <a:avLst/>
          </a:prstGeom>
          <a:noFill/>
        </p:spPr>
        <p:txBody>
          <a:bodyPr wrap="square" anchor="ctr"/>
          <a:lstStyle/>
          <a:p>
            <a:pPr algn="ctr">
              <a:lnSpc>
                <a:spcPct val="135000"/>
              </a:lnSpc>
              <a:spcBef>
                <a:spcPts val="0"/>
              </a:spcBef>
              <a:spcAft>
                <a:spcPts val="0"/>
              </a:spcAft>
            </a:pPr>
            <a:r>
              <a:rPr sz="800" b="1">
                <a:solidFill>
                  <a:srgbClr val="FFFFFF"/>
                </a:solidFill>
                <a:latin typeface="Calibri"/>
              </a:rPr>
              <a:t>Referral</a:t>
            </a:r>
          </a:p>
        </p:txBody>
      </p:sp>
      <p:sp>
        <p:nvSpPr>
          <p:cNvPr id="8" name="TextBox 7"/>
          <p:cNvSpPr txBox="1"/>
          <p:nvPr/>
        </p:nvSpPr>
        <p:spPr>
          <a:xfrm>
            <a:off x="1508760" y="1124712"/>
            <a:ext cx="6675120" cy="347472"/>
          </a:xfrm>
          <a:prstGeom prst="rect">
            <a:avLst/>
          </a:prstGeom>
          <a:noFill/>
        </p:spPr>
        <p:txBody>
          <a:bodyPr wrap="square"/>
          <a:lstStyle/>
          <a:p>
            <a:pPr algn="l">
              <a:lnSpc>
                <a:spcPct val="135000"/>
              </a:lnSpc>
              <a:spcBef>
                <a:spcPts val="0"/>
              </a:spcBef>
              <a:spcAft>
                <a:spcPts val="0"/>
              </a:spcAft>
            </a:pPr>
            <a:r>
              <a:rPr sz="1100" b="1">
                <a:solidFill>
                  <a:srgbClr val="1E293B"/>
                </a:solidFill>
                <a:latin typeface="Calibri"/>
              </a:rPr>
              <a:t>A. Client Referral Partnership</a:t>
            </a:r>
          </a:p>
        </p:txBody>
      </p:sp>
      <p:sp>
        <p:nvSpPr>
          <p:cNvPr id="9" name="TextBox 8"/>
          <p:cNvSpPr txBox="1"/>
          <p:nvPr/>
        </p:nvSpPr>
        <p:spPr>
          <a:xfrm>
            <a:off x="1508760" y="1417320"/>
            <a:ext cx="6675120" cy="310896"/>
          </a:xfrm>
          <a:prstGeom prst="rect">
            <a:avLst/>
          </a:prstGeom>
          <a:noFill/>
        </p:spPr>
        <p:txBody>
          <a:bodyPr wrap="square"/>
          <a:lstStyle/>
          <a:p>
            <a:pPr algn="l">
              <a:lnSpc>
                <a:spcPct val="135000"/>
              </a:lnSpc>
              <a:spcBef>
                <a:spcPts val="0"/>
              </a:spcBef>
              <a:spcAft>
                <a:spcPts val="0"/>
              </a:spcAft>
            </a:pPr>
            <a:r>
              <a:rPr sz="1000" b="0">
                <a:solidFill>
                  <a:srgbClr val="475569"/>
                </a:solidFill>
                <a:latin typeface="Calibri"/>
              </a:rPr>
              <a:t>Introduce clients when TokiStorage fits. You receive a referral fee; we handle delivery end-to-end.</a:t>
            </a:r>
          </a:p>
        </p:txBody>
      </p:sp>
      <p:sp>
        <p:nvSpPr>
          <p:cNvPr id="10" name="TextBox 9"/>
          <p:cNvSpPr txBox="1"/>
          <p:nvPr/>
        </p:nvSpPr>
        <p:spPr>
          <a:xfrm>
            <a:off x="1508760" y="1783080"/>
            <a:ext cx="6675120" cy="201168"/>
          </a:xfrm>
          <a:prstGeom prst="rect">
            <a:avLst/>
          </a:prstGeom>
          <a:noFill/>
        </p:spPr>
        <p:txBody>
          <a:bodyPr wrap="square"/>
          <a:lstStyle/>
          <a:p>
            <a:pPr algn="l">
              <a:lnSpc>
                <a:spcPct val="135000"/>
              </a:lnSpc>
              <a:spcBef>
                <a:spcPts val="0"/>
              </a:spcBef>
              <a:spcAft>
                <a:spcPts val="0"/>
              </a:spcAft>
            </a:pPr>
            <a:r>
              <a:rPr sz="900" b="0">
                <a:solidFill>
                  <a:srgbClr val="2563EB"/>
                </a:solidFill>
                <a:latin typeface="Calibri"/>
              </a:rPr>
              <a:t>E.g.: End-of-life consulting → offer proof of existence / Funeral DX → add memorial option</a:t>
            </a:r>
          </a:p>
        </p:txBody>
      </p:sp>
      <p:sp>
        <p:nvSpPr>
          <p:cNvPr id="11" name="Rectangle 10"/>
          <p:cNvSpPr/>
          <p:nvPr/>
        </p:nvSpPr>
        <p:spPr>
          <a:xfrm>
            <a:off x="457200" y="2212848"/>
            <a:ext cx="7863840" cy="1051560"/>
          </a:xfrm>
          <a:prstGeom prst="rect">
            <a:avLst/>
          </a:prstGeom>
          <a:solidFill>
            <a:srgbClr val="FFFFFF"/>
          </a:solidFill>
          <a:ln w="9525">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594360" y="2331720"/>
            <a:ext cx="777240" cy="822960"/>
          </a:xfrm>
          <a:prstGeom prst="rect">
            <a:avLst/>
          </a:prstGeom>
          <a:solidFill>
            <a:srgbClr val="C9A96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94360" y="2331720"/>
            <a:ext cx="777240" cy="822960"/>
          </a:xfrm>
          <a:prstGeom prst="rect">
            <a:avLst/>
          </a:prstGeom>
          <a:noFill/>
        </p:spPr>
        <p:txBody>
          <a:bodyPr wrap="square" anchor="ctr"/>
          <a:lstStyle/>
          <a:p>
            <a:pPr algn="ctr">
              <a:lnSpc>
                <a:spcPct val="135000"/>
              </a:lnSpc>
              <a:spcBef>
                <a:spcPts val="0"/>
              </a:spcBef>
              <a:spcAft>
                <a:spcPts val="0"/>
              </a:spcAft>
            </a:pPr>
            <a:r>
              <a:rPr sz="800" b="1">
                <a:solidFill>
                  <a:srgbClr val="FFFFFF"/>
                </a:solidFill>
                <a:latin typeface="Calibri"/>
              </a:rPr>
              <a:t>Joint</a:t>
            </a:r>
          </a:p>
        </p:txBody>
      </p:sp>
      <p:sp>
        <p:nvSpPr>
          <p:cNvPr id="14" name="TextBox 13"/>
          <p:cNvSpPr txBox="1"/>
          <p:nvPr/>
        </p:nvSpPr>
        <p:spPr>
          <a:xfrm>
            <a:off x="1508760" y="2286000"/>
            <a:ext cx="6675120" cy="347472"/>
          </a:xfrm>
          <a:prstGeom prst="rect">
            <a:avLst/>
          </a:prstGeom>
          <a:noFill/>
        </p:spPr>
        <p:txBody>
          <a:bodyPr wrap="square"/>
          <a:lstStyle/>
          <a:p>
            <a:pPr algn="l">
              <a:lnSpc>
                <a:spcPct val="135000"/>
              </a:lnSpc>
              <a:spcBef>
                <a:spcPts val="0"/>
              </a:spcBef>
              <a:spcAft>
                <a:spcPts val="0"/>
              </a:spcAft>
            </a:pPr>
            <a:r>
              <a:rPr sz="1100" b="1">
                <a:solidFill>
                  <a:srgbClr val="1E293B"/>
                </a:solidFill>
                <a:latin typeface="Calibri"/>
              </a:rPr>
              <a:t>B. Joint Solution Partnership</a:t>
            </a:r>
          </a:p>
        </p:txBody>
      </p:sp>
      <p:sp>
        <p:nvSpPr>
          <p:cNvPr id="15" name="TextBox 14"/>
          <p:cNvSpPr txBox="1"/>
          <p:nvPr/>
        </p:nvSpPr>
        <p:spPr>
          <a:xfrm>
            <a:off x="1508760" y="2578608"/>
            <a:ext cx="6675120" cy="310896"/>
          </a:xfrm>
          <a:prstGeom prst="rect">
            <a:avLst/>
          </a:prstGeom>
          <a:noFill/>
        </p:spPr>
        <p:txBody>
          <a:bodyPr wrap="square"/>
          <a:lstStyle/>
          <a:p>
            <a:pPr algn="l">
              <a:lnSpc>
                <a:spcPct val="135000"/>
              </a:lnSpc>
              <a:spcBef>
                <a:spcPts val="0"/>
              </a:spcBef>
              <a:spcAft>
                <a:spcPts val="0"/>
              </a:spcAft>
            </a:pPr>
            <a:r>
              <a:rPr sz="1000" b="0">
                <a:solidFill>
                  <a:srgbClr val="475569"/>
                </a:solidFill>
                <a:latin typeface="Calibri"/>
              </a:rPr>
              <a:t>Embed TokiStorage into your consulting engagements. Position millennium records as the "outcome layer" of ESG, revitalization, or DX projects.</a:t>
            </a:r>
          </a:p>
        </p:txBody>
      </p:sp>
      <p:sp>
        <p:nvSpPr>
          <p:cNvPr id="16" name="TextBox 15"/>
          <p:cNvSpPr txBox="1"/>
          <p:nvPr/>
        </p:nvSpPr>
        <p:spPr>
          <a:xfrm>
            <a:off x="1508760" y="2944368"/>
            <a:ext cx="6675120" cy="201168"/>
          </a:xfrm>
          <a:prstGeom prst="rect">
            <a:avLst/>
          </a:prstGeom>
          <a:noFill/>
        </p:spPr>
        <p:txBody>
          <a:bodyPr wrap="square"/>
          <a:lstStyle/>
          <a:p>
            <a:pPr algn="l">
              <a:lnSpc>
                <a:spcPct val="135000"/>
              </a:lnSpc>
              <a:spcBef>
                <a:spcPts val="0"/>
              </a:spcBef>
              <a:spcAft>
                <a:spcPts val="0"/>
              </a:spcAft>
            </a:pPr>
            <a:r>
              <a:rPr sz="900" b="0">
                <a:solidFill>
                  <a:srgbClr val="2563EB"/>
                </a:solidFill>
                <a:latin typeface="Calibri"/>
              </a:rPr>
              <a:t>E.g.: Municipal DX → community archive / Hotel CX → guest record upgrade</a:t>
            </a:r>
          </a:p>
        </p:txBody>
      </p:sp>
      <p:sp>
        <p:nvSpPr>
          <p:cNvPr id="17" name="Rectangle 16"/>
          <p:cNvSpPr/>
          <p:nvPr/>
        </p:nvSpPr>
        <p:spPr>
          <a:xfrm>
            <a:off x="457200" y="3374136"/>
            <a:ext cx="7863840" cy="1051560"/>
          </a:xfrm>
          <a:prstGeom prst="rect">
            <a:avLst/>
          </a:prstGeom>
          <a:solidFill>
            <a:srgbClr val="FFFFFF"/>
          </a:solidFill>
          <a:ln w="9525">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594360" y="3493008"/>
            <a:ext cx="777240" cy="822960"/>
          </a:xfrm>
          <a:prstGeom prst="rect">
            <a:avLst/>
          </a:prstGeom>
          <a:solidFill>
            <a:srgbClr val="16A3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94360" y="3493008"/>
            <a:ext cx="777240" cy="822960"/>
          </a:xfrm>
          <a:prstGeom prst="rect">
            <a:avLst/>
          </a:prstGeom>
          <a:noFill/>
        </p:spPr>
        <p:txBody>
          <a:bodyPr wrap="square" anchor="ctr"/>
          <a:lstStyle/>
          <a:p>
            <a:pPr algn="ctr">
              <a:lnSpc>
                <a:spcPct val="135000"/>
              </a:lnSpc>
              <a:spcBef>
                <a:spcPts val="0"/>
              </a:spcBef>
              <a:spcAft>
                <a:spcPts val="0"/>
              </a:spcAft>
            </a:pPr>
            <a:r>
              <a:rPr sz="800" b="1">
                <a:solidFill>
                  <a:srgbClr val="FFFFFF"/>
                </a:solidFill>
                <a:latin typeface="Calibri"/>
              </a:rPr>
              <a:t>Co-Create</a:t>
            </a:r>
          </a:p>
        </p:txBody>
      </p:sp>
      <p:sp>
        <p:nvSpPr>
          <p:cNvPr id="20" name="TextBox 19"/>
          <p:cNvSpPr txBox="1"/>
          <p:nvPr/>
        </p:nvSpPr>
        <p:spPr>
          <a:xfrm>
            <a:off x="1508760" y="3447288"/>
            <a:ext cx="6675120" cy="347472"/>
          </a:xfrm>
          <a:prstGeom prst="rect">
            <a:avLst/>
          </a:prstGeom>
          <a:noFill/>
        </p:spPr>
        <p:txBody>
          <a:bodyPr wrap="square"/>
          <a:lstStyle/>
          <a:p>
            <a:pPr algn="l">
              <a:lnSpc>
                <a:spcPct val="135000"/>
              </a:lnSpc>
              <a:spcBef>
                <a:spcPts val="0"/>
              </a:spcBef>
              <a:spcAft>
                <a:spcPts val="0"/>
              </a:spcAft>
            </a:pPr>
            <a:r>
              <a:rPr sz="1100" b="1">
                <a:solidFill>
                  <a:srgbClr val="1E293B"/>
                </a:solidFill>
                <a:latin typeface="Calibri"/>
              </a:rPr>
              <a:t>C. New Business Co-Creation</a:t>
            </a:r>
          </a:p>
        </p:txBody>
      </p:sp>
      <p:sp>
        <p:nvSpPr>
          <p:cNvPr id="21" name="TextBox 20"/>
          <p:cNvSpPr txBox="1"/>
          <p:nvPr/>
        </p:nvSpPr>
        <p:spPr>
          <a:xfrm>
            <a:off x="1508760" y="3739896"/>
            <a:ext cx="6675120" cy="310896"/>
          </a:xfrm>
          <a:prstGeom prst="rect">
            <a:avLst/>
          </a:prstGeom>
          <a:noFill/>
        </p:spPr>
        <p:txBody>
          <a:bodyPr wrap="square"/>
          <a:lstStyle/>
          <a:p>
            <a:pPr algn="l">
              <a:lnSpc>
                <a:spcPct val="135000"/>
              </a:lnSpc>
              <a:spcBef>
                <a:spcPts val="0"/>
              </a:spcBef>
              <a:spcAft>
                <a:spcPts val="0"/>
              </a:spcAft>
            </a:pPr>
            <a:r>
              <a:rPr sz="1000" b="0">
                <a:solidFill>
                  <a:srgbClr val="475569"/>
                </a:solidFill>
                <a:latin typeface="Calibri"/>
              </a:rPr>
              <a:t>Launch a new venture together. We bring technology, philosophy, and use cases. You bring market access, credibility, and scale.</a:t>
            </a:r>
          </a:p>
        </p:txBody>
      </p:sp>
      <p:sp>
        <p:nvSpPr>
          <p:cNvPr id="22" name="TextBox 21"/>
          <p:cNvSpPr txBox="1"/>
          <p:nvPr/>
        </p:nvSpPr>
        <p:spPr>
          <a:xfrm>
            <a:off x="1508760" y="4105656"/>
            <a:ext cx="6675120" cy="201168"/>
          </a:xfrm>
          <a:prstGeom prst="rect">
            <a:avLst/>
          </a:prstGeom>
          <a:noFill/>
        </p:spPr>
        <p:txBody>
          <a:bodyPr wrap="square"/>
          <a:lstStyle/>
          <a:p>
            <a:pPr algn="l">
              <a:lnSpc>
                <a:spcPct val="135000"/>
              </a:lnSpc>
              <a:spcBef>
                <a:spcPts val="0"/>
              </a:spcBef>
              <a:spcAft>
                <a:spcPts val="0"/>
              </a:spcAft>
            </a:pPr>
            <a:r>
              <a:rPr sz="900" b="0">
                <a:solidFill>
                  <a:srgbClr val="2563EB"/>
                </a:solidFill>
                <a:latin typeface="Calibri"/>
              </a:rPr>
              <a:t>E.g.: Memorial-tech startup / Enterprise perpetual archive service</a:t>
            </a:r>
          </a:p>
        </p:txBody>
      </p:sp>
      <p:sp>
        <p:nvSpPr>
          <p:cNvPr id="23" name="Rectangle 22"/>
          <p:cNvSpPr/>
          <p:nvPr/>
        </p:nvSpPr>
        <p:spPr>
          <a:xfrm>
            <a:off x="0" y="4796028"/>
            <a:ext cx="9144000" cy="6350"/>
          </a:xfrm>
          <a:prstGeom prst="rect">
            <a:avLst/>
          </a:prstGeom>
          <a:solidFill>
            <a:srgbClr val="E2E8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457200" y="4821428"/>
            <a:ext cx="3657600" cy="274320"/>
          </a:xfrm>
          <a:prstGeom prst="rect">
            <a:avLst/>
          </a:prstGeom>
          <a:noFill/>
        </p:spPr>
        <p:txBody>
          <a:bodyPr wrap="square"/>
          <a:lstStyle/>
          <a:p>
            <a:pPr algn="l">
              <a:lnSpc>
                <a:spcPct val="135000"/>
              </a:lnSpc>
              <a:spcBef>
                <a:spcPts val="0"/>
              </a:spcBef>
              <a:spcAft>
                <a:spcPts val="0"/>
              </a:spcAft>
            </a:pPr>
            <a:r>
              <a:rPr sz="900" b="0">
                <a:solidFill>
                  <a:srgbClr val="94A3B8"/>
                </a:solidFill>
                <a:latin typeface="Calibri"/>
              </a:rPr>
              <a:t>TokiStorage — Partnership Proposal</a:t>
            </a:r>
          </a:p>
        </p:txBody>
      </p:sp>
      <p:sp>
        <p:nvSpPr>
          <p:cNvPr id="25" name="TextBox 24"/>
          <p:cNvSpPr txBox="1"/>
          <p:nvPr/>
        </p:nvSpPr>
        <p:spPr>
          <a:xfrm>
            <a:off x="3657600" y="4821428"/>
            <a:ext cx="1828800" cy="274320"/>
          </a:xfrm>
          <a:prstGeom prst="rect">
            <a:avLst/>
          </a:prstGeom>
          <a:noFill/>
        </p:spPr>
        <p:txBody>
          <a:bodyPr wrap="square"/>
          <a:lstStyle/>
          <a:p>
            <a:pPr algn="ctr">
              <a:lnSpc>
                <a:spcPct val="135000"/>
              </a:lnSpc>
              <a:spcBef>
                <a:spcPts val="0"/>
              </a:spcBef>
              <a:spcAft>
                <a:spcPts val="0"/>
              </a:spcAft>
            </a:pPr>
            <a:r>
              <a:rPr sz="900" b="0">
                <a:solidFill>
                  <a:srgbClr val="94A3B8"/>
                </a:solidFill>
                <a:latin typeface="Calibri"/>
              </a:rPr>
              <a:t>Confidential</a:t>
            </a:r>
          </a:p>
        </p:txBody>
      </p:sp>
      <p:sp>
        <p:nvSpPr>
          <p:cNvPr id="26" name="TextBox 25"/>
          <p:cNvSpPr txBox="1"/>
          <p:nvPr/>
        </p:nvSpPr>
        <p:spPr>
          <a:xfrm>
            <a:off x="8229600" y="4821428"/>
            <a:ext cx="457200" cy="274320"/>
          </a:xfrm>
          <a:prstGeom prst="rect">
            <a:avLst/>
          </a:prstGeom>
          <a:noFill/>
        </p:spPr>
        <p:txBody>
          <a:bodyPr wrap="square"/>
          <a:lstStyle/>
          <a:p>
            <a:pPr algn="r">
              <a:lnSpc>
                <a:spcPct val="135000"/>
              </a:lnSpc>
              <a:spcBef>
                <a:spcPts val="0"/>
              </a:spcBef>
              <a:spcAft>
                <a:spcPts val="0"/>
              </a:spcAft>
            </a:pPr>
            <a:r>
              <a:rPr sz="900" b="1">
                <a:solidFill>
                  <a:srgbClr val="94A3B8"/>
                </a:solidFill>
                <a:latin typeface="Calibri"/>
              </a:rPr>
              <a:t>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94360"/>
          </a:xfrm>
          <a:prstGeom prst="rect">
            <a:avLst/>
          </a:prstGeom>
          <a:solidFill>
            <a:srgbClr val="1E29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0"/>
            <a:ext cx="8229600" cy="594360"/>
          </a:xfrm>
          <a:prstGeom prst="rect">
            <a:avLst/>
          </a:prstGeom>
          <a:noFill/>
        </p:spPr>
        <p:txBody>
          <a:bodyPr wrap="square" anchor="ctr"/>
          <a:lstStyle/>
          <a:p>
            <a:pPr algn="l">
              <a:lnSpc>
                <a:spcPct val="135000"/>
              </a:lnSpc>
              <a:spcBef>
                <a:spcPts val="0"/>
              </a:spcBef>
              <a:spcAft>
                <a:spcPts val="0"/>
              </a:spcAft>
            </a:pPr>
            <a:r>
              <a:rPr sz="1200" b="1">
                <a:solidFill>
                  <a:srgbClr val="FFFFFF"/>
                </a:solidFill>
                <a:latin typeface="Calibri"/>
              </a:rPr>
              <a:t>Three major AI platforms and cultural institutions have independently validated us</a:t>
            </a:r>
          </a:p>
        </p:txBody>
      </p:sp>
      <p:sp>
        <p:nvSpPr>
          <p:cNvPr id="4" name="TextBox 3"/>
          <p:cNvSpPr txBox="1"/>
          <p:nvPr/>
        </p:nvSpPr>
        <p:spPr>
          <a:xfrm>
            <a:off x="457200" y="731520"/>
            <a:ext cx="2743200" cy="274320"/>
          </a:xfrm>
          <a:prstGeom prst="rect">
            <a:avLst/>
          </a:prstGeom>
          <a:noFill/>
        </p:spPr>
        <p:txBody>
          <a:bodyPr wrap="square"/>
          <a:lstStyle/>
          <a:p>
            <a:pPr algn="l">
              <a:lnSpc>
                <a:spcPct val="135000"/>
              </a:lnSpc>
              <a:spcBef>
                <a:spcPts val="0"/>
              </a:spcBef>
              <a:spcAft>
                <a:spcPts val="0"/>
              </a:spcAft>
            </a:pPr>
            <a:r>
              <a:rPr sz="1000" b="1">
                <a:solidFill>
                  <a:srgbClr val="2563EB"/>
                </a:solidFill>
                <a:latin typeface="Calibri"/>
              </a:rPr>
              <a:t>TRACTION &amp; TRUST</a:t>
            </a:r>
          </a:p>
        </p:txBody>
      </p:sp>
      <p:sp>
        <p:nvSpPr>
          <p:cNvPr id="5" name="Rectangle 4"/>
          <p:cNvSpPr/>
          <p:nvPr/>
        </p:nvSpPr>
        <p:spPr>
          <a:xfrm>
            <a:off x="457200" y="1051560"/>
            <a:ext cx="2606040" cy="2011680"/>
          </a:xfrm>
          <a:prstGeom prst="rect">
            <a:avLst/>
          </a:prstGeom>
          <a:solidFill>
            <a:srgbClr val="FFFFFF"/>
          </a:solidFill>
          <a:ln w="9525">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94360" y="1143000"/>
            <a:ext cx="2331720" cy="228600"/>
          </a:xfrm>
          <a:prstGeom prst="rect">
            <a:avLst/>
          </a:prstGeom>
          <a:noFill/>
        </p:spPr>
        <p:txBody>
          <a:bodyPr wrap="square"/>
          <a:lstStyle/>
          <a:p>
            <a:pPr algn="l">
              <a:lnSpc>
                <a:spcPct val="135000"/>
              </a:lnSpc>
              <a:spcBef>
                <a:spcPts val="0"/>
              </a:spcBef>
              <a:spcAft>
                <a:spcPts val="0"/>
              </a:spcAft>
            </a:pPr>
            <a:r>
              <a:rPr sz="900" b="1">
                <a:solidFill>
                  <a:srgbClr val="2563EB"/>
                </a:solidFill>
                <a:latin typeface="Calibri"/>
              </a:rPr>
              <a:t>Claude / Anthropic</a:t>
            </a:r>
          </a:p>
        </p:txBody>
      </p:sp>
      <p:sp>
        <p:nvSpPr>
          <p:cNvPr id="7" name="TextBox 6"/>
          <p:cNvSpPr txBox="1"/>
          <p:nvPr/>
        </p:nvSpPr>
        <p:spPr>
          <a:xfrm>
            <a:off x="594360" y="1417320"/>
            <a:ext cx="2331720" cy="274320"/>
          </a:xfrm>
          <a:prstGeom prst="rect">
            <a:avLst/>
          </a:prstGeom>
          <a:noFill/>
        </p:spPr>
        <p:txBody>
          <a:bodyPr wrap="square"/>
          <a:lstStyle/>
          <a:p>
            <a:pPr algn="l">
              <a:lnSpc>
                <a:spcPct val="135000"/>
              </a:lnSpc>
              <a:spcBef>
                <a:spcPts val="0"/>
              </a:spcBef>
              <a:spcAft>
                <a:spcPts val="0"/>
              </a:spcAft>
            </a:pPr>
            <a:r>
              <a:rPr sz="1100" b="1">
                <a:solidFill>
                  <a:srgbClr val="1E293B"/>
                </a:solidFill>
                <a:latin typeface="Calibri"/>
              </a:rPr>
              <a:t>Architecture Design</a:t>
            </a:r>
          </a:p>
        </p:txBody>
      </p:sp>
      <p:sp>
        <p:nvSpPr>
          <p:cNvPr id="8" name="TextBox 7"/>
          <p:cNvSpPr txBox="1"/>
          <p:nvPr/>
        </p:nvSpPr>
        <p:spPr>
          <a:xfrm>
            <a:off x="594360" y="1737360"/>
            <a:ext cx="2331720" cy="1234440"/>
          </a:xfrm>
          <a:prstGeom prst="rect">
            <a:avLst/>
          </a:prstGeom>
          <a:noFill/>
        </p:spPr>
        <p:txBody>
          <a:bodyPr wrap="square"/>
          <a:lstStyle/>
          <a:p>
            <a:pPr algn="l">
              <a:lnSpc>
                <a:spcPct val="135000"/>
              </a:lnSpc>
              <a:spcBef>
                <a:spcPts val="0"/>
              </a:spcBef>
              <a:spcAft>
                <a:spcPts val="0"/>
              </a:spcAft>
            </a:pPr>
            <a:r>
              <a:rPr sz="1000" b="0">
                <a:solidFill>
                  <a:srgbClr val="475569"/>
                </a:solidFill>
                <a:latin typeface="Calibri"/>
              </a:rPr>
              <a:t>"The three-layer architecture eliminates single points of failure and maximizes information survival probability"</a:t>
            </a:r>
          </a:p>
        </p:txBody>
      </p:sp>
      <p:sp>
        <p:nvSpPr>
          <p:cNvPr id="9" name="Rectangle 8"/>
          <p:cNvSpPr/>
          <p:nvPr/>
        </p:nvSpPr>
        <p:spPr>
          <a:xfrm>
            <a:off x="3273552" y="1051560"/>
            <a:ext cx="2606040" cy="2011680"/>
          </a:xfrm>
          <a:prstGeom prst="rect">
            <a:avLst/>
          </a:prstGeom>
          <a:solidFill>
            <a:srgbClr val="FFFFFF"/>
          </a:solidFill>
          <a:ln w="9525">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410712" y="1143000"/>
            <a:ext cx="2331720" cy="228600"/>
          </a:xfrm>
          <a:prstGeom prst="rect">
            <a:avLst/>
          </a:prstGeom>
          <a:noFill/>
        </p:spPr>
        <p:txBody>
          <a:bodyPr wrap="square"/>
          <a:lstStyle/>
          <a:p>
            <a:pPr algn="l">
              <a:lnSpc>
                <a:spcPct val="135000"/>
              </a:lnSpc>
              <a:spcBef>
                <a:spcPts val="0"/>
              </a:spcBef>
              <a:spcAft>
                <a:spcPts val="0"/>
              </a:spcAft>
            </a:pPr>
            <a:r>
              <a:rPr sz="900" b="1">
                <a:solidFill>
                  <a:srgbClr val="2563EB"/>
                </a:solidFill>
                <a:latin typeface="Calibri"/>
              </a:rPr>
              <a:t>Gemini / Google</a:t>
            </a:r>
          </a:p>
        </p:txBody>
      </p:sp>
      <p:sp>
        <p:nvSpPr>
          <p:cNvPr id="11" name="TextBox 10"/>
          <p:cNvSpPr txBox="1"/>
          <p:nvPr/>
        </p:nvSpPr>
        <p:spPr>
          <a:xfrm>
            <a:off x="3410712" y="1417320"/>
            <a:ext cx="2331720" cy="274320"/>
          </a:xfrm>
          <a:prstGeom prst="rect">
            <a:avLst/>
          </a:prstGeom>
          <a:noFill/>
        </p:spPr>
        <p:txBody>
          <a:bodyPr wrap="square"/>
          <a:lstStyle/>
          <a:p>
            <a:pPr algn="l">
              <a:lnSpc>
                <a:spcPct val="135000"/>
              </a:lnSpc>
              <a:spcBef>
                <a:spcPts val="0"/>
              </a:spcBef>
              <a:spcAft>
                <a:spcPts val="0"/>
              </a:spcAft>
            </a:pPr>
            <a:r>
              <a:rPr sz="1100" b="1">
                <a:solidFill>
                  <a:srgbClr val="1E293B"/>
                </a:solidFill>
                <a:latin typeface="Calibri"/>
              </a:rPr>
              <a:t>Institutional Design</a:t>
            </a:r>
          </a:p>
        </p:txBody>
      </p:sp>
      <p:sp>
        <p:nvSpPr>
          <p:cNvPr id="12" name="TextBox 11"/>
          <p:cNvSpPr txBox="1"/>
          <p:nvPr/>
        </p:nvSpPr>
        <p:spPr>
          <a:xfrm>
            <a:off x="3410712" y="1737360"/>
            <a:ext cx="2331720" cy="1234440"/>
          </a:xfrm>
          <a:prstGeom prst="rect">
            <a:avLst/>
          </a:prstGeom>
          <a:noFill/>
        </p:spPr>
        <p:txBody>
          <a:bodyPr wrap="square"/>
          <a:lstStyle/>
          <a:p>
            <a:pPr algn="l">
              <a:lnSpc>
                <a:spcPct val="135000"/>
              </a:lnSpc>
              <a:spcBef>
                <a:spcPts val="0"/>
              </a:spcBef>
              <a:spcAft>
                <a:spcPts val="0"/>
              </a:spcAft>
            </a:pPr>
            <a:r>
              <a:rPr sz="1000" b="0">
                <a:solidFill>
                  <a:srgbClr val="475569"/>
                </a:solidFill>
                <a:latin typeface="Calibri"/>
              </a:rPr>
              <a:t>"A sophisticated design that leverages the architecture of legal systems"</a:t>
            </a:r>
          </a:p>
        </p:txBody>
      </p:sp>
      <p:sp>
        <p:nvSpPr>
          <p:cNvPr id="13" name="Rectangle 12"/>
          <p:cNvSpPr/>
          <p:nvPr/>
        </p:nvSpPr>
        <p:spPr>
          <a:xfrm>
            <a:off x="6089904" y="1051560"/>
            <a:ext cx="2606040" cy="2011680"/>
          </a:xfrm>
          <a:prstGeom prst="rect">
            <a:avLst/>
          </a:prstGeom>
          <a:solidFill>
            <a:srgbClr val="FFFFFF"/>
          </a:solidFill>
          <a:ln w="9525">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227064" y="1143000"/>
            <a:ext cx="2331720" cy="228600"/>
          </a:xfrm>
          <a:prstGeom prst="rect">
            <a:avLst/>
          </a:prstGeom>
          <a:noFill/>
        </p:spPr>
        <p:txBody>
          <a:bodyPr wrap="square"/>
          <a:lstStyle/>
          <a:p>
            <a:pPr algn="l">
              <a:lnSpc>
                <a:spcPct val="135000"/>
              </a:lnSpc>
              <a:spcBef>
                <a:spcPts val="0"/>
              </a:spcBef>
              <a:spcAft>
                <a:spcPts val="0"/>
              </a:spcAft>
            </a:pPr>
            <a:r>
              <a:rPr sz="900" b="1">
                <a:solidFill>
                  <a:srgbClr val="2563EB"/>
                </a:solidFill>
                <a:latin typeface="Calibri"/>
              </a:rPr>
              <a:t>ChatGPT / OpenAI</a:t>
            </a:r>
          </a:p>
        </p:txBody>
      </p:sp>
      <p:sp>
        <p:nvSpPr>
          <p:cNvPr id="15" name="TextBox 14"/>
          <p:cNvSpPr txBox="1"/>
          <p:nvPr/>
        </p:nvSpPr>
        <p:spPr>
          <a:xfrm>
            <a:off x="6227064" y="1417320"/>
            <a:ext cx="2331720" cy="274320"/>
          </a:xfrm>
          <a:prstGeom prst="rect">
            <a:avLst/>
          </a:prstGeom>
          <a:noFill/>
        </p:spPr>
        <p:txBody>
          <a:bodyPr wrap="square"/>
          <a:lstStyle/>
          <a:p>
            <a:pPr algn="l">
              <a:lnSpc>
                <a:spcPct val="135000"/>
              </a:lnSpc>
              <a:spcBef>
                <a:spcPts val="0"/>
              </a:spcBef>
              <a:spcAft>
                <a:spcPts val="0"/>
              </a:spcAft>
            </a:pPr>
            <a:r>
              <a:rPr sz="1100" b="1">
                <a:solidFill>
                  <a:srgbClr val="1E293B"/>
                </a:solidFill>
                <a:latin typeface="Calibri"/>
              </a:rPr>
              <a:t>Cost Performance</a:t>
            </a:r>
          </a:p>
        </p:txBody>
      </p:sp>
      <p:sp>
        <p:nvSpPr>
          <p:cNvPr id="16" name="TextBox 15"/>
          <p:cNvSpPr txBox="1"/>
          <p:nvPr/>
        </p:nvSpPr>
        <p:spPr>
          <a:xfrm>
            <a:off x="6227064" y="1737360"/>
            <a:ext cx="2331720" cy="1234440"/>
          </a:xfrm>
          <a:prstGeom prst="rect">
            <a:avLst/>
          </a:prstGeom>
          <a:noFill/>
        </p:spPr>
        <p:txBody>
          <a:bodyPr wrap="square"/>
          <a:lstStyle/>
          <a:p>
            <a:pPr algn="l">
              <a:lnSpc>
                <a:spcPct val="135000"/>
              </a:lnSpc>
              <a:spcBef>
                <a:spcPts val="0"/>
              </a:spcBef>
              <a:spcAft>
                <a:spcPts val="0"/>
              </a:spcAft>
            </a:pPr>
            <a:r>
              <a:rPr sz="1000" b="0">
                <a:solidFill>
                  <a:srgbClr val="475569"/>
                </a:solidFill>
                <a:latin typeface="Calibri"/>
              </a:rPr>
              <a:t>"An annual cost of ¥50 is extraordinary value"</a:t>
            </a:r>
          </a:p>
        </p:txBody>
      </p:sp>
      <p:sp>
        <p:nvSpPr>
          <p:cNvPr id="17" name="Rectangle 16"/>
          <p:cNvSpPr/>
          <p:nvPr/>
        </p:nvSpPr>
        <p:spPr>
          <a:xfrm>
            <a:off x="457200" y="3246120"/>
            <a:ext cx="7863840" cy="640080"/>
          </a:xfrm>
          <a:prstGeom prst="rect">
            <a:avLst/>
          </a:prstGeom>
          <a:solidFill>
            <a:srgbClr val="FDF8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457200" y="3246120"/>
            <a:ext cx="54864" cy="640080"/>
          </a:xfrm>
          <a:prstGeom prst="rect">
            <a:avLst/>
          </a:prstGeom>
          <a:solidFill>
            <a:srgbClr val="C9A96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85800" y="3337560"/>
            <a:ext cx="7543800" cy="457200"/>
          </a:xfrm>
          <a:prstGeom prst="rect">
            <a:avLst/>
          </a:prstGeom>
          <a:noFill/>
        </p:spPr>
        <p:txBody>
          <a:bodyPr wrap="square" anchor="ctr"/>
          <a:lstStyle/>
          <a:p>
            <a:pPr algn="l">
              <a:lnSpc>
                <a:spcPct val="135000"/>
              </a:lnSpc>
              <a:spcBef>
                <a:spcPts val="0"/>
              </a:spcBef>
              <a:spcAft>
                <a:spcPts val="0"/>
              </a:spcAft>
            </a:pPr>
            <a:r>
              <a:rPr sz="1000" b="0">
                <a:solidFill>
                  <a:srgbClr val="475569"/>
                </a:solidFill>
                <a:latin typeface="Calibri"/>
              </a:rPr>
              <a:t>Ise Grand Shrine offering (2026) / Mt. Hiei Enryaku-ji Eternal Light offering (2026) / Sole proprietorship registered (Feb 11, 2026)</a:t>
            </a:r>
          </a:p>
        </p:txBody>
      </p:sp>
      <p:sp>
        <p:nvSpPr>
          <p:cNvPr id="20" name="Rectangle 19"/>
          <p:cNvSpPr/>
          <p:nvPr/>
        </p:nvSpPr>
        <p:spPr>
          <a:xfrm>
            <a:off x="0" y="4796028"/>
            <a:ext cx="9144000" cy="6350"/>
          </a:xfrm>
          <a:prstGeom prst="rect">
            <a:avLst/>
          </a:prstGeom>
          <a:solidFill>
            <a:srgbClr val="E2E8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457200" y="4821428"/>
            <a:ext cx="3657600" cy="274320"/>
          </a:xfrm>
          <a:prstGeom prst="rect">
            <a:avLst/>
          </a:prstGeom>
          <a:noFill/>
        </p:spPr>
        <p:txBody>
          <a:bodyPr wrap="square"/>
          <a:lstStyle/>
          <a:p>
            <a:pPr algn="l">
              <a:lnSpc>
                <a:spcPct val="135000"/>
              </a:lnSpc>
              <a:spcBef>
                <a:spcPts val="0"/>
              </a:spcBef>
              <a:spcAft>
                <a:spcPts val="0"/>
              </a:spcAft>
            </a:pPr>
            <a:r>
              <a:rPr sz="900" b="0">
                <a:solidFill>
                  <a:srgbClr val="94A3B8"/>
                </a:solidFill>
                <a:latin typeface="Calibri"/>
              </a:rPr>
              <a:t>TokiStorage — Partnership Proposal</a:t>
            </a:r>
          </a:p>
        </p:txBody>
      </p:sp>
      <p:sp>
        <p:nvSpPr>
          <p:cNvPr id="22" name="TextBox 21"/>
          <p:cNvSpPr txBox="1"/>
          <p:nvPr/>
        </p:nvSpPr>
        <p:spPr>
          <a:xfrm>
            <a:off x="3657600" y="4821428"/>
            <a:ext cx="1828800" cy="274320"/>
          </a:xfrm>
          <a:prstGeom prst="rect">
            <a:avLst/>
          </a:prstGeom>
          <a:noFill/>
        </p:spPr>
        <p:txBody>
          <a:bodyPr wrap="square"/>
          <a:lstStyle/>
          <a:p>
            <a:pPr algn="ctr">
              <a:lnSpc>
                <a:spcPct val="135000"/>
              </a:lnSpc>
              <a:spcBef>
                <a:spcPts val="0"/>
              </a:spcBef>
              <a:spcAft>
                <a:spcPts val="0"/>
              </a:spcAft>
            </a:pPr>
            <a:r>
              <a:rPr sz="900" b="0">
                <a:solidFill>
                  <a:srgbClr val="94A3B8"/>
                </a:solidFill>
                <a:latin typeface="Calibri"/>
              </a:rPr>
              <a:t>Confidential</a:t>
            </a:r>
          </a:p>
        </p:txBody>
      </p:sp>
      <p:sp>
        <p:nvSpPr>
          <p:cNvPr id="23" name="TextBox 22"/>
          <p:cNvSpPr txBox="1"/>
          <p:nvPr/>
        </p:nvSpPr>
        <p:spPr>
          <a:xfrm>
            <a:off x="8229600" y="4821428"/>
            <a:ext cx="457200" cy="274320"/>
          </a:xfrm>
          <a:prstGeom prst="rect">
            <a:avLst/>
          </a:prstGeom>
          <a:noFill/>
        </p:spPr>
        <p:txBody>
          <a:bodyPr wrap="square"/>
          <a:lstStyle/>
          <a:p>
            <a:pPr algn="r">
              <a:lnSpc>
                <a:spcPct val="135000"/>
              </a:lnSpc>
              <a:spcBef>
                <a:spcPts val="0"/>
              </a:spcBef>
              <a:spcAft>
                <a:spcPts val="0"/>
              </a:spcAft>
            </a:pPr>
            <a:r>
              <a:rPr sz="900" b="1">
                <a:solidFill>
                  <a:srgbClr val="94A3B8"/>
                </a:solidFill>
                <a:latin typeface="Calibri"/>
              </a:rPr>
              <a:t>7</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94360"/>
          </a:xfrm>
          <a:prstGeom prst="rect">
            <a:avLst/>
          </a:prstGeom>
          <a:solidFill>
            <a:srgbClr val="1E29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0"/>
            <a:ext cx="8229600" cy="594360"/>
          </a:xfrm>
          <a:prstGeom prst="rect">
            <a:avLst/>
          </a:prstGeom>
          <a:noFill/>
        </p:spPr>
        <p:txBody>
          <a:bodyPr wrap="square" anchor="ctr"/>
          <a:lstStyle/>
          <a:p>
            <a:pPr algn="l">
              <a:lnSpc>
                <a:spcPct val="135000"/>
              </a:lnSpc>
              <a:spcBef>
                <a:spcPts val="0"/>
              </a:spcBef>
              <a:spcAft>
                <a:spcPts val="0"/>
              </a:spcAft>
            </a:pPr>
            <a:r>
              <a:rPr sz="1200" b="1">
                <a:solidFill>
                  <a:srgbClr val="FFFFFF"/>
                </a:solidFill>
                <a:latin typeface="Calibri"/>
              </a:rPr>
              <a:t>Revenue design ensures all three parties — client, partner, and TokiStorage — win</a:t>
            </a:r>
          </a:p>
        </p:txBody>
      </p:sp>
      <p:sp>
        <p:nvSpPr>
          <p:cNvPr id="4" name="TextBox 3"/>
          <p:cNvSpPr txBox="1"/>
          <p:nvPr/>
        </p:nvSpPr>
        <p:spPr>
          <a:xfrm>
            <a:off x="457200" y="731520"/>
            <a:ext cx="2743200" cy="274320"/>
          </a:xfrm>
          <a:prstGeom prst="rect">
            <a:avLst/>
          </a:prstGeom>
          <a:noFill/>
        </p:spPr>
        <p:txBody>
          <a:bodyPr wrap="square"/>
          <a:lstStyle/>
          <a:p>
            <a:pPr algn="l">
              <a:lnSpc>
                <a:spcPct val="135000"/>
              </a:lnSpc>
              <a:spcBef>
                <a:spcPts val="0"/>
              </a:spcBef>
              <a:spcAft>
                <a:spcPts val="0"/>
              </a:spcAft>
            </a:pPr>
            <a:r>
              <a:rPr sz="1000" b="1">
                <a:solidFill>
                  <a:srgbClr val="2563EB"/>
                </a:solidFill>
                <a:latin typeface="Calibri"/>
              </a:rPr>
              <a:t>REVENUE FLOW</a:t>
            </a:r>
          </a:p>
        </p:txBody>
      </p:sp>
      <p:sp>
        <p:nvSpPr>
          <p:cNvPr id="5" name="Rectangle 4"/>
          <p:cNvSpPr/>
          <p:nvPr/>
        </p:nvSpPr>
        <p:spPr>
          <a:xfrm>
            <a:off x="777240" y="1097280"/>
            <a:ext cx="2286000" cy="960120"/>
          </a:xfrm>
          <a:prstGeom prst="rect">
            <a:avLst/>
          </a:prstGeom>
          <a:solidFill>
            <a:srgbClr val="F0FDF4"/>
          </a:solidFill>
          <a:ln w="9525">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68680" y="1170432"/>
            <a:ext cx="2103120" cy="274320"/>
          </a:xfrm>
          <a:prstGeom prst="rect">
            <a:avLst/>
          </a:prstGeom>
          <a:noFill/>
        </p:spPr>
        <p:txBody>
          <a:bodyPr wrap="square"/>
          <a:lstStyle/>
          <a:p>
            <a:pPr algn="ctr">
              <a:lnSpc>
                <a:spcPct val="135000"/>
              </a:lnSpc>
              <a:spcBef>
                <a:spcPts val="0"/>
              </a:spcBef>
              <a:spcAft>
                <a:spcPts val="0"/>
              </a:spcAft>
            </a:pPr>
            <a:r>
              <a:rPr sz="1100" b="1">
                <a:solidFill>
                  <a:srgbClr val="16A34A"/>
                </a:solidFill>
                <a:latin typeface="Calibri"/>
              </a:rPr>
              <a:t>Client</a:t>
            </a:r>
          </a:p>
        </p:txBody>
      </p:sp>
      <p:sp>
        <p:nvSpPr>
          <p:cNvPr id="7" name="TextBox 6"/>
          <p:cNvSpPr txBox="1"/>
          <p:nvPr/>
        </p:nvSpPr>
        <p:spPr>
          <a:xfrm>
            <a:off x="868680" y="1517904"/>
            <a:ext cx="2103120" cy="466344"/>
          </a:xfrm>
          <a:prstGeom prst="rect">
            <a:avLst/>
          </a:prstGeom>
          <a:noFill/>
        </p:spPr>
        <p:txBody>
          <a:bodyPr wrap="square"/>
          <a:lstStyle/>
          <a:p>
            <a:pPr algn="ctr">
              <a:lnSpc>
                <a:spcPct val="135000"/>
              </a:lnSpc>
              <a:spcBef>
                <a:spcPts val="0"/>
              </a:spcBef>
              <a:spcAft>
                <a:spcPts val="0"/>
              </a:spcAft>
            </a:pPr>
            <a:r>
              <a:rPr sz="1000" b="0">
                <a:solidFill>
                  <a:srgbClr val="475569"/>
                </a:solidFill>
                <a:latin typeface="Calibri"/>
              </a:rPr>
              <a:t>1,000-year proof of existence
Tangible social meaning</a:t>
            </a:r>
          </a:p>
        </p:txBody>
      </p:sp>
      <p:sp>
        <p:nvSpPr>
          <p:cNvPr id="8" name="TextBox 7"/>
          <p:cNvSpPr txBox="1"/>
          <p:nvPr/>
        </p:nvSpPr>
        <p:spPr>
          <a:xfrm>
            <a:off x="3108960" y="1371600"/>
            <a:ext cx="274320" cy="320040"/>
          </a:xfrm>
          <a:prstGeom prst="rect">
            <a:avLst/>
          </a:prstGeom>
          <a:noFill/>
        </p:spPr>
        <p:txBody>
          <a:bodyPr wrap="square"/>
          <a:lstStyle/>
          <a:p>
            <a:pPr algn="ctr">
              <a:lnSpc>
                <a:spcPct val="135000"/>
              </a:lnSpc>
              <a:spcBef>
                <a:spcPts val="0"/>
              </a:spcBef>
              <a:spcAft>
                <a:spcPts val="0"/>
              </a:spcAft>
            </a:pPr>
            <a:r>
              <a:rPr sz="1800" b="0">
                <a:solidFill>
                  <a:srgbClr val="94A3B8"/>
                </a:solidFill>
                <a:latin typeface="Calibri"/>
              </a:rPr>
              <a:t>←</a:t>
            </a:r>
          </a:p>
        </p:txBody>
      </p:sp>
      <p:sp>
        <p:nvSpPr>
          <p:cNvPr id="9" name="Rectangle 8"/>
          <p:cNvSpPr/>
          <p:nvPr/>
        </p:nvSpPr>
        <p:spPr>
          <a:xfrm>
            <a:off x="3429000" y="1097280"/>
            <a:ext cx="2286000" cy="960120"/>
          </a:xfrm>
          <a:prstGeom prst="rect">
            <a:avLst/>
          </a:prstGeom>
          <a:solidFill>
            <a:srgbClr val="EFF6FF"/>
          </a:solidFill>
          <a:ln w="9525">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520440" y="1170432"/>
            <a:ext cx="2103120" cy="274320"/>
          </a:xfrm>
          <a:prstGeom prst="rect">
            <a:avLst/>
          </a:prstGeom>
          <a:noFill/>
        </p:spPr>
        <p:txBody>
          <a:bodyPr wrap="square"/>
          <a:lstStyle/>
          <a:p>
            <a:pPr algn="ctr">
              <a:lnSpc>
                <a:spcPct val="135000"/>
              </a:lnSpc>
              <a:spcBef>
                <a:spcPts val="0"/>
              </a:spcBef>
              <a:spcAft>
                <a:spcPts val="0"/>
              </a:spcAft>
            </a:pPr>
            <a:r>
              <a:rPr sz="1100" b="1">
                <a:solidFill>
                  <a:srgbClr val="2563EB"/>
                </a:solidFill>
                <a:latin typeface="Calibri"/>
              </a:rPr>
              <a:t>Partner (you)</a:t>
            </a:r>
          </a:p>
        </p:txBody>
      </p:sp>
      <p:sp>
        <p:nvSpPr>
          <p:cNvPr id="11" name="TextBox 10"/>
          <p:cNvSpPr txBox="1"/>
          <p:nvPr/>
        </p:nvSpPr>
        <p:spPr>
          <a:xfrm>
            <a:off x="3520440" y="1517904"/>
            <a:ext cx="2103120" cy="466344"/>
          </a:xfrm>
          <a:prstGeom prst="rect">
            <a:avLst/>
          </a:prstGeom>
          <a:noFill/>
        </p:spPr>
        <p:txBody>
          <a:bodyPr wrap="square"/>
          <a:lstStyle/>
          <a:p>
            <a:pPr algn="ctr">
              <a:lnSpc>
                <a:spcPct val="135000"/>
              </a:lnSpc>
              <a:spcBef>
                <a:spcPts val="0"/>
              </a:spcBef>
              <a:spcAft>
                <a:spcPts val="0"/>
              </a:spcAft>
            </a:pPr>
            <a:r>
              <a:rPr sz="1000" b="0">
                <a:solidFill>
                  <a:srgbClr val="475569"/>
                </a:solidFill>
                <a:latin typeface="Calibri"/>
              </a:rPr>
              <a:t>Referral fee or joint revenue
Client LTV increase</a:t>
            </a:r>
          </a:p>
        </p:txBody>
      </p:sp>
      <p:sp>
        <p:nvSpPr>
          <p:cNvPr id="12" name="TextBox 11"/>
          <p:cNvSpPr txBox="1"/>
          <p:nvPr/>
        </p:nvSpPr>
        <p:spPr>
          <a:xfrm>
            <a:off x="5760720" y="1371600"/>
            <a:ext cx="274320" cy="320040"/>
          </a:xfrm>
          <a:prstGeom prst="rect">
            <a:avLst/>
          </a:prstGeom>
          <a:noFill/>
        </p:spPr>
        <p:txBody>
          <a:bodyPr wrap="square"/>
          <a:lstStyle/>
          <a:p>
            <a:pPr algn="ctr">
              <a:lnSpc>
                <a:spcPct val="135000"/>
              </a:lnSpc>
              <a:spcBef>
                <a:spcPts val="0"/>
              </a:spcBef>
              <a:spcAft>
                <a:spcPts val="0"/>
              </a:spcAft>
            </a:pPr>
            <a:r>
              <a:rPr sz="1800" b="0">
                <a:solidFill>
                  <a:srgbClr val="94A3B8"/>
                </a:solidFill>
                <a:latin typeface="Calibri"/>
              </a:rPr>
              <a:t>←</a:t>
            </a:r>
          </a:p>
        </p:txBody>
      </p:sp>
      <p:sp>
        <p:nvSpPr>
          <p:cNvPr id="13" name="Rectangle 12"/>
          <p:cNvSpPr/>
          <p:nvPr/>
        </p:nvSpPr>
        <p:spPr>
          <a:xfrm>
            <a:off x="6080760" y="1097280"/>
            <a:ext cx="2286000" cy="960120"/>
          </a:xfrm>
          <a:prstGeom prst="rect">
            <a:avLst/>
          </a:prstGeom>
          <a:solidFill>
            <a:srgbClr val="FDF8E8"/>
          </a:solidFill>
          <a:ln w="9525">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172200" y="1170432"/>
            <a:ext cx="2103120" cy="274320"/>
          </a:xfrm>
          <a:prstGeom prst="rect">
            <a:avLst/>
          </a:prstGeom>
          <a:noFill/>
        </p:spPr>
        <p:txBody>
          <a:bodyPr wrap="square"/>
          <a:lstStyle/>
          <a:p>
            <a:pPr algn="ctr">
              <a:lnSpc>
                <a:spcPct val="135000"/>
              </a:lnSpc>
              <a:spcBef>
                <a:spcPts val="0"/>
              </a:spcBef>
              <a:spcAft>
                <a:spcPts val="0"/>
              </a:spcAft>
            </a:pPr>
            <a:r>
              <a:rPr sz="1100" b="1">
                <a:solidFill>
                  <a:srgbClr val="92400E"/>
                </a:solidFill>
                <a:latin typeface="Calibri"/>
              </a:rPr>
              <a:t>TokiStorage</a:t>
            </a:r>
          </a:p>
        </p:txBody>
      </p:sp>
      <p:sp>
        <p:nvSpPr>
          <p:cNvPr id="15" name="TextBox 14"/>
          <p:cNvSpPr txBox="1"/>
          <p:nvPr/>
        </p:nvSpPr>
        <p:spPr>
          <a:xfrm>
            <a:off x="6172200" y="1517904"/>
            <a:ext cx="2103120" cy="466344"/>
          </a:xfrm>
          <a:prstGeom prst="rect">
            <a:avLst/>
          </a:prstGeom>
          <a:noFill/>
        </p:spPr>
        <p:txBody>
          <a:bodyPr wrap="square"/>
          <a:lstStyle/>
          <a:p>
            <a:pPr algn="ctr">
              <a:lnSpc>
                <a:spcPct val="135000"/>
              </a:lnSpc>
              <a:spcBef>
                <a:spcPts val="0"/>
              </a:spcBef>
              <a:spcAft>
                <a:spcPts val="0"/>
              </a:spcAft>
            </a:pPr>
            <a:r>
              <a:rPr sz="1000" b="0">
                <a:solidFill>
                  <a:srgbClr val="475569"/>
                </a:solidFill>
                <a:latin typeface="Calibri"/>
              </a:rPr>
              <a:t>Technology &amp; delivery
Revenue → SoulCarrier mission</a:t>
            </a:r>
          </a:p>
        </p:txBody>
      </p:sp>
      <p:sp>
        <p:nvSpPr>
          <p:cNvPr id="16" name="Rectangle 15"/>
          <p:cNvSpPr/>
          <p:nvPr/>
        </p:nvSpPr>
        <p:spPr>
          <a:xfrm>
            <a:off x="457200" y="2423160"/>
            <a:ext cx="7863840" cy="1051560"/>
          </a:xfrm>
          <a:prstGeom prst="rect">
            <a:avLst/>
          </a:prstGeom>
          <a:solidFill>
            <a:srgbClr val="EFF6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457200" y="2423160"/>
            <a:ext cx="54864" cy="1051560"/>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85800" y="2514600"/>
            <a:ext cx="7543800" cy="256032"/>
          </a:xfrm>
          <a:prstGeom prst="rect">
            <a:avLst/>
          </a:prstGeom>
          <a:noFill/>
        </p:spPr>
        <p:txBody>
          <a:bodyPr wrap="square"/>
          <a:lstStyle/>
          <a:p>
            <a:pPr algn="l">
              <a:lnSpc>
                <a:spcPct val="135000"/>
              </a:lnSpc>
              <a:spcBef>
                <a:spcPts val="0"/>
              </a:spcBef>
              <a:spcAft>
                <a:spcPts val="0"/>
              </a:spcAft>
            </a:pPr>
            <a:r>
              <a:rPr sz="1100" b="1">
                <a:solidFill>
                  <a:srgbClr val="1E293B"/>
                </a:solidFill>
                <a:latin typeface="Calibri"/>
              </a:rPr>
              <a:t>Early Partner Advantage</a:t>
            </a:r>
          </a:p>
        </p:txBody>
      </p:sp>
      <p:sp>
        <p:nvSpPr>
          <p:cNvPr id="19" name="TextBox 18"/>
          <p:cNvSpPr txBox="1"/>
          <p:nvPr/>
        </p:nvSpPr>
        <p:spPr>
          <a:xfrm>
            <a:off x="685800" y="2834640"/>
            <a:ext cx="7543800" cy="548640"/>
          </a:xfrm>
          <a:prstGeom prst="rect">
            <a:avLst/>
          </a:prstGeom>
          <a:noFill/>
        </p:spPr>
        <p:txBody>
          <a:bodyPr wrap="square"/>
          <a:lstStyle/>
          <a:p>
            <a:pPr algn="l">
              <a:lnSpc>
                <a:spcPct val="135000"/>
              </a:lnSpc>
              <a:spcBef>
                <a:spcPts val="0"/>
              </a:spcBef>
              <a:spcAft>
                <a:spcPts val="0"/>
              </a:spcAft>
            </a:pPr>
            <a:r>
              <a:rPr sz="1000" b="0">
                <a:solidFill>
                  <a:srgbClr val="475569"/>
                </a:solidFill>
                <a:latin typeface="Calibri"/>
              </a:rPr>
              <a:t>We are approaching consulting firms sequentially. The first firm to partner receives preferential terms — including priority referral conditions and potential regional exclusivity. Early movers shape the partnership.</a:t>
            </a:r>
          </a:p>
        </p:txBody>
      </p:sp>
      <p:sp>
        <p:nvSpPr>
          <p:cNvPr id="20" name="Rectangle 19"/>
          <p:cNvSpPr/>
          <p:nvPr/>
        </p:nvSpPr>
        <p:spPr>
          <a:xfrm>
            <a:off x="0" y="4796028"/>
            <a:ext cx="9144000" cy="6350"/>
          </a:xfrm>
          <a:prstGeom prst="rect">
            <a:avLst/>
          </a:prstGeom>
          <a:solidFill>
            <a:srgbClr val="E2E8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457200" y="4821428"/>
            <a:ext cx="3657600" cy="274320"/>
          </a:xfrm>
          <a:prstGeom prst="rect">
            <a:avLst/>
          </a:prstGeom>
          <a:noFill/>
        </p:spPr>
        <p:txBody>
          <a:bodyPr wrap="square"/>
          <a:lstStyle/>
          <a:p>
            <a:pPr algn="l">
              <a:lnSpc>
                <a:spcPct val="135000"/>
              </a:lnSpc>
              <a:spcBef>
                <a:spcPts val="0"/>
              </a:spcBef>
              <a:spcAft>
                <a:spcPts val="0"/>
              </a:spcAft>
            </a:pPr>
            <a:r>
              <a:rPr sz="900" b="0">
                <a:solidFill>
                  <a:srgbClr val="94A3B8"/>
                </a:solidFill>
                <a:latin typeface="Calibri"/>
              </a:rPr>
              <a:t>TokiStorage — Partnership Proposal</a:t>
            </a:r>
          </a:p>
        </p:txBody>
      </p:sp>
      <p:sp>
        <p:nvSpPr>
          <p:cNvPr id="22" name="TextBox 21"/>
          <p:cNvSpPr txBox="1"/>
          <p:nvPr/>
        </p:nvSpPr>
        <p:spPr>
          <a:xfrm>
            <a:off x="3657600" y="4821428"/>
            <a:ext cx="1828800" cy="274320"/>
          </a:xfrm>
          <a:prstGeom prst="rect">
            <a:avLst/>
          </a:prstGeom>
          <a:noFill/>
        </p:spPr>
        <p:txBody>
          <a:bodyPr wrap="square"/>
          <a:lstStyle/>
          <a:p>
            <a:pPr algn="ctr">
              <a:lnSpc>
                <a:spcPct val="135000"/>
              </a:lnSpc>
              <a:spcBef>
                <a:spcPts val="0"/>
              </a:spcBef>
              <a:spcAft>
                <a:spcPts val="0"/>
              </a:spcAft>
            </a:pPr>
            <a:r>
              <a:rPr sz="900" b="0">
                <a:solidFill>
                  <a:srgbClr val="94A3B8"/>
                </a:solidFill>
                <a:latin typeface="Calibri"/>
              </a:rPr>
              <a:t>Confidential</a:t>
            </a:r>
          </a:p>
        </p:txBody>
      </p:sp>
      <p:sp>
        <p:nvSpPr>
          <p:cNvPr id="23" name="TextBox 22"/>
          <p:cNvSpPr txBox="1"/>
          <p:nvPr/>
        </p:nvSpPr>
        <p:spPr>
          <a:xfrm>
            <a:off x="8229600" y="4821428"/>
            <a:ext cx="457200" cy="274320"/>
          </a:xfrm>
          <a:prstGeom prst="rect">
            <a:avLst/>
          </a:prstGeom>
          <a:noFill/>
        </p:spPr>
        <p:txBody>
          <a:bodyPr wrap="square"/>
          <a:lstStyle/>
          <a:p>
            <a:pPr algn="r">
              <a:lnSpc>
                <a:spcPct val="135000"/>
              </a:lnSpc>
              <a:spcBef>
                <a:spcPts val="0"/>
              </a:spcBef>
              <a:spcAft>
                <a:spcPts val="0"/>
              </a:spcAft>
            </a:pPr>
            <a:r>
              <a:rPr sz="900" b="1">
                <a:solidFill>
                  <a:srgbClr val="94A3B8"/>
                </a:solidFill>
                <a:latin typeface="Calibri"/>
              </a:rPr>
              <a:t>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94360"/>
          </a:xfrm>
          <a:prstGeom prst="rect">
            <a:avLst/>
          </a:prstGeom>
          <a:solidFill>
            <a:srgbClr val="1E29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0"/>
            <a:ext cx="8229600" cy="594360"/>
          </a:xfrm>
          <a:prstGeom prst="rect">
            <a:avLst/>
          </a:prstGeom>
          <a:noFill/>
        </p:spPr>
        <p:txBody>
          <a:bodyPr wrap="square" anchor="ctr"/>
          <a:lstStyle/>
          <a:p>
            <a:pPr algn="l">
              <a:lnSpc>
                <a:spcPct val="135000"/>
              </a:lnSpc>
              <a:spcBef>
                <a:spcPts val="0"/>
              </a:spcBef>
              <a:spcAft>
                <a:spcPts val="0"/>
              </a:spcAft>
            </a:pPr>
            <a:r>
              <a:rPr sz="1200" b="1">
                <a:solidFill>
                  <a:srgbClr val="FFFFFF"/>
                </a:solidFill>
                <a:latin typeface="Calibri"/>
              </a:rPr>
              <a:t>Six client sectors show particularly high affinity: funeral, hospitality, religious, government, ESG, and finance</a:t>
            </a:r>
          </a:p>
        </p:txBody>
      </p:sp>
      <p:sp>
        <p:nvSpPr>
          <p:cNvPr id="4" name="TextBox 3"/>
          <p:cNvSpPr txBox="1"/>
          <p:nvPr/>
        </p:nvSpPr>
        <p:spPr>
          <a:xfrm>
            <a:off x="457200" y="731520"/>
            <a:ext cx="2743200" cy="274320"/>
          </a:xfrm>
          <a:prstGeom prst="rect">
            <a:avLst/>
          </a:prstGeom>
          <a:noFill/>
        </p:spPr>
        <p:txBody>
          <a:bodyPr wrap="square"/>
          <a:lstStyle/>
          <a:p>
            <a:pPr algn="l">
              <a:lnSpc>
                <a:spcPct val="135000"/>
              </a:lnSpc>
              <a:spcBef>
                <a:spcPts val="0"/>
              </a:spcBef>
              <a:spcAft>
                <a:spcPts val="0"/>
              </a:spcAft>
            </a:pPr>
            <a:r>
              <a:rPr sz="1000" b="1">
                <a:solidFill>
                  <a:srgbClr val="2563EB"/>
                </a:solidFill>
                <a:latin typeface="Calibri"/>
              </a:rPr>
              <a:t>CLIENT FIT</a:t>
            </a:r>
          </a:p>
        </p:txBody>
      </p:sp>
      <p:sp>
        <p:nvSpPr>
          <p:cNvPr id="5" name="TextBox 4"/>
          <p:cNvSpPr txBox="1"/>
          <p:nvPr/>
        </p:nvSpPr>
        <p:spPr>
          <a:xfrm>
            <a:off x="457200" y="1005840"/>
            <a:ext cx="7315200" cy="274320"/>
          </a:xfrm>
          <a:prstGeom prst="rect">
            <a:avLst/>
          </a:prstGeom>
          <a:noFill/>
        </p:spPr>
        <p:txBody>
          <a:bodyPr wrap="square"/>
          <a:lstStyle/>
          <a:p>
            <a:pPr algn="l">
              <a:lnSpc>
                <a:spcPct val="135000"/>
              </a:lnSpc>
              <a:spcBef>
                <a:spcPts val="0"/>
              </a:spcBef>
              <a:spcAft>
                <a:spcPts val="0"/>
              </a:spcAft>
            </a:pPr>
            <a:r>
              <a:rPr sz="1100" b="0">
                <a:solidFill>
                  <a:srgbClr val="475569"/>
                </a:solidFill>
                <a:latin typeface="Calibri"/>
              </a:rPr>
              <a:t>Does your client portfolio include any of these sectors?</a:t>
            </a:r>
          </a:p>
        </p:txBody>
      </p:sp>
      <p:sp>
        <p:nvSpPr>
          <p:cNvPr id="6" name="Rectangle 5"/>
          <p:cNvSpPr/>
          <p:nvPr/>
        </p:nvSpPr>
        <p:spPr>
          <a:xfrm>
            <a:off x="457200" y="1371600"/>
            <a:ext cx="2606040" cy="1417320"/>
          </a:xfrm>
          <a:prstGeom prst="rect">
            <a:avLst/>
          </a:prstGeom>
          <a:solidFill>
            <a:srgbClr val="FFFFFF"/>
          </a:solidFill>
          <a:ln w="9525">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1568196" y="1463040"/>
            <a:ext cx="384048" cy="384048"/>
          </a:xfrm>
          <a:prstGeom prst="ellipse">
            <a:avLst/>
          </a:prstGeom>
          <a:solidFill>
            <a:srgbClr val="EFF6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568196" y="1463040"/>
            <a:ext cx="384048" cy="384048"/>
          </a:xfrm>
          <a:prstGeom prst="rect">
            <a:avLst/>
          </a:prstGeom>
          <a:noFill/>
        </p:spPr>
        <p:txBody>
          <a:bodyPr wrap="square" anchor="ctr"/>
          <a:lstStyle/>
          <a:p>
            <a:pPr algn="ctr">
              <a:lnSpc>
                <a:spcPct val="135000"/>
              </a:lnSpc>
              <a:spcBef>
                <a:spcPts val="0"/>
              </a:spcBef>
              <a:spcAft>
                <a:spcPts val="0"/>
              </a:spcAft>
            </a:pPr>
            <a:r>
              <a:rPr sz="1200" b="1">
                <a:solidFill>
                  <a:srgbClr val="2563EB"/>
                </a:solidFill>
                <a:latin typeface="Calibri"/>
              </a:rPr>
              <a:t>M</a:t>
            </a:r>
          </a:p>
        </p:txBody>
      </p:sp>
      <p:sp>
        <p:nvSpPr>
          <p:cNvPr id="9" name="TextBox 8"/>
          <p:cNvSpPr txBox="1"/>
          <p:nvPr/>
        </p:nvSpPr>
        <p:spPr>
          <a:xfrm>
            <a:off x="530352" y="1883664"/>
            <a:ext cx="2459736" cy="237744"/>
          </a:xfrm>
          <a:prstGeom prst="rect">
            <a:avLst/>
          </a:prstGeom>
          <a:noFill/>
        </p:spPr>
        <p:txBody>
          <a:bodyPr wrap="square"/>
          <a:lstStyle/>
          <a:p>
            <a:pPr algn="ctr">
              <a:lnSpc>
                <a:spcPct val="135000"/>
              </a:lnSpc>
              <a:spcBef>
                <a:spcPts val="0"/>
              </a:spcBef>
              <a:spcAft>
                <a:spcPts val="0"/>
              </a:spcAft>
            </a:pPr>
            <a:r>
              <a:rPr sz="1100" b="1">
                <a:solidFill>
                  <a:srgbClr val="1E293B"/>
                </a:solidFill>
                <a:latin typeface="Calibri"/>
              </a:rPr>
              <a:t>Funeral &amp; Memorial</a:t>
            </a:r>
          </a:p>
        </p:txBody>
      </p:sp>
      <p:sp>
        <p:nvSpPr>
          <p:cNvPr id="10" name="TextBox 9"/>
          <p:cNvSpPr txBox="1"/>
          <p:nvPr/>
        </p:nvSpPr>
        <p:spPr>
          <a:xfrm>
            <a:off x="530352" y="2194560"/>
            <a:ext cx="2459736" cy="521208"/>
          </a:xfrm>
          <a:prstGeom prst="rect">
            <a:avLst/>
          </a:prstGeom>
          <a:noFill/>
        </p:spPr>
        <p:txBody>
          <a:bodyPr wrap="square"/>
          <a:lstStyle/>
          <a:p>
            <a:pPr algn="ctr">
              <a:lnSpc>
                <a:spcPct val="135000"/>
              </a:lnSpc>
              <a:spcBef>
                <a:spcPts val="0"/>
              </a:spcBef>
              <a:spcAft>
                <a:spcPts val="0"/>
              </a:spcAft>
            </a:pPr>
            <a:r>
              <a:rPr sz="900" b="0">
                <a:solidFill>
                  <a:srgbClr val="475569"/>
                </a:solidFill>
                <a:latin typeface="Calibri"/>
              </a:rPr>
              <a:t>Gravestone alternatives, digital perpetual care, bereavement services</a:t>
            </a:r>
          </a:p>
        </p:txBody>
      </p:sp>
      <p:sp>
        <p:nvSpPr>
          <p:cNvPr id="11" name="Rectangle 10"/>
          <p:cNvSpPr/>
          <p:nvPr/>
        </p:nvSpPr>
        <p:spPr>
          <a:xfrm>
            <a:off x="3273552" y="1371600"/>
            <a:ext cx="2606040" cy="1417320"/>
          </a:xfrm>
          <a:prstGeom prst="rect">
            <a:avLst/>
          </a:prstGeom>
          <a:solidFill>
            <a:srgbClr val="FFFFFF"/>
          </a:solidFill>
          <a:ln w="9525">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4384548" y="1463040"/>
            <a:ext cx="384048" cy="384048"/>
          </a:xfrm>
          <a:prstGeom prst="ellipse">
            <a:avLst/>
          </a:prstGeom>
          <a:solidFill>
            <a:srgbClr val="EFF6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384548" y="1463040"/>
            <a:ext cx="384048" cy="384048"/>
          </a:xfrm>
          <a:prstGeom prst="rect">
            <a:avLst/>
          </a:prstGeom>
          <a:noFill/>
        </p:spPr>
        <p:txBody>
          <a:bodyPr wrap="square" anchor="ctr"/>
          <a:lstStyle/>
          <a:p>
            <a:pPr algn="ctr">
              <a:lnSpc>
                <a:spcPct val="135000"/>
              </a:lnSpc>
              <a:spcBef>
                <a:spcPts val="0"/>
              </a:spcBef>
              <a:spcAft>
                <a:spcPts val="0"/>
              </a:spcAft>
            </a:pPr>
            <a:r>
              <a:rPr sz="1200" b="1">
                <a:solidFill>
                  <a:srgbClr val="2563EB"/>
                </a:solidFill>
                <a:latin typeface="Calibri"/>
              </a:rPr>
              <a:t>H</a:t>
            </a:r>
          </a:p>
        </p:txBody>
      </p:sp>
      <p:sp>
        <p:nvSpPr>
          <p:cNvPr id="14" name="TextBox 13"/>
          <p:cNvSpPr txBox="1"/>
          <p:nvPr/>
        </p:nvSpPr>
        <p:spPr>
          <a:xfrm>
            <a:off x="3346704" y="1883664"/>
            <a:ext cx="2459736" cy="237744"/>
          </a:xfrm>
          <a:prstGeom prst="rect">
            <a:avLst/>
          </a:prstGeom>
          <a:noFill/>
        </p:spPr>
        <p:txBody>
          <a:bodyPr wrap="square"/>
          <a:lstStyle/>
          <a:p>
            <a:pPr algn="ctr">
              <a:lnSpc>
                <a:spcPct val="135000"/>
              </a:lnSpc>
              <a:spcBef>
                <a:spcPts val="0"/>
              </a:spcBef>
              <a:spcAft>
                <a:spcPts val="0"/>
              </a:spcAft>
            </a:pPr>
            <a:r>
              <a:rPr sz="1100" b="1">
                <a:solidFill>
                  <a:srgbClr val="1E293B"/>
                </a:solidFill>
                <a:latin typeface="Calibri"/>
              </a:rPr>
              <a:t>Hospitality</a:t>
            </a:r>
          </a:p>
        </p:txBody>
      </p:sp>
      <p:sp>
        <p:nvSpPr>
          <p:cNvPr id="15" name="TextBox 14"/>
          <p:cNvSpPr txBox="1"/>
          <p:nvPr/>
        </p:nvSpPr>
        <p:spPr>
          <a:xfrm>
            <a:off x="3346704" y="2194560"/>
            <a:ext cx="2459736" cy="521208"/>
          </a:xfrm>
          <a:prstGeom prst="rect">
            <a:avLst/>
          </a:prstGeom>
          <a:noFill/>
        </p:spPr>
        <p:txBody>
          <a:bodyPr wrap="square"/>
          <a:lstStyle/>
          <a:p>
            <a:pPr algn="ctr">
              <a:lnSpc>
                <a:spcPct val="135000"/>
              </a:lnSpc>
              <a:spcBef>
                <a:spcPts val="0"/>
              </a:spcBef>
              <a:spcAft>
                <a:spcPts val="0"/>
              </a:spcAft>
            </a:pPr>
            <a:r>
              <a:rPr sz="900" b="0">
                <a:solidFill>
                  <a:srgbClr val="475569"/>
                </a:solidFill>
                <a:latin typeface="Calibri"/>
              </a:rPr>
              <a:t>Wedding records, hotel CX, anniversary services</a:t>
            </a:r>
          </a:p>
        </p:txBody>
      </p:sp>
      <p:sp>
        <p:nvSpPr>
          <p:cNvPr id="16" name="Rectangle 15"/>
          <p:cNvSpPr/>
          <p:nvPr/>
        </p:nvSpPr>
        <p:spPr>
          <a:xfrm>
            <a:off x="6089904" y="1371600"/>
            <a:ext cx="2606040" cy="1417320"/>
          </a:xfrm>
          <a:prstGeom prst="rect">
            <a:avLst/>
          </a:prstGeom>
          <a:solidFill>
            <a:srgbClr val="FFFFFF"/>
          </a:solidFill>
          <a:ln w="9525">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7200900" y="1463040"/>
            <a:ext cx="384048" cy="384048"/>
          </a:xfrm>
          <a:prstGeom prst="ellipse">
            <a:avLst/>
          </a:prstGeom>
          <a:solidFill>
            <a:srgbClr val="EFF6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200900" y="1463040"/>
            <a:ext cx="384048" cy="384048"/>
          </a:xfrm>
          <a:prstGeom prst="rect">
            <a:avLst/>
          </a:prstGeom>
          <a:noFill/>
        </p:spPr>
        <p:txBody>
          <a:bodyPr wrap="square" anchor="ctr"/>
          <a:lstStyle/>
          <a:p>
            <a:pPr algn="ctr">
              <a:lnSpc>
                <a:spcPct val="135000"/>
              </a:lnSpc>
              <a:spcBef>
                <a:spcPts val="0"/>
              </a:spcBef>
              <a:spcAft>
                <a:spcPts val="0"/>
              </a:spcAft>
            </a:pPr>
            <a:r>
              <a:rPr sz="1200" b="1">
                <a:solidFill>
                  <a:srgbClr val="2563EB"/>
                </a:solidFill>
                <a:latin typeface="Calibri"/>
              </a:rPr>
              <a:t>R</a:t>
            </a:r>
          </a:p>
        </p:txBody>
      </p:sp>
      <p:sp>
        <p:nvSpPr>
          <p:cNvPr id="19" name="TextBox 18"/>
          <p:cNvSpPr txBox="1"/>
          <p:nvPr/>
        </p:nvSpPr>
        <p:spPr>
          <a:xfrm>
            <a:off x="6163056" y="1883664"/>
            <a:ext cx="2459736" cy="237744"/>
          </a:xfrm>
          <a:prstGeom prst="rect">
            <a:avLst/>
          </a:prstGeom>
          <a:noFill/>
        </p:spPr>
        <p:txBody>
          <a:bodyPr wrap="square"/>
          <a:lstStyle/>
          <a:p>
            <a:pPr algn="ctr">
              <a:lnSpc>
                <a:spcPct val="135000"/>
              </a:lnSpc>
              <a:spcBef>
                <a:spcPts val="0"/>
              </a:spcBef>
              <a:spcAft>
                <a:spcPts val="0"/>
              </a:spcAft>
            </a:pPr>
            <a:r>
              <a:rPr sz="1100" b="1">
                <a:solidFill>
                  <a:srgbClr val="1E293B"/>
                </a:solidFill>
                <a:latin typeface="Calibri"/>
              </a:rPr>
              <a:t>Religious Institutions</a:t>
            </a:r>
          </a:p>
        </p:txBody>
      </p:sp>
      <p:sp>
        <p:nvSpPr>
          <p:cNvPr id="20" name="TextBox 19"/>
          <p:cNvSpPr txBox="1"/>
          <p:nvPr/>
        </p:nvSpPr>
        <p:spPr>
          <a:xfrm>
            <a:off x="6163056" y="2194560"/>
            <a:ext cx="2459736" cy="521208"/>
          </a:xfrm>
          <a:prstGeom prst="rect">
            <a:avLst/>
          </a:prstGeom>
          <a:noFill/>
        </p:spPr>
        <p:txBody>
          <a:bodyPr wrap="square"/>
          <a:lstStyle/>
          <a:p>
            <a:pPr algn="ctr">
              <a:lnSpc>
                <a:spcPct val="135000"/>
              </a:lnSpc>
              <a:spcBef>
                <a:spcPts val="0"/>
              </a:spcBef>
              <a:spcAft>
                <a:spcPts val="0"/>
              </a:spcAft>
            </a:pPr>
            <a:r>
              <a:rPr sz="900" b="0">
                <a:solidFill>
                  <a:srgbClr val="475569"/>
                </a:solidFill>
                <a:latin typeface="Calibri"/>
              </a:rPr>
              <a:t>Perpetual congregation records, visitor DX, cultural preservation</a:t>
            </a:r>
          </a:p>
        </p:txBody>
      </p:sp>
      <p:sp>
        <p:nvSpPr>
          <p:cNvPr id="21" name="Rectangle 20"/>
          <p:cNvSpPr/>
          <p:nvPr/>
        </p:nvSpPr>
        <p:spPr>
          <a:xfrm>
            <a:off x="457200" y="2926080"/>
            <a:ext cx="2606040" cy="1417320"/>
          </a:xfrm>
          <a:prstGeom prst="rect">
            <a:avLst/>
          </a:prstGeom>
          <a:solidFill>
            <a:srgbClr val="FFFFFF"/>
          </a:solidFill>
          <a:ln w="9525">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Oval 21"/>
          <p:cNvSpPr/>
          <p:nvPr/>
        </p:nvSpPr>
        <p:spPr>
          <a:xfrm>
            <a:off x="1568196" y="3017520"/>
            <a:ext cx="384048" cy="384048"/>
          </a:xfrm>
          <a:prstGeom prst="ellipse">
            <a:avLst/>
          </a:prstGeom>
          <a:solidFill>
            <a:srgbClr val="EFF6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1568196" y="3017520"/>
            <a:ext cx="384048" cy="384048"/>
          </a:xfrm>
          <a:prstGeom prst="rect">
            <a:avLst/>
          </a:prstGeom>
          <a:noFill/>
        </p:spPr>
        <p:txBody>
          <a:bodyPr wrap="square" anchor="ctr"/>
          <a:lstStyle/>
          <a:p>
            <a:pPr algn="ctr">
              <a:lnSpc>
                <a:spcPct val="135000"/>
              </a:lnSpc>
              <a:spcBef>
                <a:spcPts val="0"/>
              </a:spcBef>
              <a:spcAft>
                <a:spcPts val="0"/>
              </a:spcAft>
            </a:pPr>
            <a:r>
              <a:rPr sz="1200" b="1">
                <a:solidFill>
                  <a:srgbClr val="2563EB"/>
                </a:solidFill>
                <a:latin typeface="Calibri"/>
              </a:rPr>
              <a:t>G</a:t>
            </a:r>
          </a:p>
        </p:txBody>
      </p:sp>
      <p:sp>
        <p:nvSpPr>
          <p:cNvPr id="24" name="TextBox 23"/>
          <p:cNvSpPr txBox="1"/>
          <p:nvPr/>
        </p:nvSpPr>
        <p:spPr>
          <a:xfrm>
            <a:off x="530352" y="3438144"/>
            <a:ext cx="2459736" cy="237744"/>
          </a:xfrm>
          <a:prstGeom prst="rect">
            <a:avLst/>
          </a:prstGeom>
          <a:noFill/>
        </p:spPr>
        <p:txBody>
          <a:bodyPr wrap="square"/>
          <a:lstStyle/>
          <a:p>
            <a:pPr algn="ctr">
              <a:lnSpc>
                <a:spcPct val="135000"/>
              </a:lnSpc>
              <a:spcBef>
                <a:spcPts val="0"/>
              </a:spcBef>
              <a:spcAft>
                <a:spcPts val="0"/>
              </a:spcAft>
            </a:pPr>
            <a:r>
              <a:rPr sz="1100" b="1">
                <a:solidFill>
                  <a:srgbClr val="1E293B"/>
                </a:solidFill>
                <a:latin typeface="Calibri"/>
              </a:rPr>
              <a:t>Government &amp; Education</a:t>
            </a:r>
          </a:p>
        </p:txBody>
      </p:sp>
      <p:sp>
        <p:nvSpPr>
          <p:cNvPr id="25" name="TextBox 24"/>
          <p:cNvSpPr txBox="1"/>
          <p:nvPr/>
        </p:nvSpPr>
        <p:spPr>
          <a:xfrm>
            <a:off x="530352" y="3749040"/>
            <a:ext cx="2459736" cy="521208"/>
          </a:xfrm>
          <a:prstGeom prst="rect">
            <a:avLst/>
          </a:prstGeom>
          <a:noFill/>
        </p:spPr>
        <p:txBody>
          <a:bodyPr wrap="square"/>
          <a:lstStyle/>
          <a:p>
            <a:pPr algn="ctr">
              <a:lnSpc>
                <a:spcPct val="135000"/>
              </a:lnSpc>
              <a:spcBef>
                <a:spcPts val="0"/>
              </a:spcBef>
              <a:spcAft>
                <a:spcPts val="0"/>
              </a:spcAft>
            </a:pPr>
            <a:r>
              <a:rPr sz="900" b="0">
                <a:solidFill>
                  <a:srgbClr val="475569"/>
                </a:solidFill>
                <a:latin typeface="Calibri"/>
              </a:rPr>
              <a:t>Community archives, disaster records, school history</a:t>
            </a:r>
          </a:p>
        </p:txBody>
      </p:sp>
      <p:sp>
        <p:nvSpPr>
          <p:cNvPr id="26" name="Rectangle 25"/>
          <p:cNvSpPr/>
          <p:nvPr/>
        </p:nvSpPr>
        <p:spPr>
          <a:xfrm>
            <a:off x="3273552" y="2926080"/>
            <a:ext cx="2606040" cy="1417320"/>
          </a:xfrm>
          <a:prstGeom prst="rect">
            <a:avLst/>
          </a:prstGeom>
          <a:solidFill>
            <a:srgbClr val="FFFFFF"/>
          </a:solidFill>
          <a:ln w="9525">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4384548" y="3017520"/>
            <a:ext cx="384048" cy="384048"/>
          </a:xfrm>
          <a:prstGeom prst="ellipse">
            <a:avLst/>
          </a:prstGeom>
          <a:solidFill>
            <a:srgbClr val="EFF6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4384548" y="3017520"/>
            <a:ext cx="384048" cy="384048"/>
          </a:xfrm>
          <a:prstGeom prst="rect">
            <a:avLst/>
          </a:prstGeom>
          <a:noFill/>
        </p:spPr>
        <p:txBody>
          <a:bodyPr wrap="square" anchor="ctr"/>
          <a:lstStyle/>
          <a:p>
            <a:pPr algn="ctr">
              <a:lnSpc>
                <a:spcPct val="135000"/>
              </a:lnSpc>
              <a:spcBef>
                <a:spcPts val="0"/>
              </a:spcBef>
              <a:spcAft>
                <a:spcPts val="0"/>
              </a:spcAft>
            </a:pPr>
            <a:r>
              <a:rPr sz="1200" b="1">
                <a:solidFill>
                  <a:srgbClr val="2563EB"/>
                </a:solidFill>
                <a:latin typeface="Calibri"/>
              </a:rPr>
              <a:t>E</a:t>
            </a:r>
          </a:p>
        </p:txBody>
      </p:sp>
      <p:sp>
        <p:nvSpPr>
          <p:cNvPr id="29" name="TextBox 28"/>
          <p:cNvSpPr txBox="1"/>
          <p:nvPr/>
        </p:nvSpPr>
        <p:spPr>
          <a:xfrm>
            <a:off x="3346704" y="3438144"/>
            <a:ext cx="2459736" cy="237744"/>
          </a:xfrm>
          <a:prstGeom prst="rect">
            <a:avLst/>
          </a:prstGeom>
          <a:noFill/>
        </p:spPr>
        <p:txBody>
          <a:bodyPr wrap="square"/>
          <a:lstStyle/>
          <a:p>
            <a:pPr algn="ctr">
              <a:lnSpc>
                <a:spcPct val="135000"/>
              </a:lnSpc>
              <a:spcBef>
                <a:spcPts val="0"/>
              </a:spcBef>
              <a:spcAft>
                <a:spcPts val="0"/>
              </a:spcAft>
            </a:pPr>
            <a:r>
              <a:rPr sz="1100" b="1">
                <a:solidFill>
                  <a:srgbClr val="1E293B"/>
                </a:solidFill>
                <a:latin typeface="Calibri"/>
              </a:rPr>
              <a:t>ESG &amp; Sustainability</a:t>
            </a:r>
          </a:p>
        </p:txBody>
      </p:sp>
      <p:sp>
        <p:nvSpPr>
          <p:cNvPr id="30" name="TextBox 29"/>
          <p:cNvSpPr txBox="1"/>
          <p:nvPr/>
        </p:nvSpPr>
        <p:spPr>
          <a:xfrm>
            <a:off x="3346704" y="3749040"/>
            <a:ext cx="2459736" cy="521208"/>
          </a:xfrm>
          <a:prstGeom prst="rect">
            <a:avLst/>
          </a:prstGeom>
          <a:noFill/>
        </p:spPr>
        <p:txBody>
          <a:bodyPr wrap="square"/>
          <a:lstStyle/>
          <a:p>
            <a:pPr algn="ctr">
              <a:lnSpc>
                <a:spcPct val="135000"/>
              </a:lnSpc>
              <a:spcBef>
                <a:spcPts val="0"/>
              </a:spcBef>
              <a:spcAft>
                <a:spcPts val="0"/>
              </a:spcAft>
            </a:pPr>
            <a:r>
              <a:rPr sz="900" b="0">
                <a:solidFill>
                  <a:srgbClr val="475569"/>
                </a:solidFill>
                <a:latin typeface="Calibri"/>
              </a:rPr>
              <a:t>1,000-year corporate purpose records, SDG impact proof</a:t>
            </a:r>
          </a:p>
        </p:txBody>
      </p:sp>
      <p:sp>
        <p:nvSpPr>
          <p:cNvPr id="31" name="Rectangle 30"/>
          <p:cNvSpPr/>
          <p:nvPr/>
        </p:nvSpPr>
        <p:spPr>
          <a:xfrm>
            <a:off x="6089904" y="2926080"/>
            <a:ext cx="2606040" cy="1417320"/>
          </a:xfrm>
          <a:prstGeom prst="rect">
            <a:avLst/>
          </a:prstGeom>
          <a:solidFill>
            <a:srgbClr val="FFFFFF"/>
          </a:solidFill>
          <a:ln w="9525">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Oval 31"/>
          <p:cNvSpPr/>
          <p:nvPr/>
        </p:nvSpPr>
        <p:spPr>
          <a:xfrm>
            <a:off x="7200900" y="3017520"/>
            <a:ext cx="384048" cy="384048"/>
          </a:xfrm>
          <a:prstGeom prst="ellipse">
            <a:avLst/>
          </a:prstGeom>
          <a:solidFill>
            <a:srgbClr val="EFF6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7200900" y="3017520"/>
            <a:ext cx="384048" cy="384048"/>
          </a:xfrm>
          <a:prstGeom prst="rect">
            <a:avLst/>
          </a:prstGeom>
          <a:noFill/>
        </p:spPr>
        <p:txBody>
          <a:bodyPr wrap="square" anchor="ctr"/>
          <a:lstStyle/>
          <a:p>
            <a:pPr algn="ctr">
              <a:lnSpc>
                <a:spcPct val="135000"/>
              </a:lnSpc>
              <a:spcBef>
                <a:spcPts val="0"/>
              </a:spcBef>
              <a:spcAft>
                <a:spcPts val="0"/>
              </a:spcAft>
            </a:pPr>
            <a:r>
              <a:rPr sz="1200" b="1">
                <a:solidFill>
                  <a:srgbClr val="2563EB"/>
                </a:solidFill>
                <a:latin typeface="Calibri"/>
              </a:rPr>
              <a:t>F</a:t>
            </a:r>
          </a:p>
        </p:txBody>
      </p:sp>
      <p:sp>
        <p:nvSpPr>
          <p:cNvPr id="34" name="TextBox 33"/>
          <p:cNvSpPr txBox="1"/>
          <p:nvPr/>
        </p:nvSpPr>
        <p:spPr>
          <a:xfrm>
            <a:off x="6163056" y="3438144"/>
            <a:ext cx="2459736" cy="237744"/>
          </a:xfrm>
          <a:prstGeom prst="rect">
            <a:avLst/>
          </a:prstGeom>
          <a:noFill/>
        </p:spPr>
        <p:txBody>
          <a:bodyPr wrap="square"/>
          <a:lstStyle/>
          <a:p>
            <a:pPr algn="ctr">
              <a:lnSpc>
                <a:spcPct val="135000"/>
              </a:lnSpc>
              <a:spcBef>
                <a:spcPts val="0"/>
              </a:spcBef>
              <a:spcAft>
                <a:spcPts val="0"/>
              </a:spcAft>
            </a:pPr>
            <a:r>
              <a:rPr sz="1100" b="1">
                <a:solidFill>
                  <a:srgbClr val="1E293B"/>
                </a:solidFill>
                <a:latin typeface="Calibri"/>
              </a:rPr>
              <a:t>Finance &amp; Insurance</a:t>
            </a:r>
          </a:p>
        </p:txBody>
      </p:sp>
      <p:sp>
        <p:nvSpPr>
          <p:cNvPr id="35" name="TextBox 34"/>
          <p:cNvSpPr txBox="1"/>
          <p:nvPr/>
        </p:nvSpPr>
        <p:spPr>
          <a:xfrm>
            <a:off x="6163056" y="3749040"/>
            <a:ext cx="2459736" cy="521208"/>
          </a:xfrm>
          <a:prstGeom prst="rect">
            <a:avLst/>
          </a:prstGeom>
          <a:noFill/>
        </p:spPr>
        <p:txBody>
          <a:bodyPr wrap="square"/>
          <a:lstStyle/>
          <a:p>
            <a:pPr algn="ctr">
              <a:lnSpc>
                <a:spcPct val="135000"/>
              </a:lnSpc>
              <a:spcBef>
                <a:spcPts val="0"/>
              </a:spcBef>
              <a:spcAft>
                <a:spcPts val="0"/>
              </a:spcAft>
            </a:pPr>
            <a:r>
              <a:rPr sz="900" b="0">
                <a:solidFill>
                  <a:srgbClr val="475569"/>
                </a:solidFill>
                <a:latin typeface="Calibri"/>
              </a:rPr>
              <a:t>End-of-life service integration, digital estate</a:t>
            </a:r>
          </a:p>
        </p:txBody>
      </p:sp>
      <p:sp>
        <p:nvSpPr>
          <p:cNvPr id="36" name="Rectangle 35"/>
          <p:cNvSpPr/>
          <p:nvPr/>
        </p:nvSpPr>
        <p:spPr>
          <a:xfrm>
            <a:off x="0" y="4796028"/>
            <a:ext cx="9144000" cy="6350"/>
          </a:xfrm>
          <a:prstGeom prst="rect">
            <a:avLst/>
          </a:prstGeom>
          <a:solidFill>
            <a:srgbClr val="E2E8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457200" y="4821428"/>
            <a:ext cx="3657600" cy="274320"/>
          </a:xfrm>
          <a:prstGeom prst="rect">
            <a:avLst/>
          </a:prstGeom>
          <a:noFill/>
        </p:spPr>
        <p:txBody>
          <a:bodyPr wrap="square"/>
          <a:lstStyle/>
          <a:p>
            <a:pPr algn="l">
              <a:lnSpc>
                <a:spcPct val="135000"/>
              </a:lnSpc>
              <a:spcBef>
                <a:spcPts val="0"/>
              </a:spcBef>
              <a:spcAft>
                <a:spcPts val="0"/>
              </a:spcAft>
            </a:pPr>
            <a:r>
              <a:rPr sz="900" b="0">
                <a:solidFill>
                  <a:srgbClr val="94A3B8"/>
                </a:solidFill>
                <a:latin typeface="Calibri"/>
              </a:rPr>
              <a:t>TokiStorage — Partnership Proposal</a:t>
            </a:r>
          </a:p>
        </p:txBody>
      </p:sp>
      <p:sp>
        <p:nvSpPr>
          <p:cNvPr id="38" name="TextBox 37"/>
          <p:cNvSpPr txBox="1"/>
          <p:nvPr/>
        </p:nvSpPr>
        <p:spPr>
          <a:xfrm>
            <a:off x="3657600" y="4821428"/>
            <a:ext cx="1828800" cy="274320"/>
          </a:xfrm>
          <a:prstGeom prst="rect">
            <a:avLst/>
          </a:prstGeom>
          <a:noFill/>
        </p:spPr>
        <p:txBody>
          <a:bodyPr wrap="square"/>
          <a:lstStyle/>
          <a:p>
            <a:pPr algn="ctr">
              <a:lnSpc>
                <a:spcPct val="135000"/>
              </a:lnSpc>
              <a:spcBef>
                <a:spcPts val="0"/>
              </a:spcBef>
              <a:spcAft>
                <a:spcPts val="0"/>
              </a:spcAft>
            </a:pPr>
            <a:r>
              <a:rPr sz="900" b="0">
                <a:solidFill>
                  <a:srgbClr val="94A3B8"/>
                </a:solidFill>
                <a:latin typeface="Calibri"/>
              </a:rPr>
              <a:t>Confidential</a:t>
            </a:r>
          </a:p>
        </p:txBody>
      </p:sp>
      <p:sp>
        <p:nvSpPr>
          <p:cNvPr id="39" name="TextBox 38"/>
          <p:cNvSpPr txBox="1"/>
          <p:nvPr/>
        </p:nvSpPr>
        <p:spPr>
          <a:xfrm>
            <a:off x="8229600" y="4821428"/>
            <a:ext cx="457200" cy="274320"/>
          </a:xfrm>
          <a:prstGeom prst="rect">
            <a:avLst/>
          </a:prstGeom>
          <a:noFill/>
        </p:spPr>
        <p:txBody>
          <a:bodyPr wrap="square"/>
          <a:lstStyle/>
          <a:p>
            <a:pPr algn="r">
              <a:lnSpc>
                <a:spcPct val="135000"/>
              </a:lnSpc>
              <a:spcBef>
                <a:spcPts val="0"/>
              </a:spcBef>
              <a:spcAft>
                <a:spcPts val="0"/>
              </a:spcAft>
            </a:pPr>
            <a:r>
              <a:rPr sz="900" b="1">
                <a:solidFill>
                  <a:srgbClr val="94A3B8"/>
                </a:solidFill>
                <a:latin typeface="Calibri"/>
              </a:rPr>
              <a:t>9</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94360"/>
          </a:xfrm>
          <a:prstGeom prst="rect">
            <a:avLst/>
          </a:prstGeom>
          <a:solidFill>
            <a:srgbClr val="1E29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0"/>
            <a:ext cx="8229600" cy="594360"/>
          </a:xfrm>
          <a:prstGeom prst="rect">
            <a:avLst/>
          </a:prstGeom>
          <a:noFill/>
        </p:spPr>
        <p:txBody>
          <a:bodyPr wrap="square" anchor="ctr"/>
          <a:lstStyle/>
          <a:p>
            <a:pPr algn="l">
              <a:lnSpc>
                <a:spcPct val="135000"/>
              </a:lnSpc>
              <a:spcBef>
                <a:spcPts val="0"/>
              </a:spcBef>
              <a:spcAft>
                <a:spcPts val="0"/>
              </a:spcAft>
            </a:pPr>
            <a:r>
              <a:rPr sz="1200" b="1">
                <a:solidFill>
                  <a:srgbClr val="FFFFFF"/>
                </a:solidFill>
                <a:latin typeface="Calibri"/>
              </a:rPr>
              <a:t>The founder is a Big Four alumnus who designed the partnership model with full awareness of firm compliance</a:t>
            </a:r>
          </a:p>
        </p:txBody>
      </p:sp>
      <p:sp>
        <p:nvSpPr>
          <p:cNvPr id="4" name="TextBox 3"/>
          <p:cNvSpPr txBox="1"/>
          <p:nvPr/>
        </p:nvSpPr>
        <p:spPr>
          <a:xfrm>
            <a:off x="457200" y="731520"/>
            <a:ext cx="2743200" cy="274320"/>
          </a:xfrm>
          <a:prstGeom prst="rect">
            <a:avLst/>
          </a:prstGeom>
          <a:noFill/>
        </p:spPr>
        <p:txBody>
          <a:bodyPr wrap="square"/>
          <a:lstStyle/>
          <a:p>
            <a:pPr algn="l">
              <a:lnSpc>
                <a:spcPct val="135000"/>
              </a:lnSpc>
              <a:spcBef>
                <a:spcPts val="0"/>
              </a:spcBef>
              <a:spcAft>
                <a:spcPts val="0"/>
              </a:spcAft>
            </a:pPr>
            <a:r>
              <a:rPr sz="1000" b="1">
                <a:solidFill>
                  <a:srgbClr val="2563EB"/>
                </a:solidFill>
                <a:latin typeface="Calibri"/>
              </a:rPr>
              <a:t>TEAM &amp; INDEPENDENCE</a:t>
            </a:r>
          </a:p>
        </p:txBody>
      </p:sp>
      <p:pic>
        <p:nvPicPr>
          <p:cNvPr id="5" name="Picture 4" descr="_deck_profile.png"/>
          <p:cNvPicPr>
            <a:picLocks noChangeAspect="1"/>
          </p:cNvPicPr>
          <p:nvPr/>
        </p:nvPicPr>
        <p:blipFill>
          <a:blip r:embed="rId2"/>
          <a:stretch>
            <a:fillRect/>
          </a:stretch>
        </p:blipFill>
        <p:spPr>
          <a:xfrm>
            <a:off x="457200" y="1024128"/>
            <a:ext cx="914400" cy="914400"/>
          </a:xfrm>
          <a:prstGeom prst="rect">
            <a:avLst/>
          </a:prstGeom>
        </p:spPr>
      </p:pic>
      <p:sp>
        <p:nvSpPr>
          <p:cNvPr id="6" name="TextBox 5"/>
          <p:cNvSpPr txBox="1"/>
          <p:nvPr/>
        </p:nvSpPr>
        <p:spPr>
          <a:xfrm>
            <a:off x="1508760" y="1078992"/>
            <a:ext cx="6675120" cy="320040"/>
          </a:xfrm>
          <a:prstGeom prst="rect">
            <a:avLst/>
          </a:prstGeom>
          <a:noFill/>
        </p:spPr>
        <p:txBody>
          <a:bodyPr wrap="square"/>
          <a:lstStyle/>
          <a:p>
            <a:pPr algn="l">
              <a:lnSpc>
                <a:spcPct val="135000"/>
              </a:lnSpc>
              <a:spcBef>
                <a:spcPts val="0"/>
              </a:spcBef>
              <a:spcAft>
                <a:spcPts val="0"/>
              </a:spcAft>
            </a:pPr>
            <a:r>
              <a:rPr sz="1300" b="1">
                <a:solidFill>
                  <a:srgbClr val="1E293B"/>
                </a:solidFill>
                <a:latin typeface="Calibri"/>
              </a:rPr>
              <a:t>Takuya Sato — Founder, TokiStorage</a:t>
            </a:r>
          </a:p>
        </p:txBody>
      </p:sp>
      <p:sp>
        <p:nvSpPr>
          <p:cNvPr id="7" name="TextBox 6"/>
          <p:cNvSpPr txBox="1"/>
          <p:nvPr/>
        </p:nvSpPr>
        <p:spPr>
          <a:xfrm>
            <a:off x="1508760" y="1444752"/>
            <a:ext cx="6675120" cy="1097280"/>
          </a:xfrm>
          <a:prstGeom prst="rect">
            <a:avLst/>
          </a:prstGeom>
          <a:noFill/>
        </p:spPr>
        <p:txBody>
          <a:bodyPr wrap="square"/>
          <a:lstStyle/>
          <a:p>
            <a:pPr algn="l">
              <a:lnSpc>
                <a:spcPct val="135000"/>
              </a:lnSpc>
              <a:spcBef>
                <a:spcPts val="0"/>
              </a:spcBef>
              <a:spcAft>
                <a:spcPts val="0"/>
              </a:spcAft>
            </a:pPr>
            <a:r>
              <a:rPr sz="1000" b="0">
                <a:solidFill>
                  <a:srgbClr val="475569"/>
                </a:solidFill>
                <a:latin typeface="Calibri"/>
              </a:rPr>
              <a:t>Former Big Four consultant — understands firm culture, client engagement, and project design from the inside. 20+ years in semiconductor manufacturing engineering. Former president of Timeless Town Shin-Urayasu residents' association (250 households). Through SoulCarrier's work with unclaimed graves, witnessed firsthand how memories vanish — and conceived TokiStorage. Validated off-grid, institution-free 1,000-year design through testing in Maui and Lake Yamanakako.</a:t>
            </a:r>
          </a:p>
        </p:txBody>
      </p:sp>
      <p:sp>
        <p:nvSpPr>
          <p:cNvPr id="8" name="Rectangle 7"/>
          <p:cNvSpPr/>
          <p:nvPr/>
        </p:nvSpPr>
        <p:spPr>
          <a:xfrm>
            <a:off x="457200" y="2807208"/>
            <a:ext cx="1440180" cy="402336"/>
          </a:xfrm>
          <a:prstGeom prst="rect">
            <a:avLst/>
          </a:prstGeom>
          <a:solidFill>
            <a:srgbClr val="F1F5F9"/>
          </a:solidFill>
          <a:ln w="9525">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48640" y="2807208"/>
            <a:ext cx="1257300" cy="402336"/>
          </a:xfrm>
          <a:prstGeom prst="rect">
            <a:avLst/>
          </a:prstGeom>
          <a:noFill/>
        </p:spPr>
        <p:txBody>
          <a:bodyPr wrap="square" anchor="ctr"/>
          <a:lstStyle/>
          <a:p>
            <a:pPr algn="ctr">
              <a:lnSpc>
                <a:spcPct val="135000"/>
              </a:lnSpc>
              <a:spcBef>
                <a:spcPts val="0"/>
              </a:spcBef>
              <a:spcAft>
                <a:spcPts val="0"/>
              </a:spcAft>
            </a:pPr>
            <a:r>
              <a:rPr sz="800" b="0">
                <a:solidFill>
                  <a:srgbClr val="475569"/>
                </a:solidFill>
                <a:latin typeface="Calibri"/>
              </a:rPr>
              <a:t>Big Four Alumni</a:t>
            </a:r>
          </a:p>
        </p:txBody>
      </p:sp>
      <p:sp>
        <p:nvSpPr>
          <p:cNvPr id="10" name="Rectangle 9"/>
          <p:cNvSpPr/>
          <p:nvPr/>
        </p:nvSpPr>
        <p:spPr>
          <a:xfrm>
            <a:off x="2007108" y="2807208"/>
            <a:ext cx="2674620" cy="402336"/>
          </a:xfrm>
          <a:prstGeom prst="rect">
            <a:avLst/>
          </a:prstGeom>
          <a:solidFill>
            <a:srgbClr val="F1F5F9"/>
          </a:solidFill>
          <a:ln w="9525">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2098548" y="2807208"/>
            <a:ext cx="2491740" cy="402336"/>
          </a:xfrm>
          <a:prstGeom prst="rect">
            <a:avLst/>
          </a:prstGeom>
          <a:noFill/>
        </p:spPr>
        <p:txBody>
          <a:bodyPr wrap="square" anchor="ctr"/>
          <a:lstStyle/>
          <a:p>
            <a:pPr algn="ctr">
              <a:lnSpc>
                <a:spcPct val="135000"/>
              </a:lnSpc>
              <a:spcBef>
                <a:spcPts val="0"/>
              </a:spcBef>
              <a:spcAft>
                <a:spcPts val="0"/>
              </a:spcAft>
            </a:pPr>
            <a:r>
              <a:rPr sz="800" b="0">
                <a:solidFill>
                  <a:srgbClr val="475569"/>
                </a:solidFill>
                <a:latin typeface="Calibri"/>
              </a:rPr>
              <a:t>Semiconductor engineering 20+ yrs</a:t>
            </a:r>
          </a:p>
        </p:txBody>
      </p:sp>
      <p:sp>
        <p:nvSpPr>
          <p:cNvPr id="12" name="Rectangle 11"/>
          <p:cNvSpPr/>
          <p:nvPr/>
        </p:nvSpPr>
        <p:spPr>
          <a:xfrm>
            <a:off x="4791456" y="2807208"/>
            <a:ext cx="2880360" cy="402336"/>
          </a:xfrm>
          <a:prstGeom prst="rect">
            <a:avLst/>
          </a:prstGeom>
          <a:solidFill>
            <a:srgbClr val="F1F5F9"/>
          </a:solidFill>
          <a:ln w="9525">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882896" y="2807208"/>
            <a:ext cx="2697480" cy="402336"/>
          </a:xfrm>
          <a:prstGeom prst="rect">
            <a:avLst/>
          </a:prstGeom>
          <a:noFill/>
        </p:spPr>
        <p:txBody>
          <a:bodyPr wrap="square" anchor="ctr"/>
          <a:lstStyle/>
          <a:p>
            <a:pPr algn="ctr">
              <a:lnSpc>
                <a:spcPct val="135000"/>
              </a:lnSpc>
              <a:spcBef>
                <a:spcPts val="0"/>
              </a:spcBef>
              <a:spcAft>
                <a:spcPts val="0"/>
              </a:spcAft>
            </a:pPr>
            <a:r>
              <a:rPr sz="800" b="0">
                <a:solidFill>
                  <a:srgbClr val="475569"/>
                </a:solidFill>
                <a:latin typeface="Calibri"/>
              </a:rPr>
              <a:t>Community president (250 households)</a:t>
            </a:r>
          </a:p>
        </p:txBody>
      </p:sp>
      <p:sp>
        <p:nvSpPr>
          <p:cNvPr id="14" name="Rectangle 13"/>
          <p:cNvSpPr/>
          <p:nvPr/>
        </p:nvSpPr>
        <p:spPr>
          <a:xfrm>
            <a:off x="457200" y="3282696"/>
            <a:ext cx="1714500" cy="402336"/>
          </a:xfrm>
          <a:prstGeom prst="rect">
            <a:avLst/>
          </a:prstGeom>
          <a:solidFill>
            <a:srgbClr val="F1F5F9"/>
          </a:solidFill>
          <a:ln w="9525">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48640" y="3282696"/>
            <a:ext cx="1531620" cy="402336"/>
          </a:xfrm>
          <a:prstGeom prst="rect">
            <a:avLst/>
          </a:prstGeom>
          <a:noFill/>
        </p:spPr>
        <p:txBody>
          <a:bodyPr wrap="square" anchor="ctr"/>
          <a:lstStyle/>
          <a:p>
            <a:pPr algn="ctr">
              <a:lnSpc>
                <a:spcPct val="135000"/>
              </a:lnSpc>
              <a:spcBef>
                <a:spcPts val="0"/>
              </a:spcBef>
              <a:spcAft>
                <a:spcPts val="0"/>
              </a:spcAft>
            </a:pPr>
            <a:r>
              <a:rPr sz="800" b="0">
                <a:solidFill>
                  <a:srgbClr val="475569"/>
                </a:solidFill>
                <a:latin typeface="Calibri"/>
              </a:rPr>
              <a:t>SoulCarrier founder</a:t>
            </a:r>
          </a:p>
        </p:txBody>
      </p:sp>
      <p:sp>
        <p:nvSpPr>
          <p:cNvPr id="16" name="Rectangle 15"/>
          <p:cNvSpPr/>
          <p:nvPr/>
        </p:nvSpPr>
        <p:spPr>
          <a:xfrm>
            <a:off x="2281428" y="3282696"/>
            <a:ext cx="1645919" cy="402336"/>
          </a:xfrm>
          <a:prstGeom prst="rect">
            <a:avLst/>
          </a:prstGeom>
          <a:solidFill>
            <a:srgbClr val="F1F5F9"/>
          </a:solidFill>
          <a:ln w="9525">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2372868" y="3282696"/>
            <a:ext cx="1463039" cy="402336"/>
          </a:xfrm>
          <a:prstGeom prst="rect">
            <a:avLst/>
          </a:prstGeom>
          <a:noFill/>
        </p:spPr>
        <p:txBody>
          <a:bodyPr wrap="square" anchor="ctr"/>
          <a:lstStyle/>
          <a:p>
            <a:pPr algn="ctr">
              <a:lnSpc>
                <a:spcPct val="135000"/>
              </a:lnSpc>
              <a:spcBef>
                <a:spcPts val="0"/>
              </a:spcBef>
              <a:spcAft>
                <a:spcPts val="0"/>
              </a:spcAft>
            </a:pPr>
            <a:r>
              <a:rPr sz="800" b="0">
                <a:solidFill>
                  <a:srgbClr val="475569"/>
                </a:solidFill>
                <a:latin typeface="Calibri"/>
              </a:rPr>
              <a:t>Off-grid validated</a:t>
            </a:r>
          </a:p>
        </p:txBody>
      </p:sp>
      <p:sp>
        <p:nvSpPr>
          <p:cNvPr id="18" name="Rectangle 17"/>
          <p:cNvSpPr/>
          <p:nvPr/>
        </p:nvSpPr>
        <p:spPr>
          <a:xfrm>
            <a:off x="4037075" y="3282696"/>
            <a:ext cx="3086100" cy="402336"/>
          </a:xfrm>
          <a:prstGeom prst="rect">
            <a:avLst/>
          </a:prstGeom>
          <a:solidFill>
            <a:srgbClr val="F1F5F9"/>
          </a:solidFill>
          <a:ln w="9525">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128515" y="3282696"/>
            <a:ext cx="2903220" cy="402336"/>
          </a:xfrm>
          <a:prstGeom prst="rect">
            <a:avLst/>
          </a:prstGeom>
          <a:noFill/>
        </p:spPr>
        <p:txBody>
          <a:bodyPr wrap="square" anchor="ctr"/>
          <a:lstStyle/>
          <a:p>
            <a:pPr algn="ctr">
              <a:lnSpc>
                <a:spcPct val="135000"/>
              </a:lnSpc>
              <a:spcBef>
                <a:spcPts val="0"/>
              </a:spcBef>
              <a:spcAft>
                <a:spcPts val="0"/>
              </a:spcAft>
            </a:pPr>
            <a:r>
              <a:rPr sz="800" b="0">
                <a:solidFill>
                  <a:srgbClr val="475569"/>
                </a:solidFill>
                <a:latin typeface="Calibri"/>
              </a:rPr>
              <a:t>Relocating to Sado Island (Spring 2026)</a:t>
            </a:r>
          </a:p>
        </p:txBody>
      </p:sp>
      <p:sp>
        <p:nvSpPr>
          <p:cNvPr id="20" name="Rectangle 19"/>
          <p:cNvSpPr/>
          <p:nvPr/>
        </p:nvSpPr>
        <p:spPr>
          <a:xfrm>
            <a:off x="457200" y="3785616"/>
            <a:ext cx="7863840" cy="1051560"/>
          </a:xfrm>
          <a:prstGeom prst="rect">
            <a:avLst/>
          </a:prstGeom>
          <a:solidFill>
            <a:srgbClr val="EFF6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457200" y="3785616"/>
            <a:ext cx="54864" cy="1051560"/>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85800" y="3877056"/>
            <a:ext cx="7543800" cy="256032"/>
          </a:xfrm>
          <a:prstGeom prst="rect">
            <a:avLst/>
          </a:prstGeom>
          <a:noFill/>
        </p:spPr>
        <p:txBody>
          <a:bodyPr wrap="square"/>
          <a:lstStyle/>
          <a:p>
            <a:pPr algn="l">
              <a:lnSpc>
                <a:spcPct val="135000"/>
              </a:lnSpc>
              <a:spcBef>
                <a:spcPts val="0"/>
              </a:spcBef>
              <a:spcAft>
                <a:spcPts val="0"/>
              </a:spcAft>
            </a:pPr>
            <a:r>
              <a:rPr sz="1000" b="1">
                <a:solidFill>
                  <a:srgbClr val="1E293B"/>
                </a:solidFill>
                <a:latin typeface="Calibri"/>
              </a:rPr>
              <a:t>A note on independence</a:t>
            </a:r>
          </a:p>
        </p:txBody>
      </p:sp>
      <p:sp>
        <p:nvSpPr>
          <p:cNvPr id="23" name="TextBox 22"/>
          <p:cNvSpPr txBox="1"/>
          <p:nvPr/>
        </p:nvSpPr>
        <p:spPr>
          <a:xfrm>
            <a:off x="685800" y="4187952"/>
            <a:ext cx="7543800" cy="576072"/>
          </a:xfrm>
          <a:prstGeom prst="rect">
            <a:avLst/>
          </a:prstGeom>
          <a:noFill/>
        </p:spPr>
        <p:txBody>
          <a:bodyPr wrap="square"/>
          <a:lstStyle/>
          <a:p>
            <a:pPr algn="l">
              <a:lnSpc>
                <a:spcPct val="135000"/>
              </a:lnSpc>
              <a:spcBef>
                <a:spcPts val="0"/>
              </a:spcBef>
              <a:spcAft>
                <a:spcPts val="0"/>
              </a:spcAft>
            </a:pPr>
            <a:r>
              <a:rPr sz="1000" b="0">
                <a:solidFill>
                  <a:srgbClr val="475569"/>
                </a:solidFill>
                <a:latin typeface="Calibri"/>
              </a:rPr>
              <a:t>This is a vendor partnership — structurally identical to recommending Salesforce or SAP. No audit engagement, no equity relationship, no independence concerns. Designed with full awareness of firm compliance requirements.</a:t>
            </a:r>
          </a:p>
        </p:txBody>
      </p:sp>
      <p:sp>
        <p:nvSpPr>
          <p:cNvPr id="24" name="Rectangle 23"/>
          <p:cNvSpPr/>
          <p:nvPr/>
        </p:nvSpPr>
        <p:spPr>
          <a:xfrm>
            <a:off x="0" y="4796028"/>
            <a:ext cx="9144000" cy="6350"/>
          </a:xfrm>
          <a:prstGeom prst="rect">
            <a:avLst/>
          </a:prstGeom>
          <a:solidFill>
            <a:srgbClr val="E2E8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457200" y="4821428"/>
            <a:ext cx="3657600" cy="274320"/>
          </a:xfrm>
          <a:prstGeom prst="rect">
            <a:avLst/>
          </a:prstGeom>
          <a:noFill/>
        </p:spPr>
        <p:txBody>
          <a:bodyPr wrap="square"/>
          <a:lstStyle/>
          <a:p>
            <a:pPr algn="l">
              <a:lnSpc>
                <a:spcPct val="135000"/>
              </a:lnSpc>
              <a:spcBef>
                <a:spcPts val="0"/>
              </a:spcBef>
              <a:spcAft>
                <a:spcPts val="0"/>
              </a:spcAft>
            </a:pPr>
            <a:r>
              <a:rPr sz="900" b="0">
                <a:solidFill>
                  <a:srgbClr val="94A3B8"/>
                </a:solidFill>
                <a:latin typeface="Calibri"/>
              </a:rPr>
              <a:t>TokiStorage — Partnership Proposal</a:t>
            </a:r>
          </a:p>
        </p:txBody>
      </p:sp>
      <p:sp>
        <p:nvSpPr>
          <p:cNvPr id="26" name="TextBox 25"/>
          <p:cNvSpPr txBox="1"/>
          <p:nvPr/>
        </p:nvSpPr>
        <p:spPr>
          <a:xfrm>
            <a:off x="3657600" y="4821428"/>
            <a:ext cx="1828800" cy="274320"/>
          </a:xfrm>
          <a:prstGeom prst="rect">
            <a:avLst/>
          </a:prstGeom>
          <a:noFill/>
        </p:spPr>
        <p:txBody>
          <a:bodyPr wrap="square"/>
          <a:lstStyle/>
          <a:p>
            <a:pPr algn="ctr">
              <a:lnSpc>
                <a:spcPct val="135000"/>
              </a:lnSpc>
              <a:spcBef>
                <a:spcPts val="0"/>
              </a:spcBef>
              <a:spcAft>
                <a:spcPts val="0"/>
              </a:spcAft>
            </a:pPr>
            <a:r>
              <a:rPr sz="900" b="0">
                <a:solidFill>
                  <a:srgbClr val="94A3B8"/>
                </a:solidFill>
                <a:latin typeface="Calibri"/>
              </a:rPr>
              <a:t>Confidential</a:t>
            </a:r>
          </a:p>
        </p:txBody>
      </p:sp>
      <p:sp>
        <p:nvSpPr>
          <p:cNvPr id="27" name="TextBox 26"/>
          <p:cNvSpPr txBox="1"/>
          <p:nvPr/>
        </p:nvSpPr>
        <p:spPr>
          <a:xfrm>
            <a:off x="8229600" y="4821428"/>
            <a:ext cx="457200" cy="274320"/>
          </a:xfrm>
          <a:prstGeom prst="rect">
            <a:avLst/>
          </a:prstGeom>
          <a:noFill/>
        </p:spPr>
        <p:txBody>
          <a:bodyPr wrap="square"/>
          <a:lstStyle/>
          <a:p>
            <a:pPr algn="r">
              <a:lnSpc>
                <a:spcPct val="135000"/>
              </a:lnSpc>
              <a:spcBef>
                <a:spcPts val="0"/>
              </a:spcBef>
              <a:spcAft>
                <a:spcPts val="0"/>
              </a:spcAft>
            </a:pPr>
            <a:r>
              <a:rPr sz="900" b="1">
                <a:solidFill>
                  <a:srgbClr val="94A3B8"/>
                </a:solidFill>
                <a:latin typeface="Calibri"/>
              </a:rPr>
              <a:t>10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43500"/>
          </a:xfrm>
          <a:prstGeom prst="rect">
            <a:avLst/>
          </a:prstGeom>
          <a:solidFill>
            <a:srgbClr val="1E29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37160"/>
            <a:ext cx="3657600" cy="411480"/>
          </a:xfrm>
          <a:prstGeom prst="rect">
            <a:avLst/>
          </a:prstGeom>
          <a:noFill/>
        </p:spPr>
        <p:txBody>
          <a:bodyPr wrap="square"/>
          <a:lstStyle/>
          <a:p>
            <a:pPr algn="l">
              <a:lnSpc>
                <a:spcPct val="135000"/>
              </a:lnSpc>
              <a:spcBef>
                <a:spcPts val="0"/>
              </a:spcBef>
              <a:spcAft>
                <a:spcPts val="0"/>
              </a:spcAft>
            </a:pPr>
            <a:r>
              <a:rPr sz="1300" b="1">
                <a:solidFill>
                  <a:srgbClr val="FFFFFF"/>
                </a:solidFill>
                <a:latin typeface="Calibri"/>
              </a:rPr>
              <a:t>Next Step</a:t>
            </a:r>
          </a:p>
        </p:txBody>
      </p:sp>
      <p:sp>
        <p:nvSpPr>
          <p:cNvPr id="4" name="TextBox 3"/>
          <p:cNvSpPr txBox="1"/>
          <p:nvPr/>
        </p:nvSpPr>
        <p:spPr>
          <a:xfrm>
            <a:off x="457200" y="777240"/>
            <a:ext cx="7315200" cy="457200"/>
          </a:xfrm>
          <a:prstGeom prst="rect">
            <a:avLst/>
          </a:prstGeom>
          <a:noFill/>
        </p:spPr>
        <p:txBody>
          <a:bodyPr wrap="square"/>
          <a:lstStyle/>
          <a:p>
            <a:pPr algn="l">
              <a:lnSpc>
                <a:spcPct val="135000"/>
              </a:lnSpc>
              <a:spcBef>
                <a:spcPts val="0"/>
              </a:spcBef>
              <a:spcAft>
                <a:spcPts val="0"/>
              </a:spcAft>
            </a:pPr>
            <a:r>
              <a:rPr sz="2000" b="1">
                <a:solidFill>
                  <a:srgbClr val="FFFFFF"/>
                </a:solidFill>
                <a:latin typeface="Calibri"/>
              </a:rPr>
              <a:t>Proposed Timeline</a:t>
            </a:r>
          </a:p>
        </p:txBody>
      </p:sp>
      <p:sp>
        <p:nvSpPr>
          <p:cNvPr id="5" name="Oval 4"/>
          <p:cNvSpPr/>
          <p:nvPr/>
        </p:nvSpPr>
        <p:spPr>
          <a:xfrm>
            <a:off x="731520" y="1554480"/>
            <a:ext cx="384048" cy="384048"/>
          </a:xfrm>
          <a:prstGeom prst="ellipse">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31520" y="1554480"/>
            <a:ext cx="384048" cy="384048"/>
          </a:xfrm>
          <a:prstGeom prst="rect">
            <a:avLst/>
          </a:prstGeom>
          <a:noFill/>
        </p:spPr>
        <p:txBody>
          <a:bodyPr wrap="square" anchor="ctr"/>
          <a:lstStyle/>
          <a:p>
            <a:pPr algn="ctr">
              <a:lnSpc>
                <a:spcPct val="135000"/>
              </a:lnSpc>
              <a:spcBef>
                <a:spcPts val="0"/>
              </a:spcBef>
              <a:spcAft>
                <a:spcPts val="0"/>
              </a:spcAft>
            </a:pPr>
            <a:r>
              <a:rPr sz="1000" b="1">
                <a:solidFill>
                  <a:srgbClr val="FFFFFF"/>
                </a:solidFill>
                <a:latin typeface="Calibri"/>
              </a:rPr>
              <a:t>01</a:t>
            </a:r>
          </a:p>
        </p:txBody>
      </p:sp>
      <p:sp>
        <p:nvSpPr>
          <p:cNvPr id="7" name="TextBox 6"/>
          <p:cNvSpPr txBox="1"/>
          <p:nvPr/>
        </p:nvSpPr>
        <p:spPr>
          <a:xfrm>
            <a:off x="1280160" y="1517904"/>
            <a:ext cx="3657600" cy="274320"/>
          </a:xfrm>
          <a:prstGeom prst="rect">
            <a:avLst/>
          </a:prstGeom>
          <a:noFill/>
        </p:spPr>
        <p:txBody>
          <a:bodyPr wrap="square"/>
          <a:lstStyle/>
          <a:p>
            <a:pPr algn="l">
              <a:lnSpc>
                <a:spcPct val="135000"/>
              </a:lnSpc>
              <a:spcBef>
                <a:spcPts val="0"/>
              </a:spcBef>
              <a:spcAft>
                <a:spcPts val="0"/>
              </a:spcAft>
            </a:pPr>
            <a:r>
              <a:rPr sz="1200" b="1">
                <a:solidFill>
                  <a:srgbClr val="FFFFFF"/>
                </a:solidFill>
                <a:latin typeface="Calibri"/>
              </a:rPr>
              <a:t>Initial Meeting (30 min)</a:t>
            </a:r>
          </a:p>
        </p:txBody>
      </p:sp>
      <p:sp>
        <p:nvSpPr>
          <p:cNvPr id="8" name="TextBox 7"/>
          <p:cNvSpPr txBox="1"/>
          <p:nvPr/>
        </p:nvSpPr>
        <p:spPr>
          <a:xfrm>
            <a:off x="1280160" y="1773936"/>
            <a:ext cx="6400800" cy="237744"/>
          </a:xfrm>
          <a:prstGeom prst="rect">
            <a:avLst/>
          </a:prstGeom>
          <a:noFill/>
        </p:spPr>
        <p:txBody>
          <a:bodyPr wrap="square"/>
          <a:lstStyle/>
          <a:p>
            <a:pPr algn="l">
              <a:lnSpc>
                <a:spcPct val="135000"/>
              </a:lnSpc>
              <a:spcBef>
                <a:spcPts val="0"/>
              </a:spcBef>
              <a:spcAft>
                <a:spcPts val="0"/>
              </a:spcAft>
            </a:pPr>
            <a:r>
              <a:rPr sz="1000" b="0">
                <a:solidFill>
                  <a:srgbClr val="BBBBCC"/>
                </a:solidFill>
                <a:latin typeface="Calibri"/>
              </a:rPr>
              <a:t>Share your client landscape and current challenges</a:t>
            </a:r>
          </a:p>
        </p:txBody>
      </p:sp>
      <p:sp>
        <p:nvSpPr>
          <p:cNvPr id="9" name="Oval 8"/>
          <p:cNvSpPr/>
          <p:nvPr/>
        </p:nvSpPr>
        <p:spPr>
          <a:xfrm>
            <a:off x="731520" y="2212848"/>
            <a:ext cx="384048" cy="384048"/>
          </a:xfrm>
          <a:prstGeom prst="ellipse">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31520" y="2212848"/>
            <a:ext cx="384048" cy="384048"/>
          </a:xfrm>
          <a:prstGeom prst="rect">
            <a:avLst/>
          </a:prstGeom>
          <a:noFill/>
        </p:spPr>
        <p:txBody>
          <a:bodyPr wrap="square" anchor="ctr"/>
          <a:lstStyle/>
          <a:p>
            <a:pPr algn="ctr">
              <a:lnSpc>
                <a:spcPct val="135000"/>
              </a:lnSpc>
              <a:spcBef>
                <a:spcPts val="0"/>
              </a:spcBef>
              <a:spcAft>
                <a:spcPts val="0"/>
              </a:spcAft>
            </a:pPr>
            <a:r>
              <a:rPr sz="1000" b="1">
                <a:solidFill>
                  <a:srgbClr val="FFFFFF"/>
                </a:solidFill>
                <a:latin typeface="Calibri"/>
              </a:rPr>
              <a:t>02</a:t>
            </a:r>
          </a:p>
        </p:txBody>
      </p:sp>
      <p:sp>
        <p:nvSpPr>
          <p:cNvPr id="11" name="TextBox 10"/>
          <p:cNvSpPr txBox="1"/>
          <p:nvPr/>
        </p:nvSpPr>
        <p:spPr>
          <a:xfrm>
            <a:off x="1280160" y="2176272"/>
            <a:ext cx="3657600" cy="274320"/>
          </a:xfrm>
          <a:prstGeom prst="rect">
            <a:avLst/>
          </a:prstGeom>
          <a:noFill/>
        </p:spPr>
        <p:txBody>
          <a:bodyPr wrap="square"/>
          <a:lstStyle/>
          <a:p>
            <a:pPr algn="l">
              <a:lnSpc>
                <a:spcPct val="135000"/>
              </a:lnSpc>
              <a:spcBef>
                <a:spcPts val="0"/>
              </a:spcBef>
              <a:spcAft>
                <a:spcPts val="0"/>
              </a:spcAft>
            </a:pPr>
            <a:r>
              <a:rPr sz="1200" b="1">
                <a:solidFill>
                  <a:srgbClr val="FFFFFF"/>
                </a:solidFill>
                <a:latin typeface="Calibri"/>
              </a:rPr>
              <a:t>Use Case Selection</a:t>
            </a:r>
          </a:p>
        </p:txBody>
      </p:sp>
      <p:sp>
        <p:nvSpPr>
          <p:cNvPr id="12" name="TextBox 11"/>
          <p:cNvSpPr txBox="1"/>
          <p:nvPr/>
        </p:nvSpPr>
        <p:spPr>
          <a:xfrm>
            <a:off x="1280160" y="2432304"/>
            <a:ext cx="6400800" cy="237744"/>
          </a:xfrm>
          <a:prstGeom prst="rect">
            <a:avLst/>
          </a:prstGeom>
          <a:noFill/>
        </p:spPr>
        <p:txBody>
          <a:bodyPr wrap="square"/>
          <a:lstStyle/>
          <a:p>
            <a:pPr algn="l">
              <a:lnSpc>
                <a:spcPct val="135000"/>
              </a:lnSpc>
              <a:spcBef>
                <a:spcPts val="0"/>
              </a:spcBef>
              <a:spcAft>
                <a:spcPts val="0"/>
              </a:spcAft>
            </a:pPr>
            <a:r>
              <a:rPr sz="1000" b="0">
                <a:solidFill>
                  <a:srgbClr val="BBBBCC"/>
                </a:solidFill>
                <a:latin typeface="Calibri"/>
              </a:rPr>
              <a:t>Identify high-affinity sectors from your portfolio</a:t>
            </a:r>
          </a:p>
        </p:txBody>
      </p:sp>
      <p:sp>
        <p:nvSpPr>
          <p:cNvPr id="13" name="Oval 12"/>
          <p:cNvSpPr/>
          <p:nvPr/>
        </p:nvSpPr>
        <p:spPr>
          <a:xfrm>
            <a:off x="731520" y="2871216"/>
            <a:ext cx="384048" cy="384048"/>
          </a:xfrm>
          <a:prstGeom prst="ellipse">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31520" y="2871216"/>
            <a:ext cx="384048" cy="384048"/>
          </a:xfrm>
          <a:prstGeom prst="rect">
            <a:avLst/>
          </a:prstGeom>
          <a:noFill/>
        </p:spPr>
        <p:txBody>
          <a:bodyPr wrap="square" anchor="ctr"/>
          <a:lstStyle/>
          <a:p>
            <a:pPr algn="ctr">
              <a:lnSpc>
                <a:spcPct val="135000"/>
              </a:lnSpc>
              <a:spcBef>
                <a:spcPts val="0"/>
              </a:spcBef>
              <a:spcAft>
                <a:spcPts val="0"/>
              </a:spcAft>
            </a:pPr>
            <a:r>
              <a:rPr sz="1000" b="1">
                <a:solidFill>
                  <a:srgbClr val="FFFFFF"/>
                </a:solidFill>
                <a:latin typeface="Calibri"/>
              </a:rPr>
              <a:t>03</a:t>
            </a:r>
          </a:p>
        </p:txBody>
      </p:sp>
      <p:sp>
        <p:nvSpPr>
          <p:cNvPr id="15" name="TextBox 14"/>
          <p:cNvSpPr txBox="1"/>
          <p:nvPr/>
        </p:nvSpPr>
        <p:spPr>
          <a:xfrm>
            <a:off x="1280160" y="2834640"/>
            <a:ext cx="3657600" cy="274320"/>
          </a:xfrm>
          <a:prstGeom prst="rect">
            <a:avLst/>
          </a:prstGeom>
          <a:noFill/>
        </p:spPr>
        <p:txBody>
          <a:bodyPr wrap="square"/>
          <a:lstStyle/>
          <a:p>
            <a:pPr algn="l">
              <a:lnSpc>
                <a:spcPct val="135000"/>
              </a:lnSpc>
              <a:spcBef>
                <a:spcPts val="0"/>
              </a:spcBef>
              <a:spcAft>
                <a:spcPts val="0"/>
              </a:spcAft>
            </a:pPr>
            <a:r>
              <a:rPr sz="1200" b="1">
                <a:solidFill>
                  <a:srgbClr val="FFFFFF"/>
                </a:solidFill>
                <a:latin typeface="Calibri"/>
              </a:rPr>
              <a:t>Partnership Design</a:t>
            </a:r>
          </a:p>
        </p:txBody>
      </p:sp>
      <p:sp>
        <p:nvSpPr>
          <p:cNvPr id="16" name="TextBox 15"/>
          <p:cNvSpPr txBox="1"/>
          <p:nvPr/>
        </p:nvSpPr>
        <p:spPr>
          <a:xfrm>
            <a:off x="1280160" y="3090672"/>
            <a:ext cx="6400800" cy="237744"/>
          </a:xfrm>
          <a:prstGeom prst="rect">
            <a:avLst/>
          </a:prstGeom>
          <a:noFill/>
        </p:spPr>
        <p:txBody>
          <a:bodyPr wrap="square"/>
          <a:lstStyle/>
          <a:p>
            <a:pPr algn="l">
              <a:lnSpc>
                <a:spcPct val="135000"/>
              </a:lnSpc>
              <a:spcBef>
                <a:spcPts val="0"/>
              </a:spcBef>
              <a:spcAft>
                <a:spcPts val="0"/>
              </a:spcAft>
            </a:pPr>
            <a:r>
              <a:rPr sz="1000" b="0">
                <a:solidFill>
                  <a:srgbClr val="BBBBCC"/>
                </a:solidFill>
                <a:latin typeface="Calibri"/>
              </a:rPr>
              <a:t>Select model, define scope and terms</a:t>
            </a:r>
          </a:p>
        </p:txBody>
      </p:sp>
      <p:sp>
        <p:nvSpPr>
          <p:cNvPr id="17" name="Oval 16"/>
          <p:cNvSpPr/>
          <p:nvPr/>
        </p:nvSpPr>
        <p:spPr>
          <a:xfrm>
            <a:off x="731520" y="3529584"/>
            <a:ext cx="384048" cy="384048"/>
          </a:xfrm>
          <a:prstGeom prst="ellipse">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31520" y="3529584"/>
            <a:ext cx="384048" cy="384048"/>
          </a:xfrm>
          <a:prstGeom prst="rect">
            <a:avLst/>
          </a:prstGeom>
          <a:noFill/>
        </p:spPr>
        <p:txBody>
          <a:bodyPr wrap="square" anchor="ctr"/>
          <a:lstStyle/>
          <a:p>
            <a:pPr algn="ctr">
              <a:lnSpc>
                <a:spcPct val="135000"/>
              </a:lnSpc>
              <a:spcBef>
                <a:spcPts val="0"/>
              </a:spcBef>
              <a:spcAft>
                <a:spcPts val="0"/>
              </a:spcAft>
            </a:pPr>
            <a:r>
              <a:rPr sz="1000" b="1">
                <a:solidFill>
                  <a:srgbClr val="FFFFFF"/>
                </a:solidFill>
                <a:latin typeface="Calibri"/>
              </a:rPr>
              <a:t>04</a:t>
            </a:r>
          </a:p>
        </p:txBody>
      </p:sp>
      <p:sp>
        <p:nvSpPr>
          <p:cNvPr id="19" name="TextBox 18"/>
          <p:cNvSpPr txBox="1"/>
          <p:nvPr/>
        </p:nvSpPr>
        <p:spPr>
          <a:xfrm>
            <a:off x="1280160" y="3493008"/>
            <a:ext cx="3657600" cy="274320"/>
          </a:xfrm>
          <a:prstGeom prst="rect">
            <a:avLst/>
          </a:prstGeom>
          <a:noFill/>
        </p:spPr>
        <p:txBody>
          <a:bodyPr wrap="square"/>
          <a:lstStyle/>
          <a:p>
            <a:pPr algn="l">
              <a:lnSpc>
                <a:spcPct val="135000"/>
              </a:lnSpc>
              <a:spcBef>
                <a:spcPts val="0"/>
              </a:spcBef>
              <a:spcAft>
                <a:spcPts val="0"/>
              </a:spcAft>
            </a:pPr>
            <a:r>
              <a:rPr sz="1200" b="1">
                <a:solidFill>
                  <a:srgbClr val="FFFFFF"/>
                </a:solidFill>
                <a:latin typeface="Calibri"/>
              </a:rPr>
              <a:t>Pilot Engagement</a:t>
            </a:r>
          </a:p>
        </p:txBody>
      </p:sp>
      <p:sp>
        <p:nvSpPr>
          <p:cNvPr id="20" name="TextBox 19"/>
          <p:cNvSpPr txBox="1"/>
          <p:nvPr/>
        </p:nvSpPr>
        <p:spPr>
          <a:xfrm>
            <a:off x="1280160" y="3749040"/>
            <a:ext cx="6400800" cy="237744"/>
          </a:xfrm>
          <a:prstGeom prst="rect">
            <a:avLst/>
          </a:prstGeom>
          <a:noFill/>
        </p:spPr>
        <p:txBody>
          <a:bodyPr wrap="square"/>
          <a:lstStyle/>
          <a:p>
            <a:pPr algn="l">
              <a:lnSpc>
                <a:spcPct val="135000"/>
              </a:lnSpc>
              <a:spcBef>
                <a:spcPts val="0"/>
              </a:spcBef>
              <a:spcAft>
                <a:spcPts val="0"/>
              </a:spcAft>
            </a:pPr>
            <a:r>
              <a:rPr sz="1000" b="0">
                <a:solidFill>
                  <a:srgbClr val="BBBBCC"/>
                </a:solidFill>
                <a:latin typeface="Calibri"/>
              </a:rPr>
              <a:t>Prove value with 1–2 client engagements</a:t>
            </a:r>
          </a:p>
        </p:txBody>
      </p:sp>
      <p:sp>
        <p:nvSpPr>
          <p:cNvPr id="21" name="TextBox 20"/>
          <p:cNvSpPr txBox="1"/>
          <p:nvPr/>
        </p:nvSpPr>
        <p:spPr>
          <a:xfrm>
            <a:off x="731520" y="4229100"/>
            <a:ext cx="7315200" cy="274320"/>
          </a:xfrm>
          <a:prstGeom prst="rect">
            <a:avLst/>
          </a:prstGeom>
          <a:noFill/>
        </p:spPr>
        <p:txBody>
          <a:bodyPr wrap="square"/>
          <a:lstStyle/>
          <a:p>
            <a:pPr algn="l">
              <a:lnSpc>
                <a:spcPct val="135000"/>
              </a:lnSpc>
              <a:spcBef>
                <a:spcPts val="0"/>
              </a:spcBef>
              <a:spcAft>
                <a:spcPts val="0"/>
              </a:spcAft>
            </a:pPr>
            <a:r>
              <a:rPr sz="1000" b="0">
                <a:solidFill>
                  <a:srgbClr val="94A3B8"/>
                </a:solidFill>
                <a:latin typeface="Calibri"/>
              </a:rPr>
              <a:t>Takuya Sato — Founder, TokiStorage</a:t>
            </a:r>
          </a:p>
        </p:txBody>
      </p:sp>
      <p:sp>
        <p:nvSpPr>
          <p:cNvPr id="22" name="Rectangle 21"/>
          <p:cNvSpPr/>
          <p:nvPr/>
        </p:nvSpPr>
        <p:spPr>
          <a:xfrm>
            <a:off x="0" y="4613148"/>
            <a:ext cx="9144000" cy="6350"/>
          </a:xfrm>
          <a:prstGeom prst="rect">
            <a:avLst/>
          </a:prstGeom>
          <a:solidFill>
            <a:srgbClr val="33445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457200" y="4640580"/>
            <a:ext cx="3657600" cy="320040"/>
          </a:xfrm>
          <a:prstGeom prst="rect">
            <a:avLst/>
          </a:prstGeom>
          <a:noFill/>
        </p:spPr>
        <p:txBody>
          <a:bodyPr wrap="square"/>
          <a:lstStyle/>
          <a:p>
            <a:pPr algn="l">
              <a:lnSpc>
                <a:spcPct val="135000"/>
              </a:lnSpc>
              <a:spcBef>
                <a:spcPts val="0"/>
              </a:spcBef>
              <a:spcAft>
                <a:spcPts val="0"/>
              </a:spcAft>
            </a:pPr>
            <a:r>
              <a:rPr sz="900" b="0">
                <a:solidFill>
                  <a:srgbClr val="94A3B8"/>
                </a:solidFill>
                <a:latin typeface="Calibri"/>
              </a:rPr>
              <a:t>TokiStorage</a:t>
            </a:r>
          </a:p>
        </p:txBody>
      </p:sp>
      <p:sp>
        <p:nvSpPr>
          <p:cNvPr id="24" name="TextBox 23"/>
          <p:cNvSpPr txBox="1"/>
          <p:nvPr/>
        </p:nvSpPr>
        <p:spPr>
          <a:xfrm>
            <a:off x="3657600" y="4640580"/>
            <a:ext cx="1828800" cy="320040"/>
          </a:xfrm>
          <a:prstGeom prst="rect">
            <a:avLst/>
          </a:prstGeom>
          <a:noFill/>
        </p:spPr>
        <p:txBody>
          <a:bodyPr wrap="square"/>
          <a:lstStyle/>
          <a:p>
            <a:pPr algn="ctr">
              <a:lnSpc>
                <a:spcPct val="135000"/>
              </a:lnSpc>
              <a:spcBef>
                <a:spcPts val="0"/>
              </a:spcBef>
              <a:spcAft>
                <a:spcPts val="0"/>
              </a:spcAft>
            </a:pPr>
            <a:r>
              <a:rPr sz="900" b="0">
                <a:solidFill>
                  <a:srgbClr val="94A3B8"/>
                </a:solidFill>
                <a:latin typeface="Calibri"/>
              </a:rPr>
              <a:t>Confidential</a:t>
            </a:r>
          </a:p>
        </p:txBody>
      </p:sp>
      <p:sp>
        <p:nvSpPr>
          <p:cNvPr id="25" name="TextBox 24"/>
          <p:cNvSpPr txBox="1"/>
          <p:nvPr/>
        </p:nvSpPr>
        <p:spPr>
          <a:xfrm>
            <a:off x="8229600" y="4640580"/>
            <a:ext cx="457200" cy="320040"/>
          </a:xfrm>
          <a:prstGeom prst="rect">
            <a:avLst/>
          </a:prstGeom>
          <a:noFill/>
        </p:spPr>
        <p:txBody>
          <a:bodyPr wrap="square"/>
          <a:lstStyle/>
          <a:p>
            <a:pPr algn="r">
              <a:lnSpc>
                <a:spcPct val="135000"/>
              </a:lnSpc>
              <a:spcBef>
                <a:spcPts val="0"/>
              </a:spcBef>
              <a:spcAft>
                <a:spcPts val="0"/>
              </a:spcAft>
            </a:pPr>
            <a:r>
              <a:rPr sz="900" b="1">
                <a:solidFill>
                  <a:srgbClr val="94A3B8"/>
                </a:solidFill>
                <a:latin typeface="Calibri"/>
              </a:rPr>
              <a:t>11</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43500"/>
          </a:xfrm>
          <a:prstGeom prst="rect">
            <a:avLst/>
          </a:prstGeom>
          <a:solidFill>
            <a:srgbClr val="F8FA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14400" y="914400"/>
            <a:ext cx="7315200" cy="411480"/>
          </a:xfrm>
          <a:prstGeom prst="rect">
            <a:avLst/>
          </a:prstGeom>
          <a:noFill/>
        </p:spPr>
        <p:txBody>
          <a:bodyPr wrap="square"/>
          <a:lstStyle/>
          <a:p>
            <a:pPr algn="l">
              <a:lnSpc>
                <a:spcPct val="135000"/>
              </a:lnSpc>
              <a:spcBef>
                <a:spcPts val="0"/>
              </a:spcBef>
              <a:spcAft>
                <a:spcPts val="0"/>
              </a:spcAft>
            </a:pPr>
            <a:r>
              <a:rPr sz="1400" b="1">
                <a:solidFill>
                  <a:srgbClr val="94A3B8"/>
                </a:solidFill>
                <a:latin typeface="Calibri"/>
              </a:rPr>
              <a:t>Confidential / Disclaimer</a:t>
            </a:r>
          </a:p>
        </p:txBody>
      </p:sp>
      <p:sp>
        <p:nvSpPr>
          <p:cNvPr id="4" name="Rectangle 3"/>
          <p:cNvSpPr/>
          <p:nvPr/>
        </p:nvSpPr>
        <p:spPr>
          <a:xfrm>
            <a:off x="914400" y="1371600"/>
            <a:ext cx="7315200" cy="6350"/>
          </a:xfrm>
          <a:prstGeom prst="rect">
            <a:avLst/>
          </a:prstGeom>
          <a:solidFill>
            <a:srgbClr val="E2E8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1554480"/>
            <a:ext cx="7315200" cy="2560320"/>
          </a:xfrm>
          <a:prstGeom prst="rect">
            <a:avLst/>
          </a:prstGeom>
          <a:noFill/>
        </p:spPr>
        <p:txBody>
          <a:bodyPr wrap="square"/>
          <a:lstStyle/>
          <a:p>
            <a:pPr algn="l">
              <a:lnSpc>
                <a:spcPct val="135000"/>
              </a:lnSpc>
              <a:spcBef>
                <a:spcPts val="0"/>
              </a:spcBef>
              <a:spcAft>
                <a:spcPts val="0"/>
              </a:spcAft>
            </a:pPr>
            <a:r>
              <a:rPr sz="900" b="0">
                <a:solidFill>
                  <a:srgbClr val="475569"/>
                </a:solidFill>
                <a:latin typeface="Calibri"/>
              </a:rPr>
              <a:t>This document has been prepared by TokiStorage (Takuya Sato) solely for the purpose of evaluating a potential partnership.
The information contained herein reflects current views and plans and does not constitute a guarantee of accuracy, completeness, or future outcomes.
This document is provided for informational purposes only and does not constitute legal, investment, or other professional advice.
No part of this document may be disclosed, reproduced, or distributed to any third party without prior written consent.</a:t>
            </a:r>
          </a:p>
        </p:txBody>
      </p:sp>
      <p:sp>
        <p:nvSpPr>
          <p:cNvPr id="6" name="TextBox 5"/>
          <p:cNvSpPr txBox="1"/>
          <p:nvPr/>
        </p:nvSpPr>
        <p:spPr>
          <a:xfrm>
            <a:off x="914400" y="4046220"/>
            <a:ext cx="7315200" cy="274320"/>
          </a:xfrm>
          <a:prstGeom prst="rect">
            <a:avLst/>
          </a:prstGeom>
          <a:noFill/>
        </p:spPr>
        <p:txBody>
          <a:bodyPr wrap="square"/>
          <a:lstStyle/>
          <a:p>
            <a:pPr algn="l">
              <a:lnSpc>
                <a:spcPct val="135000"/>
              </a:lnSpc>
              <a:spcBef>
                <a:spcPts val="0"/>
              </a:spcBef>
              <a:spcAft>
                <a:spcPts val="0"/>
              </a:spcAft>
            </a:pPr>
            <a:r>
              <a:rPr sz="800" b="0">
                <a:solidFill>
                  <a:srgbClr val="94A3B8"/>
                </a:solidFill>
                <a:latin typeface="Calibri"/>
              </a:rPr>
              <a:t>© 2026 TokiStorage / Takuya Sato. All rights reserved.</a:t>
            </a:r>
          </a:p>
        </p:txBody>
      </p:sp>
      <p:sp>
        <p:nvSpPr>
          <p:cNvPr id="7" name="Rectangle 6"/>
          <p:cNvSpPr/>
          <p:nvPr/>
        </p:nvSpPr>
        <p:spPr>
          <a:xfrm>
            <a:off x="0" y="4796028"/>
            <a:ext cx="9144000" cy="6350"/>
          </a:xfrm>
          <a:prstGeom prst="rect">
            <a:avLst/>
          </a:prstGeom>
          <a:solidFill>
            <a:srgbClr val="E2E8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57200" y="4821428"/>
            <a:ext cx="3657600" cy="274320"/>
          </a:xfrm>
          <a:prstGeom prst="rect">
            <a:avLst/>
          </a:prstGeom>
          <a:noFill/>
        </p:spPr>
        <p:txBody>
          <a:bodyPr wrap="square"/>
          <a:lstStyle/>
          <a:p>
            <a:pPr algn="l">
              <a:lnSpc>
                <a:spcPct val="135000"/>
              </a:lnSpc>
              <a:spcBef>
                <a:spcPts val="0"/>
              </a:spcBef>
              <a:spcAft>
                <a:spcPts val="0"/>
              </a:spcAft>
            </a:pPr>
            <a:r>
              <a:rPr sz="900" b="0">
                <a:solidFill>
                  <a:srgbClr val="94A3B8"/>
                </a:solidFill>
                <a:latin typeface="Calibri"/>
              </a:rPr>
              <a:t>TokiStorage</a:t>
            </a:r>
          </a:p>
        </p:txBody>
      </p:sp>
      <p:sp>
        <p:nvSpPr>
          <p:cNvPr id="9" name="TextBox 8"/>
          <p:cNvSpPr txBox="1"/>
          <p:nvPr/>
        </p:nvSpPr>
        <p:spPr>
          <a:xfrm>
            <a:off x="3657600" y="4821428"/>
            <a:ext cx="1828800" cy="274320"/>
          </a:xfrm>
          <a:prstGeom prst="rect">
            <a:avLst/>
          </a:prstGeom>
          <a:noFill/>
        </p:spPr>
        <p:txBody>
          <a:bodyPr wrap="square"/>
          <a:lstStyle/>
          <a:p>
            <a:pPr algn="ctr">
              <a:lnSpc>
                <a:spcPct val="135000"/>
              </a:lnSpc>
              <a:spcBef>
                <a:spcPts val="0"/>
              </a:spcBef>
              <a:spcAft>
                <a:spcPts val="0"/>
              </a:spcAft>
            </a:pPr>
            <a:r>
              <a:rPr sz="900" b="0">
                <a:solidFill>
                  <a:srgbClr val="94A3B8"/>
                </a:solidFill>
                <a:latin typeface="Calibri"/>
              </a:rPr>
              <a:t>Confidential</a:t>
            </a:r>
          </a:p>
        </p:txBody>
      </p:sp>
      <p:sp>
        <p:nvSpPr>
          <p:cNvPr id="10" name="TextBox 9"/>
          <p:cNvSpPr txBox="1"/>
          <p:nvPr/>
        </p:nvSpPr>
        <p:spPr>
          <a:xfrm>
            <a:off x="8229600" y="4821428"/>
            <a:ext cx="457200" cy="274320"/>
          </a:xfrm>
          <a:prstGeom prst="rect">
            <a:avLst/>
          </a:prstGeom>
          <a:noFill/>
        </p:spPr>
        <p:txBody>
          <a:bodyPr wrap="square"/>
          <a:lstStyle/>
          <a:p>
            <a:pPr algn="r">
              <a:lnSpc>
                <a:spcPct val="135000"/>
              </a:lnSpc>
              <a:spcBef>
                <a:spcPts val="0"/>
              </a:spcBef>
              <a:spcAft>
                <a:spcPts val="0"/>
              </a:spcAft>
            </a:pPr>
            <a:r>
              <a:rPr sz="900" b="1">
                <a:solidFill>
                  <a:srgbClr val="94A3B8"/>
                </a:solidFill>
                <a:latin typeface="Calibri"/>
              </a:rPr>
              <a:t>12</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effectStyle>
        <a:effectStyle>
          <a:effectLst/>
        </a:effectStyle>
        <a:effectStyle>
          <a:effectLst/>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