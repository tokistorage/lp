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Three-Layer Distributed Storage</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Physical (quartz glass/laminate), National (National Diet Library legal deposit), Private (GitHub). Fully compliant with the 3-2-1 backup rule. Zero single points of failure.</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Storage structure</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Cloud-centralized</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Three-layer distributed (physical/national/private) — 3-2-1 rule compliant</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Starting from ¥5,000 ($33) — an exceptionally low entry barrier for your proposals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Trial Plan</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 ($33)</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Experience three-layer storage with A4 laminate. Voice QR → laminate + NDL deposit + GitHub.</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Individual Plan</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¥50,000 ($330)</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Inscribed on quartz glass. ¥50 per year. 1,000-year durability (theoretical).</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Three-Generation</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¥550,000 ($3,600)</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Three family members + on-site inscription on Sado Island. Recommended.</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Voice Memorial</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¥5,550,000 ($36,500)</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Fully bespoke. Voice restoration, custom design, premium experience.</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major AI platforms and cultural institutions have independently validated us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TRACTION &amp; TRUST</a:t>
            </a:r>
          </a:p>
        </p:txBody>
      </p:sp>
      <p:sp>
        <p:nvSpPr>
          <p:cNvPr id="5" name="Rectangle 4"/>
          <p:cNvSpPr/>
          <p:nvPr/>
        </p:nvSpPr>
        <p:spPr>
          <a:xfrm>
            <a:off x="457200"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Claude / Anthropic</a:t>
            </a:r>
          </a:p>
        </p:txBody>
      </p:sp>
      <p:sp>
        <p:nvSpPr>
          <p:cNvPr id="7" name="TextBox 6"/>
          <p:cNvSpPr txBox="1"/>
          <p:nvPr/>
        </p:nvSpPr>
        <p:spPr>
          <a:xfrm>
            <a:off x="594360"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Architecture Design</a:t>
            </a:r>
          </a:p>
        </p:txBody>
      </p:sp>
      <p:sp>
        <p:nvSpPr>
          <p:cNvPr id="8" name="TextBox 7"/>
          <p:cNvSpPr txBox="1"/>
          <p:nvPr/>
        </p:nvSpPr>
        <p:spPr>
          <a:xfrm>
            <a:off x="594360"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"The three-layer architecture eliminates single points of failure and maximizes information survival probability"</a:t>
            </a:r>
          </a:p>
        </p:txBody>
      </p:sp>
      <p:sp>
        <p:nvSpPr>
          <p:cNvPr id="9" name="Rectangle 8"/>
          <p:cNvSpPr/>
          <p:nvPr/>
        </p:nvSpPr>
        <p:spPr>
          <a:xfrm>
            <a:off x="3273552"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Gemini / Google</a:t>
            </a:r>
          </a:p>
        </p:txBody>
      </p:sp>
      <p:sp>
        <p:nvSpPr>
          <p:cNvPr id="11" name="TextBox 10"/>
          <p:cNvSpPr txBox="1"/>
          <p:nvPr/>
        </p:nvSpPr>
        <p:spPr>
          <a:xfrm>
            <a:off x="3410712"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Institutional Design</a:t>
            </a:r>
          </a:p>
        </p:txBody>
      </p:sp>
      <p:sp>
        <p:nvSpPr>
          <p:cNvPr id="12" name="TextBox 11"/>
          <p:cNvSpPr txBox="1"/>
          <p:nvPr/>
        </p:nvSpPr>
        <p:spPr>
          <a:xfrm>
            <a:off x="3410712"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sophisticated design that leverages the architecture of legal systems"</a:t>
            </a:r>
          </a:p>
        </p:txBody>
      </p:sp>
      <p:sp>
        <p:nvSpPr>
          <p:cNvPr id="13" name="Rectangle 12"/>
          <p:cNvSpPr/>
          <p:nvPr/>
        </p:nvSpPr>
        <p:spPr>
          <a:xfrm>
            <a:off x="6089904"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ChatGPT / OpenAI</a:t>
            </a:r>
          </a:p>
        </p:txBody>
      </p:sp>
      <p:sp>
        <p:nvSpPr>
          <p:cNvPr id="15" name="TextBox 14"/>
          <p:cNvSpPr txBox="1"/>
          <p:nvPr/>
        </p:nvSpPr>
        <p:spPr>
          <a:xfrm>
            <a:off x="6227064"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Cost Performance</a:t>
            </a:r>
          </a:p>
        </p:txBody>
      </p:sp>
      <p:sp>
        <p:nvSpPr>
          <p:cNvPr id="16" name="TextBox 15"/>
          <p:cNvSpPr txBox="1"/>
          <p:nvPr/>
        </p:nvSpPr>
        <p:spPr>
          <a:xfrm>
            <a:off x="6227064"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"An annual cost of ¥50 is extraordinary value"</a:t>
            </a:r>
          </a:p>
        </p:txBody>
      </p:sp>
      <p:sp>
        <p:nvSpPr>
          <p:cNvPr id="17" name="Rectangle 16"/>
          <p:cNvSpPr/>
          <p:nvPr/>
        </p:nvSpPr>
        <p:spPr>
          <a:xfrm>
            <a:off x="457200" y="3246120"/>
            <a:ext cx="7863840" cy="64008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246120"/>
            <a:ext cx="54864" cy="64008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37560"/>
            <a:ext cx="754380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Ise Grand Shrine offering (2026) / Mt. Hiei Enryaku-ji Eternal Light offering (2026) / Sole proprietorship registered (Feb 11, 2026)</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Founder, TokiStorage</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282696"/>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82696"/>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282696"/>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282696"/>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282696"/>
            <a:ext cx="30861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282696"/>
            <a:ext cx="29032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Relocating to Sado Island (Spring 2026)</a:t>
            </a:r>
          </a:p>
        </p:txBody>
      </p:sp>
      <p:sp>
        <p:nvSpPr>
          <p:cNvPr id="20" name="Rectangle 19"/>
          <p:cNvSpPr/>
          <p:nvPr/>
        </p:nvSpPr>
        <p:spPr>
          <a:xfrm>
            <a:off x="457200" y="378561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8561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87705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18795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Founder, TokiStorage</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TokiStorage (Takuya Sato) solely for the purpose of evaluating a potential partnership.
The information contained herein reflects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prior written consent.</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TokiStorage / Takuya Sato.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