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7" r:id="rId18"/>
    <p:sldId id="268" r:id="rId19"/>
    <p:sldId id="269" r:id="rId20"/>
    <p:sldId id="270" r:id="rId21"/>
    <p:sldId id="271" r:id="rId22"/>
    <p:sldId id="272" r:id="rId23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767328"/>
            <a:ext cx="9144000" cy="1371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kistorage-icon-512-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914400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40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9A962"/>
                </a:solidFill>
                <a:latin typeface="IPAPGothic"/>
              </a:defRPr>
            </a:pPr>
            <a:r>
              <a:t>Timeless Coach — Corporate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PAPGothic"/>
              </a:defRPr>
            </a:pPr>
            <a:r>
              <a:t>タイムレスコーチ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IPAPGothic"/>
              </a:defRPr>
            </a:pPr>
            <a:r>
              <a:t>企業・団体導入プログラム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IPAPGothic"/>
              </a:defRPr>
            </a:pPr>
            <a:r>
              <a:t>「未来の自分は、今のあなたに何を言いますか」</a:t>
            </a:r>
            <a:br/>
            <a:r>
              <a:t>この問いを、組織の研修として届ける。</a:t>
            </a:r>
            <a:br/>
            <a:r>
              <a:t>参加者全員がタイムレスコーチとして永続認定されます。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TokiStorage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645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従業員の「軸」が定まらない組織は、AIに代替される。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WHY THIS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3383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IPAPGothic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AIは業務を代替する。</a:t>
            </a:r>
            <a:br/>
            <a:r>
              <a:t>しかし「軸」は代替できない。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スキルの差はAIで縮まる。残るのは「自分は何を軸に判断するか」——AIが答えられない問いに向き合える人材だけが、代替不可能になる。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051560"/>
            <a:ext cx="2606040" cy="3383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143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IPAPGothic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46304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研修の効果は</a:t>
            </a:r>
            <a:br/>
            <a:r>
              <a:t>「消える」から続かない。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22402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従来の研修で得た気づきは日常に戻れば薄れる。人が変わらないのは意志が弱いからではない。言葉が消えるからである。消えない形で刻まれた言葉だけが軸として機能し続ける。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051560"/>
            <a:ext cx="2606040" cy="3383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1430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3EB"/>
                </a:solidFill>
                <a:latin typeface="IPAPGothic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46304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研修で終わらない。</a:t>
            </a:r>
            <a:br/>
            <a:r>
              <a:t>参加者が「届ける側」になる。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240280"/>
            <a:ext cx="2331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通常の研修は「受けて終わり」。この研修は違う。参加者全員がタイムレスコーチとして永続認定され、自ら「問い」を届けられるようになる。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対話・言語化・永続化・認定──4つのフェーズで軸が定まる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PROGRAM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920240" cy="3383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IPAPGothic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IPAPGothic"/>
              </a:defRPr>
            </a:pPr>
            <a:r>
              <a:t>未来の自分</a:t>
            </a:r>
            <a:br/>
            <a:r>
              <a:t>との対話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「未来の自分は、今のあなたに何を言いますか」——9領域の思想フレームワークを用いた対話ワークショップ。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51560"/>
            <a:ext cx="1920240" cy="3383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79" y="1143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IPAPGothic"/>
              </a:defRPr>
            </a:pPr>
            <a: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IPAPGothic"/>
              </a:defRPr>
            </a:pPr>
            <a:r>
              <a:t>軸の言語化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0116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対話から浮かんだ言葉を構造化し、「ブレない軸」として言語化。個人の軸と組織の軸が交差するポイントを発見。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051560"/>
            <a:ext cx="1920240" cy="3383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143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IPAPGothic"/>
              </a:defRPr>
            </a:pPr>
            <a: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IPAPGothic"/>
              </a:defRPr>
            </a:pPr>
            <a:r>
              <a:t>三層への</a:t>
            </a:r>
            <a:br/>
            <a:r>
              <a:t>永続化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0116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言語化された軸を三層分散保管（石英ガラス×国立国会図書館×GitHub）に格納。消えないから、軸になる。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59" y="1051560"/>
            <a:ext cx="1920240" cy="33832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11430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IPAPGothic"/>
              </a:defRPr>
            </a:pPr>
            <a: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14173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IPAPGothic"/>
              </a:defRPr>
            </a:pPr>
            <a:r>
              <a:t>タイムレス</a:t>
            </a:r>
            <a:br/>
            <a:r>
              <a:t>コーチ認定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0116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参加者全員を永続認定。認定証も三層に永続化。研修後も「問いを届ける人」として活動できます。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研修で終わらない。一生涯の資産を参加者に届ける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WHAT PARTICIPANTS 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1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思想フレームワーク体系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9領域70+エッセイへのアクセス。クライアントの人生のどんな文脈にも対応できる知的基盤。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051560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0712" y="118871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対話メソッド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1554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問いの立て方、沈黙の扱い方、軸の言語化への導き方。初回対話から完成までの全プロセス。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9904" y="1051560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18871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ブレない軸の永続化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7064" y="15544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三層分散保管に格納された、自分だけの軸と存在証明。消えないから、機能し続ける。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34639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97179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トキストレージ連携権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337559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コーチとしてクライアントの軸を三層保管に格納する権利。コーチ経由の発注・納品フロー。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2834639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0712" y="297179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永続認定証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0712" y="3337559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認定そのものが三層に永続化。石英ガラスに刻まれた認定証。更新費用なし。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9904" y="2834639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27064" y="297179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コーチ・コミュニティ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3337559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認定コーチ同士で対話事例・実践知を共有。孤独な実践ではなく、共に深め合う場。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組織と個人、両方に変容が起きる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EXPECTED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IPAPGothic"/>
              </a:defRPr>
            </a:pPr>
            <a:r>
              <a:t>組織にとって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従業員の「軸」が明確になり、判断の質が上がる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理念と個人の軸が接続し、エンゲージメントが深まる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永続的な行動変容につながる研修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認定コーチが外にも価値を届け、組織のブランドに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AIに代替されない「問いを立てる力」を実装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1051560"/>
            <a:ext cx="3931920" cy="3383280"/>
          </a:xfrm>
          <a:prstGeom prst="rect">
            <a:avLst/>
          </a:prstGeom>
          <a:solidFill>
            <a:srgbClr val="FD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2400E"/>
                </a:solidFill>
                <a:latin typeface="IPAPGothic"/>
              </a:defRPr>
            </a:pPr>
            <a:r>
              <a:t>個人にとって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「未来の自分の声」を聴き、自分だけの軸が見つかる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軸が三層に永続化され、日常の中で機能し続ける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514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タイムレスコーチ認定でキャリアの新しい選択肢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70+の思想エッセイ体系で9領域の知的基盤を得る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• コミュニティの中で学び続けられる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「軸」を必要としている、すべての組織へ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WHO THIS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IPAPGothic"/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630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経営者研修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経営幹部・次世代リーダーの「個人の軸」を言語化し、組織の理念と接続させたい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051560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IPAPGothic"/>
              </a:defRPr>
            </a:pPr>
            <a:r>
              <a:t>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4630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士業・コンサルファーム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18288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顧問先に「財産の継承」だけでなく「軸の継承」まで提供したい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9904" y="1051560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27064" y="1143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IPAPGothic"/>
              </a:defRPr>
            </a:pPr>
            <a:r>
              <a:t>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1463039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宗教法人・寺院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1828800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僧侶や職員が「問いを立てる人」として地域に価値を届ける力を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34639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9260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IPAPGothic"/>
              </a:defRPr>
            </a:pPr>
            <a: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教育機関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1187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教員が学生に「問いを立てる力」を伝え、軸を持つ人材を育成したい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73552" y="2834639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10712" y="29260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IPAPGothic"/>
              </a:defRPr>
            </a:pPr>
            <a:r>
              <a:t>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医療・福祉法人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0712" y="361187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スタッフが「なぜこの仕事をするのか」の軸を持ちバーンアウトを防ぐ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9904" y="2834639"/>
            <a:ext cx="260604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27064" y="292607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IPAPGothic"/>
              </a:defRPr>
            </a:pPr>
            <a:r>
              <a:t>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7064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自治体・公共団体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27064" y="3611879"/>
            <a:ext cx="2331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地域の精神・創設の志を言語化し、人の寿命を超えて永続化したい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お問い合わせから研修実施・認定までの流れ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PROGRAM FLOW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PAP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51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お問い合わせ・ヒアリング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051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組織の課題、研修の目的、参加人数、スケジュールをヒアリング。最適なプログラム構成をご提案します。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PAPGothi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導入担当者の体験対話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導入担当者が先にタイムレスコンサルティングを体験。研修の価値を体感した上で、組織への展開を設計します。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PAPGothi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研修実施（半日〜1日）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参加者全員が「未来の自分との対話」を体験。軸の言語化までをワークショップ形式で進めます。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291840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PAPGothi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三層永続化・認定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参加者の軸を三層に永続化。全員にタイムレスコーチ永続認定証を発行します。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023359"/>
            <a:ext cx="320040" cy="3200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IPAPGothic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9776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</a:defRPr>
            </a:pPr>
            <a:r>
              <a:t>フォローアップ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認定後のコミュニティ参加、活動サポート。組織全体の変容を継続的に見守ります。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人数・プログラム構成に応じた柔軟なお見積り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188720"/>
            <a:ext cx="640080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36576" cy="3200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28016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9A962"/>
                </a:solidFill>
                <a:latin typeface="IPAPGothic"/>
              </a:defRPr>
            </a:pPr>
            <a:r>
              <a:t>CORPORATE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IPAPGothic"/>
              </a:defRPr>
            </a:pPr>
            <a:r>
              <a:t>タイムレスコーチ 企業・団体導入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11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563EB"/>
                </a:solidFill>
                <a:latin typeface="IPAPGothic"/>
              </a:defRPr>
            </a:pPr>
            <a:r>
              <a:t>参加人数・プログラム構成に応じてお見積り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68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✓  参加者全員のタイムレスコーチ永続認定を含む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✓  思想フレームワーク体系・対話メソッドの提供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✓  参加者全員の軸の三層分散保管（石英ガラス×国立国会図書館×GitHub）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✓  コーチ・コミュニティへの永続参加権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66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✓  研修プログラムのカスタマイズ（半日〜複数日）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8404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✓  事前ヒアリング・事後フォローアップを含む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160520"/>
            <a:ext cx="594360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900" b="1">
                <a:solidFill>
                  <a:srgbClr val="475569"/>
                </a:solidFill>
                <a:latin typeface="IPAPGothic"/>
              </a:rPr>
              <a:t>参考価格帯（研修設計・ファシリテーション費用込み）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315968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1">
                <a:solidFill>
                  <a:srgbClr val="1E293B"/>
                </a:solidFill>
                <a:latin typeface="IPAPGothic"/>
              </a:rPr>
              <a:t>5名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315968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1E293B"/>
                </a:solidFill>
                <a:latin typeface="IPAPGothic"/>
              </a:rPr>
              <a:t>¥550,000〜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315968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94A3B8"/>
                </a:solidFill>
                <a:latin typeface="IPAPGothic"/>
              </a:rPr>
              <a:t>¥110,000/人相当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480559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1">
                <a:solidFill>
                  <a:srgbClr val="1E293B"/>
                </a:solidFill>
                <a:latin typeface="IPAPGothic"/>
              </a:rPr>
              <a:t>10名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480559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1E293B"/>
                </a:solidFill>
                <a:latin typeface="IPAPGothic"/>
              </a:rPr>
              <a:t>¥900,000〜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480559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94A3B8"/>
                </a:solidFill>
                <a:latin typeface="IPAPGothic"/>
              </a:rPr>
              <a:t>¥90,000/人相当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645152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1">
                <a:solidFill>
                  <a:srgbClr val="1E293B"/>
                </a:solidFill>
                <a:latin typeface="IPAPGothic"/>
              </a:rPr>
              <a:t>20名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645152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1E293B"/>
                </a:solidFill>
                <a:latin typeface="IPAPGothic"/>
              </a:rPr>
              <a:t>¥1,500,000〜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645152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94A3B8"/>
                </a:solidFill>
                <a:latin typeface="IPAPGothic"/>
              </a:rPr>
              <a:t>¥75,000/人相当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809744"/>
            <a:ext cx="10972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1">
                <a:solidFill>
                  <a:srgbClr val="1E293B"/>
                </a:solidFill>
                <a:latin typeface="IPAPGothic"/>
              </a:rPr>
              <a:t>50名〜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809744"/>
            <a:ext cx="1828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1E293B"/>
                </a:solidFill>
                <a:latin typeface="IPAPGothic"/>
              </a:rPr>
              <a:t>お問い合わせ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809744"/>
            <a:ext cx="2286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850" b="0">
                <a:solidFill>
                  <a:srgbClr val="94A3B8"/>
                </a:solidFill>
                <a:latin typeface="IPAPGothic"/>
              </a:rPr>
              <a:t>特別価格をご提案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</a:defRPr>
            </a:pPr>
            <a:r>
              <a:t>千年の視座で、あなたの組織の軸に向き合う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</a:defRPr>
            </a:pPr>
            <a:r>
              <a:t>YOUR FACILITATOR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IPAPGothic"/>
              </a:defRPr>
            </a:pPr>
            <a:r>
              <a:t>佐藤卓也 — TokiStorage 代表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</a:defRPr>
            </a:pPr>
            <a:r>
              <a:t>大手コンサルティングファームでの経験を経て、半導体製造装置のエンジニアリング20年超。タイムレスタウン新浦安（250世帯）の自治会長として「ゆりかごから墓場まで」のコミュニティ運営を経験。SoulCarrier活動で「記憶が消える恐怖」を目の当たりにし、TokiStorageを着想。マウイ・山中湖でのオフグリッド実証を経て、制度に依存しない千年設計の技術を完成。70以上の思想エッセイを執筆し、9つの知的領域から存在証明の意味を探究し続け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IPAPGothic"/>
              </a:defRPr>
            </a:pPr>
            <a:r>
              <a:t>元Big4ファーム    半導体エンジニアリング 20年+    自治会長（250世帯）    SoulCarrier主宰    70+思想エッセイ執筆    オフグリッド実証済み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83280"/>
            <a:ext cx="594360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5669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E293B"/>
                </a:solidFill>
                <a:latin typeface="IPAPGothic"/>
              </a:defRPr>
            </a:pPr>
            <a:r>
              <a:t>愛犬パールのお墓とともに、家族でパールハーバーを訪れました。平和を願う声を音声QRとして刻んだプレートを持って。そこで気がつきました——時を超えた願いは、愛や平和への想いに変容する。一人でも多くの方と分かち合いたい。</a:t>
            </a: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1828800" cy="2286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4800600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Timeless Coach — 企業・団体導入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44568"/>
            <a:ext cx="9144000" cy="457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A962"/>
                </a:solidFill>
                <a:latin typeface="IPAPGothic"/>
              </a:defRPr>
            </a:pPr>
            <a: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IPAPGothic"/>
              </a:defRPr>
            </a:pPr>
            <a:r>
              <a:t>まずは、お話しましょう。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84708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IPAPGothi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PAPGothic"/>
              </a:defRPr>
            </a:pPr>
            <a:r>
              <a:t>お問い合わせ・ヒアリング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288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PAPGothic"/>
              </a:defRPr>
            </a:pPr>
            <a:r>
              <a:t>組織の課題と研修の目的をお聞かせください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44144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IPAPGothi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PAPGothic"/>
              </a:defRPr>
            </a:pPr>
            <a:r>
              <a:t>導入担当者の体験対話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23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PAPGothic"/>
              </a:defRPr>
            </a:pPr>
            <a:r>
              <a:t>まず担当者がタイムレスコンサルティングを体験します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3580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IPAPGothi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PAPGothic"/>
              </a:defRPr>
            </a:pPr>
            <a:r>
              <a:t>プログラム設計・お見積り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017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PAPGothic"/>
              </a:defRPr>
            </a:pPr>
            <a:r>
              <a:t>人数・日数・カスタマイズ内容に応じたご提案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63016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IPAPGothic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IPAPGothic"/>
              </a:defRPr>
            </a:pPr>
            <a:r>
              <a:t>研修実施・認定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6118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PAPGothic"/>
              </a:defRPr>
            </a:pPr>
            <a:r>
              <a:t>参加者全員の軸を言語化し、三層に永続化。全員を認定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TokiStorage　佐藤卓也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45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4A3B8"/>
                </a:solidFill>
                <a:latin typeface="IPAPGothic"/>
              </a:defRPr>
            </a:pPr>
            <a:r>
              <a:t>Confidential / Disclaimer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IPAPGothic"/>
              </a:defRPr>
            </a:pPr>
            <a:r>
              <a:t>本資料は、TokiStorage（佐藤卓也）がサービスご検討のために作成した資料です。</a:t>
            </a:r>
            <a:br/>
            <a:br/>
            <a:r>
              <a:t>本資料に含まれる情報は、現時点における見解および計画に基づくものであり、その正確性、完全性、または将来の結果を保証するものではありません。</a:t>
            </a:r>
            <a:br/>
            <a:br/>
            <a:r>
              <a:t>本資料は情報提供を目的としており、法的助言、投資助言、その他いかなる専門的助言を構成するものでもありません。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© 2026 TokiStorage / 佐藤卓也. All rights reserved.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645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A962"/>
                </a:solidFill>
                <a:latin typeface="IPAPGothic"/>
              </a:defRPr>
            </a:pPr>
            <a:r>
              <a:t>TokiStorage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4645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</a:defRPr>
            </a:pPr>
            <a:r>
              <a:t>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  <a:ea typeface="IPAPGothic"/>
              </a:defRPr>
            </a:pPr>
            <a:r>
              <a:rPr sz="1200" b="1">
                <a:solidFill>
                  <a:srgbClr val="FFFFFF"/>
                </a:solidFill>
                <a:latin typeface="IPAPGothic"/>
              </a:rPr>
              <a:t>理念は額に飾るものではない。軸として永続化するものだ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  <a:ea typeface="IPAPGothic"/>
              </a:defRPr>
            </a:pPr>
            <a:r>
              <a:rPr sz="1000" b="1">
                <a:solidFill>
                  <a:srgbClr val="2563EB"/>
                </a:solidFill>
                <a:latin typeface="IPAPGothic"/>
              </a:rPr>
              <a:t>FOR: 経営者研修・次世代リーダー育成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この業界の課題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経営理念が社内に浸透しない。額縁の中の言葉は、日常の判断基準にならない。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次世代リーダーが「自分の軸」を持たないまま経営を引き継ぐ。意思決定がブレる。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従来の研修は効果が数ヶ月で消える。行動変容が定着しない。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このプログラムで実現すること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経営者自身の軸を言語化し、三層に永続化。消えないから、判断基準として機能し続ける。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幹部全員がコーチ認定され、「問い」で理念を伝えられるようになる。教えるのではなく、問う。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個人の軸と組織の理念が交差するポイントを発見。理念が「自分ごと」になる。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00600"/>
            <a:ext cx="9144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Coach — 企業・団体導入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1">
                <a:solidFill>
                  <a:srgbClr val="94A3B8"/>
                </a:solidFill>
                <a:latin typeface="IPAPGothic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  <a:ea typeface="IPAPGothic"/>
              </a:defRPr>
            </a:pPr>
            <a:r>
              <a:rPr sz="1200" b="1">
                <a:solidFill>
                  <a:srgbClr val="FFFFFF"/>
                </a:solidFill>
                <a:latin typeface="IPAPGothic"/>
              </a:rPr>
              <a:t>財産の継承だけでは、人は迷い続ける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  <a:ea typeface="IPAPGothic"/>
              </a:defRPr>
            </a:pPr>
            <a:r>
              <a:rPr sz="1000" b="1">
                <a:solidFill>
                  <a:srgbClr val="2563EB"/>
                </a:solidFill>
                <a:latin typeface="IPAPGothic"/>
              </a:rPr>
              <a:t>FOR: 士業・コンサルティングファーム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この業界の課題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顧問先への提供価値が「手続き・書類」に留まっている。AIで代替されるリスク。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事業承継で財産は引き継がれるが、創業者の「志」は引き継がれない。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他ファームとの差別化が価格競争に陥りやすい。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このプログラムで実現すること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顧問先に「軸の継承」という新しい価値を提供。財産＋志で完全な承継を実現。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事業承継に「創業の志の永続化」を組み込める。三層に刻まれた志は風化しない。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認定コーチとして唯一無二のサービスラインを構築。比較対象が消滅する。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00600"/>
            <a:ext cx="9144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Coach — 企業・団体導入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1">
                <a:solidFill>
                  <a:srgbClr val="94A3B8"/>
                </a:solidFill>
                <a:latin typeface="IPAPGothic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  <a:ea typeface="IPAPGothic"/>
              </a:defRPr>
            </a:pPr>
            <a:r>
              <a:rPr sz="1200" b="1">
                <a:solidFill>
                  <a:srgbClr val="FFFFFF"/>
                </a:solidFill>
                <a:latin typeface="IPAPGothic"/>
              </a:rPr>
              <a:t>教えを伝える方法は、千年前から変わっていない。変えよう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  <a:ea typeface="IPAPGothic"/>
              </a:defRPr>
            </a:pPr>
            <a:r>
              <a:rPr sz="1000" b="1">
                <a:solidFill>
                  <a:srgbClr val="2563EB"/>
                </a:solidFill>
                <a:latin typeface="IPAPGothic"/>
              </a:rPr>
              <a:t>FOR: 宗教法人・寺院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この業界の課題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檀家の減少、地域との接点の希薄化。寺院の存在意義が問われている。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教えの本質が儀式の形式に埋もれている。「なぜ」が伝わらない。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若い僧侶・職員の「なぜこの道を選んだか」が言語化されていない。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このプログラムで実現すること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僧侶が「問いを立てる人」として地域に価値を届ける。寺院が対話の場になる。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開祖・宗祖の志を三層に永続化。風化する石碑ではなく、千年残る形で。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寺院が「軸の永続化拠点」として再定義される。地域にとっての意味が変わる。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00600"/>
            <a:ext cx="9144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Coach — 企業・団体導入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1">
                <a:solidFill>
                  <a:srgbClr val="94A3B8"/>
                </a:solidFill>
                <a:latin typeface="IPAPGothic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  <a:ea typeface="IPAPGothic"/>
              </a:defRPr>
            </a:pPr>
            <a:r>
              <a:rPr sz="1200" b="1">
                <a:solidFill>
                  <a:srgbClr val="FFFFFF"/>
                </a:solidFill>
                <a:latin typeface="IPAPGothic"/>
              </a:rPr>
              <a:t>知識は検索できる時代。教育の本質は「軸を持つ人間」を育てること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  <a:ea typeface="IPAPGothic"/>
              </a:defRPr>
            </a:pPr>
            <a:r>
              <a:rPr sz="1000" b="1">
                <a:solidFill>
                  <a:srgbClr val="2563EB"/>
                </a:solidFill>
                <a:latin typeface="IPAPGothic"/>
              </a:rPr>
              <a:t>FOR: 教育機関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この業界の課題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AIが知識提供を代替し、教員の役割が根本から問われている。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学生が「自分の軸」を持てないまま社会に出ていく。キャリア迷子が増加。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キャリア教育が「職業選択」に留まり、「生き方の軸」に届いていない。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このプログラムで実現すること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教員自身が軸を言語化し、「問いを立てる力」を体得。AIにできない教育の核を掴む。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学生に「未来の自分との対話」を届けられるようになる。就活ではなく軸活。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建学の精神を三層に永続化。創立者の志が世代を超えて教育の原点を守る。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00600"/>
            <a:ext cx="9144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Coach — 企業・団体導入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1">
                <a:solidFill>
                  <a:srgbClr val="94A3B8"/>
                </a:solidFill>
                <a:latin typeface="IPAPGothic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  <a:ea typeface="IPAPGothic"/>
              </a:defRPr>
            </a:pPr>
            <a:r>
              <a:rPr sz="1200" b="1">
                <a:solidFill>
                  <a:srgbClr val="FFFFFF"/>
                </a:solidFill>
                <a:latin typeface="IPAPGothic"/>
              </a:rPr>
              <a:t>使命感だけでは、人は燃え尽きる。軸があれば、立ち続けられる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  <a:ea typeface="IPAPGothic"/>
              </a:defRPr>
            </a:pPr>
            <a:r>
              <a:rPr sz="1000" b="1">
                <a:solidFill>
                  <a:srgbClr val="2563EB"/>
                </a:solidFill>
                <a:latin typeface="IPAPGothic"/>
              </a:rPr>
              <a:t>FOR: 医療・福祉法人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この業界の課題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スタッフのバーンアウト率が高い。使命感に頼る構造が限界を迎えている。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「なぜこの仕事をするのか」が日常業務の忙しさに埋もれてしまう。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離職率が高く、組織の理念が人の入れ替わりとともに断絶する。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このプログラムで実現すること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スタッフ一人ひとりの「軸」を言語化。使命感を支える構造として永続化する。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三層永続化により「いつでも原点に戻れる」仕組みを構築。消えないから効く。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認定コーチが院内で「問い」の文化を継続的に維持。離職しても軸は残る。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00600"/>
            <a:ext cx="9144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Coach — 企業・団体導入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1">
                <a:solidFill>
                  <a:srgbClr val="94A3B8"/>
                </a:solidFill>
                <a:latin typeface="IPAPGothic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IPAPGothic"/>
                <a:ea typeface="IPAPGothic"/>
              </a:defRPr>
            </a:pPr>
            <a:r>
              <a:rPr sz="1200" b="1">
                <a:solidFill>
                  <a:srgbClr val="FFFFFF"/>
                </a:solidFill>
                <a:latin typeface="IPAPGothic"/>
              </a:rPr>
              <a:t>まちの精神は、首長の任期で途切れてはならない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IPAPGothic"/>
                <a:ea typeface="IPAPGothic"/>
              </a:defRPr>
            </a:pPr>
            <a:r>
              <a:rPr sz="1000" b="1">
                <a:solidFill>
                  <a:srgbClr val="2563EB"/>
                </a:solidFill>
                <a:latin typeface="IPAPGothic"/>
              </a:rPr>
              <a:t>FOR: 自治体・公共団体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この業界の課題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自治体の理念やビジョンが首長の交代で断絶する。継続性がない。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災害の教訓、地域の歴史が世代交代とともに風化していく。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職員が「公務員」以上の軸を持てず、住民への提供価値が画一化している。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051560"/>
            <a:ext cx="3931920" cy="3566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1430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E293B"/>
                </a:solidFill>
                <a:latin typeface="IPAPGothic"/>
                <a:ea typeface="IPAPGothic"/>
              </a:defRPr>
            </a:pPr>
            <a:r>
              <a:rPr sz="1100" b="1">
                <a:solidFill>
                  <a:srgbClr val="1E293B"/>
                </a:solidFill>
                <a:latin typeface="IPAPGothic"/>
              </a:rPr>
              <a:t>このプログラムで実現すること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5448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地域の創設の志・精神を三層に永続化。首長が変わっても、まちの軸は残る。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51460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職員が「問いを立てる人」として住民と向き合える。窓口対応が変わる。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474720"/>
            <a:ext cx="3657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IPAPGothic"/>
                <a:ea typeface="IPAPGothic"/>
              </a:defRPr>
            </a:pPr>
            <a:r>
              <a:rPr sz="1000" b="0">
                <a:solidFill>
                  <a:srgbClr val="475569"/>
                </a:solidFill>
                <a:latin typeface="IPAPGothic"/>
              </a:rPr>
              <a:t>• 災害の教訓を千年先まで届ける仕組みを構築。石碑は読めなくなるが、三層は残る。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00600"/>
            <a:ext cx="9144000" cy="914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Timeless Coach — 企業・団体導入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8188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0">
                <a:solidFill>
                  <a:srgbClr val="94A3B8"/>
                </a:solidFill>
                <a:latin typeface="IPAPGothic"/>
              </a:rPr>
              <a:t>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188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IPAPGothic"/>
                <a:ea typeface="IPAPGothic"/>
              </a:defRPr>
            </a:pPr>
            <a:r>
              <a:rPr sz="900" b="1">
                <a:solidFill>
                  <a:srgbClr val="94A3B8"/>
                </a:solidFill>
                <a:latin typeface="IPAPGothic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